
<file path=[Content_Types].xml><?xml version="1.0" encoding="utf-8"?>
<Types xmlns="http://schemas.openxmlformats.org/package/2006/content-types">
  <Default Extension="xlsx" ContentType="application/vnd.openxmlformats-officedocument.spreadsheetml.sheet"/>
  <Default Extension="gif" ContentType="image/gif"/>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drawings/drawing1.xml" ContentType="application/vnd.openxmlformats-officedocument.drawingml.chartshap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8"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embeddedFontLst>
    <p:embeddedFont>
      <p:font typeface="EB Garamond"/>
      <p:regular r:id="rId47"/>
      <p:bold r:id="rId48"/>
    </p:embeddedFont>
    <p:embeddedFont>
      <p:font typeface="Calibri" panose="020F0502020204030204"/>
      <p:regular r:id="rId49"/>
      <p:bold r:id="rId50"/>
      <p:italic r:id="rId51"/>
      <p:boldItalic r:id="rId52"/>
    </p:embeddedFont>
    <p:embeddedFont>
      <p:font typeface="Overlock" panose="02000506030000020004"/>
      <p:regular r:id="rId53"/>
      <p:bold r:id="rId54"/>
      <p:italic r:id="rId55"/>
      <p:boldItalic r:id="rId56"/>
    </p:embeddedFont>
    <p:embeddedFont>
      <p:font typeface="Basic" panose="02010503040500020004"/>
      <p:regular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F69868B-0C89-4585-B3F8-C5E539B57ABF}" styleName="Table_0">
    <a:wholeTbl>
      <a:tcTxStyle>
        <a:font>
          <a:latin typeface="Adobe Garamond Pro"/>
          <a:ea typeface="Adobe Garamond Pro"/>
          <a:cs typeface="Adobe Garamond Pro"/>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font" Target="fonts/font11.fntdata"/><Relationship Id="rId56" Type="http://schemas.openxmlformats.org/officeDocument/2006/relationships/font" Target="fonts/font10.fntdata"/><Relationship Id="rId55" Type="http://schemas.openxmlformats.org/officeDocument/2006/relationships/font" Target="fonts/font9.fntdata"/><Relationship Id="rId54" Type="http://schemas.openxmlformats.org/officeDocument/2006/relationships/font" Target="fonts/font8.fntdata"/><Relationship Id="rId53" Type="http://schemas.openxmlformats.org/officeDocument/2006/relationships/font" Target="fonts/font7.fntdata"/><Relationship Id="rId52" Type="http://schemas.openxmlformats.org/officeDocument/2006/relationships/font" Target="fonts/font6.fntdata"/><Relationship Id="rId51" Type="http://schemas.openxmlformats.org/officeDocument/2006/relationships/font" Target="fonts/font5.fntdata"/><Relationship Id="rId50" Type="http://schemas.openxmlformats.org/officeDocument/2006/relationships/font" Target="fonts/font4.fntdata"/><Relationship Id="rId5" Type="http://schemas.openxmlformats.org/officeDocument/2006/relationships/slide" Target="slides/slide2.xml"/><Relationship Id="rId49" Type="http://schemas.openxmlformats.org/officeDocument/2006/relationships/font" Target="fonts/font3.fntdata"/><Relationship Id="rId48" Type="http://schemas.openxmlformats.org/officeDocument/2006/relationships/font" Target="fonts/font2.fntdata"/><Relationship Id="rId47" Type="http://schemas.openxmlformats.org/officeDocument/2006/relationships/font" Target="fonts/font1.fntdata"/><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Spectre\Downloads\December%202025%2095.95.95%20Cascades-19.01.2026%20(%202024%20Estimates)%20(4).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Spectre\Downloads\December%202025%2095.95.95%20Cascades-19.01.2026%20(%202024%20Estimates)%20(4).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Spectre\Downloads\December%202025%2095.95.95%20Cascades-19.01.2026%20(%202024%20Estimates)%20(4).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Spectre\Downloads\December%202025%2095.95.95%20Cascades-19.01.2026%20(%202024%20Estimates)%20(4).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Spectre\Downloads\December%202025%2095.95.95%20Cascades-19.01.2026%20(%202024%20Estimates)%20(4).xlsx" TargetMode="External"/></Relationships>
</file>

<file path=ppt/charts/_rels/chart6.xml.rels><?xml version="1.0" encoding="UTF-8" standalone="yes"?>
<Relationships xmlns="http://schemas.openxmlformats.org/package/2006/relationships"><Relationship Id="rId5" Type="http://schemas.microsoft.com/office/2011/relationships/chartColorStyle" Target="colors1.xml"/><Relationship Id="rId4" Type="http://schemas.microsoft.com/office/2011/relationships/chartStyle" Target="style1.xml"/><Relationship Id="rId3" Type="http://schemas.openxmlformats.org/officeDocument/2006/relationships/chartUserShapes" Target="../drawings/drawing1.xml"/><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_rels/chart7.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2.xml"/><Relationship Id="rId1" Type="http://schemas.openxmlformats.org/officeDocument/2006/relationships/oleObject" Target="https://palladiumgroup-my.sharepoint.com/personal/ashley_odhiambo_thepalladiumgroup_com/Documents/Palladium_Work_AA/Quarterly_Program_Reviews/2_April_June_2024/Overall/Quarterly_Program_Review_Overall_Q3_Updates.xlsx" TargetMode="External"/></Relationships>
</file>

<file path=ppt/charts/_rels/chart8.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3.xml"/><Relationship Id="rId1" Type="http://schemas.openxmlformats.org/officeDocument/2006/relationships/oleObject" Target="https://palladiumgroup-my.sharepoint.com/personal/ashley_odhiambo_thepalladiumgroup_com/Documents/Palladium_Work_AA/Quarterly_Program_Reviews/2_April_June_2024/Overall/Quarterly_Program_Review_Overall_Q3_Updates.xlsx" TargetMode="External"/></Relationships>
</file>

<file path=ppt/charts/_rels/chart9.xml.rels><?xml version="1.0" encoding="UTF-8" standalone="yes"?>
<Relationships xmlns="http://schemas.openxmlformats.org/package/2006/relationships"><Relationship Id="rId4" Type="http://schemas.microsoft.com/office/2011/relationships/chartColorStyle" Target="colors4.xml"/><Relationship Id="rId3" Type="http://schemas.microsoft.com/office/2011/relationships/chartStyle" Target="style4.xml"/><Relationship Id="rId2" Type="http://schemas.openxmlformats.org/officeDocument/2006/relationships/themeOverride" Target="../theme/themeOverride4.xml"/><Relationship Id="rId1" Type="http://schemas.openxmlformats.org/officeDocument/2006/relationships/oleObject" Target="https://palladiumgroup-my.sharepoint.com/personal/ashley_odhiambo_thepalladiumgroup_com/Documents/Palladium_Work_AA/Quarterly_Program_Reviews/2_April_June_2024/Overall/Quarterly_Program_Review_Overall_Q3_Updates.xlsx" TargetMode="External"/></Relationships>
</file>

<file path=ppt/charts/_rels/chart10.xml.rels><?xml version="1.0" encoding="UTF-8" standalone="yes"?>
<Relationships xmlns="http://schemas.openxmlformats.org/package/2006/relationships"><Relationship Id="rId4" Type="http://schemas.microsoft.com/office/2011/relationships/chartColorStyle" Target="colors5.xml"/><Relationship Id="rId3" Type="http://schemas.microsoft.com/office/2011/relationships/chartStyle" Target="style5.xml"/><Relationship Id="rId2" Type="http://schemas.openxmlformats.org/officeDocument/2006/relationships/themeOverride" Target="../theme/themeOverride5.xml"/><Relationship Id="rId1" Type="http://schemas.openxmlformats.org/officeDocument/2006/relationships/oleObject" Target="https://palladiumgroup-my.sharepoint.com/personal/ashley_odhiambo_thepalladiumgroup_com/Documents/Palladium_Work_AA/Quarterly_Program_Reviews/2_April_June_2024/Overall/Quarterly_Program_Review_Overall_Q3_Updates.xlsx" TargetMode="External"/></Relationships>
</file>

<file path=ppt/charts/_rels/chart11.xml.rels><?xml version="1.0" encoding="UTF-8" standalone="yes"?>
<Relationships xmlns="http://schemas.openxmlformats.org/package/2006/relationships"><Relationship Id="rId4" Type="http://schemas.microsoft.com/office/2011/relationships/chartColorStyle" Target="colors6.xml"/><Relationship Id="rId3" Type="http://schemas.microsoft.com/office/2011/relationships/chartStyle" Target="style6.xml"/><Relationship Id="rId2" Type="http://schemas.openxmlformats.org/officeDocument/2006/relationships/themeOverride" Target="../theme/themeOverride6.xml"/><Relationship Id="rId1" Type="http://schemas.openxmlformats.org/officeDocument/2006/relationships/oleObject" Target="https://palladiumgroup-my.sharepoint.com/personal/ashley_odhiambo_thepalladiumgroup_com/Documents/Palladium_Work_AA/Quarterly_Program_Reviews/2_April_June_2024/Overall/Quarterly_Program_Review_Overall_Q3_Updat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lang="en-US"/>
              <a:t>Overall cascade</a:t>
            </a:r>
            <a:endParaRPr lang="en-US"/>
          </a:p>
        </c:rich>
      </c:tx>
      <c:layout/>
      <c:overlay val="0"/>
    </c:title>
    <c:autoTitleDeleted val="0"/>
    <c:plotArea>
      <c:layout/>
      <c:barChart>
        <c:barDir val="col"/>
        <c:grouping val="stacked"/>
        <c:varyColors val="0"/>
        <c:ser>
          <c:idx val="0"/>
          <c:order val="0"/>
          <c:tx>
            <c:strRef>
              <c:f> Achieved </c:f>
              <c:strCache>
                <c:ptCount val="1"/>
                <c:pt idx="0">
                  <c:v> Achieved </c:v>
                </c:pt>
              </c:strCache>
            </c:strRef>
          </c:tx>
          <c:spPr>
            <a:solidFill>
              <a:srgbClr val="4472C4"/>
            </a:solidFill>
            <a:ln cmpd="sng">
              <a:solidFill>
                <a:srgbClr val="000000"/>
              </a:solidFill>
            </a:ln>
          </c:spPr>
          <c:invertIfNegative val="0"/>
          <c:dLbls>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Overall!$A$27:$A$30</c:f>
              <c:strCache>
                <c:ptCount val="4"/>
                <c:pt idx="0">
                  <c:v>PLHIV</c:v>
                </c:pt>
                <c:pt idx="1">
                  <c:v>Diagnosis</c:v>
                </c:pt>
                <c:pt idx="2">
                  <c:v>Treatment</c:v>
                </c:pt>
                <c:pt idx="3">
                  <c:v>Vl Suppression</c:v>
                </c:pt>
              </c:strCache>
            </c:strRef>
          </c:cat>
          <c:val>
            <c:numRef>
              <c:f>Overall!$B$27:$B$30</c:f>
              <c:numCache>
                <c:formatCode>_-* #,##0_-;\-* #,##0_-;_-* "-"??_-;_-@</c:formatCode>
                <c:ptCount val="4"/>
                <c:pt idx="0">
                  <c:v>1378457</c:v>
                </c:pt>
                <c:pt idx="1">
                  <c:v>1287267</c:v>
                </c:pt>
                <c:pt idx="2">
                  <c:v>1287232</c:v>
                </c:pt>
                <c:pt idx="3">
                  <c:v>1239605.28866891</c:v>
                </c:pt>
              </c:numCache>
            </c:numRef>
          </c:val>
        </c:ser>
        <c:ser>
          <c:idx val="1"/>
          <c:order val="1"/>
          <c:tx>
            <c:strRef>
              <c:f>Gap</c:f>
              <c:strCache>
                <c:ptCount val="1"/>
                <c:pt idx="0">
                  <c:v>Gap</c:v>
                </c:pt>
              </c:strCache>
            </c:strRef>
          </c:tx>
          <c:spPr>
            <a:solidFill>
              <a:srgbClr val="ED7D31"/>
            </a:solidFill>
            <a:ln cmpd="sng">
              <a:solidFill>
                <a:srgbClr val="000000"/>
              </a:solidFill>
            </a:ln>
          </c:spPr>
          <c:invertIfNegative val="0"/>
          <c:dLbls>
            <c:dLbl>
              <c:idx val="1"/>
              <c:layout>
                <c:manualLayout>
                  <c:x val="-0.00667065067338774"/>
                  <c:y val="-0.0715812094457478"/>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6.56560106871338e-8"/>
                  <c:y val="0.0162684566922154"/>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103478468570927"/>
                      <c:h val="0.0510829540135564"/>
                    </c:manualLayout>
                  </c15:layout>
                </c:ext>
              </c:extLst>
            </c:dLbl>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Overall!$A$27:$A$30</c:f>
              <c:strCache>
                <c:ptCount val="4"/>
                <c:pt idx="0">
                  <c:v>PLHIV</c:v>
                </c:pt>
                <c:pt idx="1">
                  <c:v>Diagnosis</c:v>
                </c:pt>
                <c:pt idx="2">
                  <c:v>Treatment</c:v>
                </c:pt>
                <c:pt idx="3">
                  <c:v>Vl Suppression</c:v>
                </c:pt>
              </c:strCache>
            </c:strRef>
          </c:cat>
          <c:val>
            <c:numRef>
              <c:f>Overall!$C$27:$C$30</c:f>
              <c:numCache>
                <c:formatCode>General</c:formatCode>
                <c:ptCount val="4"/>
                <c:pt idx="1" c:formatCode="0">
                  <c:v>91190</c:v>
                </c:pt>
                <c:pt idx="2" c:formatCode="0">
                  <c:v>91225</c:v>
                </c:pt>
                <c:pt idx="3" c:formatCode="0">
                  <c:v>138851.711331095</c:v>
                </c:pt>
              </c:numCache>
            </c:numRef>
          </c:val>
        </c:ser>
        <c:ser>
          <c:idx val="2"/>
          <c:order val="2"/>
          <c:spPr>
            <a:solidFill>
              <a:srgbClr val="A5A5A5"/>
            </a:solidFill>
            <a:ln cmpd="sng">
              <a:solidFill>
                <a:srgbClr val="000000"/>
              </a:solidFill>
            </a:ln>
          </c:spPr>
          <c:invertIfNegative val="0"/>
          <c:dLbls>
            <c:delete val="1"/>
          </c:dLbls>
          <c:cat>
            <c:strRef>
              <c:f>Overall!$A$27:$A$30</c:f>
              <c:strCache>
                <c:ptCount val="4"/>
                <c:pt idx="0">
                  <c:v>PLHIV</c:v>
                </c:pt>
                <c:pt idx="1">
                  <c:v>Diagnosis</c:v>
                </c:pt>
                <c:pt idx="2">
                  <c:v>Treatment</c:v>
                </c:pt>
                <c:pt idx="3">
                  <c:v>Vl Suppression</c:v>
                </c:pt>
              </c:strCache>
            </c:strRef>
          </c:cat>
          <c:val>
            <c:numRef>
              <c:f>Overall!$D$26:$D$30</c:f>
              <c:numCache>
                <c:formatCode>General</c:formatCode>
                <c:ptCount val="5"/>
                <c:pt idx="2" c:formatCode="0%">
                  <c:v>0.933846322373494</c:v>
                </c:pt>
                <c:pt idx="3" c:formatCode="0%">
                  <c:v>0.933820931664898</c:v>
                </c:pt>
                <c:pt idx="4" c:formatCode="0%">
                  <c:v>0.899270190269922</c:v>
                </c:pt>
              </c:numCache>
            </c:numRef>
          </c:val>
        </c:ser>
        <c:dLbls>
          <c:showLegendKey val="0"/>
          <c:showVal val="1"/>
          <c:showCatName val="0"/>
          <c:showSerName val="0"/>
          <c:showPercent val="0"/>
          <c:showBubbleSize val="0"/>
        </c:dLbls>
        <c:gapWidth val="150"/>
        <c:overlap val="100"/>
        <c:axId val="1733375584"/>
        <c:axId val="152663594"/>
      </c:barChart>
      <c:catAx>
        <c:axId val="1733375584"/>
        <c:scaling>
          <c:orientation val="minMax"/>
        </c:scaling>
        <c:delete val="0"/>
        <c:axPos val="b"/>
        <c:title>
          <c:layout/>
          <c:overlay val="0"/>
          <c:tx>
            <c:rich>
              <a:bodyPr/>
              <a:lstStyle/>
              <a:p>
                <a:pPr>
                  <a:defRPr/>
                </a:pPr>
              </a:p>
            </c:rich>
          </c:tx>
        </c:title>
        <c:numFmt formatCode="General" sourceLinked="1"/>
        <c:majorTickMark val="none"/>
        <c:minorTickMark val="none"/>
        <c:tickLblPos val="nextTo"/>
        <c:txPr>
          <a:bodyPr rot="-6000000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crossAx val="152663594"/>
        <c:crosses val="autoZero"/>
        <c:auto val="1"/>
        <c:lblAlgn val="ctr"/>
        <c:lblOffset val="100"/>
        <c:noMultiLvlLbl val="0"/>
      </c:catAx>
      <c:valAx>
        <c:axId val="152663594"/>
        <c:scaling>
          <c:orientation val="minMax"/>
        </c:scaling>
        <c:delete val="0"/>
        <c:axPos val="l"/>
        <c:title>
          <c:layout/>
          <c:overlay val="0"/>
          <c:tx>
            <c:rich>
              <a:bodyPr/>
              <a:lstStyle/>
              <a:p>
                <a:pPr>
                  <a:defRPr/>
                </a:pPr>
              </a:p>
            </c:rich>
          </c:tx>
        </c:title>
        <c:numFmt formatCode="_-* #,##0_-;\-* #,##0_-;_-* &quot;-&quot;??_-;_-@" sourceLinked="1"/>
        <c:majorTickMark val="none"/>
        <c:minorTickMark val="none"/>
        <c:tickLblPos val="nextTo"/>
        <c:spPr>
          <a:ln w="6350" cap="flat" cmpd="sng" algn="ctr">
            <a:solidFill>
              <a:schemeClr val="tx1">
                <a:tint val="75000"/>
              </a:schemeClr>
            </a:solidFill>
            <a:prstDash val="solid"/>
            <a:round/>
          </a:ln>
        </c:spPr>
        <c:txPr>
          <a:bodyPr rot="-6000000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crossAx val="1733375584"/>
        <c:crosses val="autoZero"/>
        <c:crossBetween val="between"/>
      </c:valAx>
    </c:plotArea>
    <c:legend>
      <c:legendPos val="b"/>
      <c:layout/>
      <c:overlay val="0"/>
      <c:txPr>
        <a:bodyPr rot="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a3415ea5-7f53-4c71-9525-2721f7d06e2f}"/>
      </c:ext>
    </c:extLst>
  </c:chart>
  <c:txPr>
    <a:bodyPr/>
    <a:lstStyle/>
    <a:p>
      <a:pPr>
        <a:defRPr lang="en-US"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920" b="1" i="0" u="none" strike="noStrike" kern="1200" baseline="0">
                <a:solidFill>
                  <a:schemeClr val="tx1"/>
                </a:solidFill>
                <a:latin typeface="+mn-lt"/>
                <a:ea typeface="+mn-ea"/>
                <a:cs typeface="+mn-cs"/>
              </a:defRPr>
            </a:pPr>
            <a:r>
              <a:rPr lang="en-US"/>
              <a:t>Adult cascade</a:t>
            </a:r>
            <a:endParaRPr lang="en-US"/>
          </a:p>
        </c:rich>
      </c:tx>
      <c:layout/>
      <c:overlay val="0"/>
    </c:title>
    <c:autoTitleDeleted val="0"/>
    <c:plotArea>
      <c:layout>
        <c:manualLayout>
          <c:xMode val="edge"/>
          <c:yMode val="edge"/>
          <c:x val="0.148136920384952"/>
          <c:y val="0.171712962962963"/>
          <c:w val="0.815751968503937"/>
          <c:h val="0.614984324876057"/>
        </c:manualLayout>
      </c:layout>
      <c:barChart>
        <c:barDir val="col"/>
        <c:grouping val="stacked"/>
        <c:varyColors val="0"/>
        <c:ser>
          <c:idx val="0"/>
          <c:order val="0"/>
          <c:tx>
            <c:strRef>
              <c:f> Achieved </c:f>
              <c:strCache>
                <c:ptCount val="1"/>
                <c:pt idx="0">
                  <c:v> Achieved </c:v>
                </c:pt>
              </c:strCache>
            </c:strRef>
          </c:tx>
          <c:spPr>
            <a:solidFill>
              <a:srgbClr val="4472C4"/>
            </a:solidFill>
            <a:ln cmpd="sng">
              <a:solidFill>
                <a:srgbClr val="000000"/>
              </a:solidFill>
            </a:ln>
          </c:spPr>
          <c:invertIfNegative val="0"/>
          <c:dLbls>
            <c:spPr>
              <a:noFill/>
              <a:ln>
                <a:noFill/>
              </a:ln>
              <a:effectLst/>
            </c:spPr>
            <c:txPr>
              <a:bodyPr rot="0" spcFirstLastPara="0" vertOverflow="ellipsis" vert="horz" wrap="square" lIns="38100" tIns="19050" rIns="38100" bIns="19050" anchor="ctr" anchorCtr="1"/>
              <a:lstStyle/>
              <a:p>
                <a:pPr>
                  <a:defRPr lang="en-US" sz="16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Overall!$A$21:$A$24</c:f>
              <c:strCache>
                <c:ptCount val="4"/>
                <c:pt idx="0">
                  <c:v>ALHIV</c:v>
                </c:pt>
                <c:pt idx="1">
                  <c:v>Diagnosis</c:v>
                </c:pt>
                <c:pt idx="2">
                  <c:v>Treatment</c:v>
                </c:pt>
                <c:pt idx="3">
                  <c:v>Vl Suppression</c:v>
                </c:pt>
              </c:strCache>
            </c:strRef>
          </c:cat>
          <c:val>
            <c:numRef>
              <c:f>Overall!$B$21:$B$24</c:f>
              <c:numCache>
                <c:formatCode>_-* #,##0_-;\-* #,##0_-;_-* "-"??_-;_-@</c:formatCode>
                <c:ptCount val="4"/>
                <c:pt idx="0">
                  <c:v>1307024</c:v>
                </c:pt>
                <c:pt idx="1">
                  <c:v>1247867</c:v>
                </c:pt>
                <c:pt idx="2">
                  <c:v>1247837</c:v>
                </c:pt>
                <c:pt idx="3">
                  <c:v>1204233.83562439</c:v>
                </c:pt>
              </c:numCache>
            </c:numRef>
          </c:val>
        </c:ser>
        <c:ser>
          <c:idx val="1"/>
          <c:order val="1"/>
          <c:tx>
            <c:strRef>
              <c:f>Gap</c:f>
              <c:strCache>
                <c:ptCount val="1"/>
                <c:pt idx="0">
                  <c:v>Gap</c:v>
                </c:pt>
              </c:strCache>
            </c:strRef>
          </c:tx>
          <c:spPr>
            <a:solidFill>
              <a:srgbClr val="ED7D31"/>
            </a:solidFill>
            <a:ln cmpd="sng">
              <a:solidFill>
                <a:srgbClr val="000000"/>
              </a:solidFill>
            </a:ln>
          </c:spPr>
          <c:invertIfNegative val="0"/>
          <c:dLbls>
            <c:spPr>
              <a:noFill/>
              <a:ln>
                <a:noFill/>
              </a:ln>
              <a:effectLst/>
            </c:spPr>
            <c:txPr>
              <a:bodyPr rot="0" spcFirstLastPara="0" vertOverflow="ellipsis" vert="horz" wrap="square" lIns="38100" tIns="19050" rIns="38100" bIns="19050" anchor="ctr" anchorCtr="1"/>
              <a:lstStyle/>
              <a:p>
                <a:pPr>
                  <a:defRPr lang="en-US" sz="16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Overall!$A$21:$A$24</c:f>
              <c:strCache>
                <c:ptCount val="4"/>
                <c:pt idx="0">
                  <c:v>ALHIV</c:v>
                </c:pt>
                <c:pt idx="1">
                  <c:v>Diagnosis</c:v>
                </c:pt>
                <c:pt idx="2">
                  <c:v>Treatment</c:v>
                </c:pt>
                <c:pt idx="3">
                  <c:v>Vl Suppression</c:v>
                </c:pt>
              </c:strCache>
            </c:strRef>
          </c:cat>
          <c:val>
            <c:numRef>
              <c:f>Overall!$C$21:$C$24</c:f>
              <c:numCache>
                <c:formatCode>General</c:formatCode>
                <c:ptCount val="4"/>
                <c:pt idx="1" c:formatCode="0">
                  <c:v>59157</c:v>
                </c:pt>
                <c:pt idx="2" c:formatCode="0">
                  <c:v>59187</c:v>
                </c:pt>
                <c:pt idx="3" c:formatCode="0">
                  <c:v>102790.164375609</c:v>
                </c:pt>
              </c:numCache>
            </c:numRef>
          </c:val>
        </c:ser>
        <c:ser>
          <c:idx val="2"/>
          <c:order val="2"/>
          <c:spPr>
            <a:solidFill>
              <a:srgbClr val="A5A5A5"/>
            </a:solidFill>
            <a:ln cmpd="sng">
              <a:solidFill>
                <a:srgbClr val="000000"/>
              </a:solidFill>
            </a:ln>
          </c:spPr>
          <c:invertIfNegative val="0"/>
          <c:dLbls>
            <c:dLbl>
              <c:idx val="2"/>
              <c:layout>
                <c:manualLayout>
                  <c:x val="0.00506654595609845"/>
                  <c:y val="-0.0585448984538372"/>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0337769730406563"/>
                  <c:y val="-0.0831953820133477"/>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4"/>
              <c:delete val="1"/>
            </c:dLbl>
            <c:spPr>
              <a:noFill/>
              <a:ln>
                <a:noFill/>
              </a:ln>
              <a:effectLst/>
            </c:spPr>
            <c:txPr>
              <a:bodyPr rot="0" spcFirstLastPara="0" vertOverflow="ellipsis" vert="horz" wrap="square" lIns="38100" tIns="19050" rIns="38100" bIns="19050" anchor="ctr" anchorCtr="1"/>
              <a:lstStyle/>
              <a:p>
                <a:pPr>
                  <a:defRPr lang="en-US" sz="16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Overall!$A$21:$A$24</c:f>
              <c:strCache>
                <c:ptCount val="4"/>
                <c:pt idx="0">
                  <c:v>ALHIV</c:v>
                </c:pt>
                <c:pt idx="1">
                  <c:v>Diagnosis</c:v>
                </c:pt>
                <c:pt idx="2">
                  <c:v>Treatment</c:v>
                </c:pt>
                <c:pt idx="3">
                  <c:v>Vl Suppression</c:v>
                </c:pt>
              </c:strCache>
            </c:strRef>
          </c:cat>
          <c:val>
            <c:numRef>
              <c:f>Overall!$D$20:$D$24</c:f>
              <c:numCache>
                <c:formatCode>General</c:formatCode>
                <c:ptCount val="5"/>
                <c:pt idx="2" c:formatCode="0%">
                  <c:v>0.954739163167624</c:v>
                </c:pt>
                <c:pt idx="3" c:formatCode="0%">
                  <c:v>0.954716210260867</c:v>
                </c:pt>
                <c:pt idx="4" c:formatCode="0%">
                  <c:v>0.921355564721376</c:v>
                </c:pt>
              </c:numCache>
            </c:numRef>
          </c:val>
        </c:ser>
        <c:dLbls>
          <c:showLegendKey val="0"/>
          <c:showVal val="1"/>
          <c:showCatName val="0"/>
          <c:showSerName val="0"/>
          <c:showPercent val="0"/>
          <c:showBubbleSize val="0"/>
        </c:dLbls>
        <c:gapWidth val="150"/>
        <c:overlap val="100"/>
        <c:axId val="444096498"/>
        <c:axId val="1439827114"/>
      </c:barChart>
      <c:catAx>
        <c:axId val="444096498"/>
        <c:scaling>
          <c:orientation val="minMax"/>
        </c:scaling>
        <c:delete val="0"/>
        <c:axPos val="b"/>
        <c:title>
          <c:layout/>
          <c:overlay val="0"/>
          <c:tx>
            <c:rich>
              <a:bodyPr/>
              <a:lstStyle/>
              <a:p>
                <a:pPr>
                  <a:defRPr/>
                </a:pPr>
              </a:p>
            </c:rich>
          </c:tx>
        </c:title>
        <c:numFmt formatCode="General" sourceLinked="1"/>
        <c:majorTickMark val="none"/>
        <c:minorTickMark val="none"/>
        <c:tickLblPos val="nextTo"/>
        <c:txPr>
          <a:bodyPr rot="-60000000" spcFirstLastPara="0" vertOverflow="ellipsis" vert="horz" wrap="square" anchor="ctr" anchorCtr="1"/>
          <a:lstStyle/>
          <a:p>
            <a:pPr>
              <a:defRPr lang="en-US" sz="1600" b="0" i="0" u="none" strike="noStrike" kern="1200" baseline="0">
                <a:solidFill>
                  <a:schemeClr val="tx1"/>
                </a:solidFill>
                <a:latin typeface="+mn-lt"/>
                <a:ea typeface="+mn-ea"/>
                <a:cs typeface="+mn-cs"/>
              </a:defRPr>
            </a:pPr>
          </a:p>
        </c:txPr>
        <c:crossAx val="1439827114"/>
        <c:crosses val="autoZero"/>
        <c:auto val="1"/>
        <c:lblAlgn val="ctr"/>
        <c:lblOffset val="100"/>
        <c:noMultiLvlLbl val="0"/>
      </c:catAx>
      <c:valAx>
        <c:axId val="1439827114"/>
        <c:scaling>
          <c:orientation val="minMax"/>
        </c:scaling>
        <c:delete val="0"/>
        <c:axPos val="l"/>
        <c:title>
          <c:layout/>
          <c:overlay val="0"/>
          <c:tx>
            <c:rich>
              <a:bodyPr/>
              <a:lstStyle/>
              <a:p>
                <a:pPr>
                  <a:defRPr/>
                </a:pPr>
              </a:p>
            </c:rich>
          </c:tx>
        </c:title>
        <c:numFmt formatCode="_-* #,##0_-;\-* #,##0_-;_-* &quot;-&quot;??_-;_-@" sourceLinked="1"/>
        <c:majorTickMark val="none"/>
        <c:minorTickMark val="none"/>
        <c:tickLblPos val="nextTo"/>
        <c:spPr>
          <a:ln w="6350" cap="flat" cmpd="sng" algn="ctr">
            <a:solidFill>
              <a:schemeClr val="tx1">
                <a:tint val="75000"/>
              </a:schemeClr>
            </a:solidFill>
            <a:prstDash val="solid"/>
            <a:round/>
          </a:ln>
        </c:spPr>
        <c:txPr>
          <a:bodyPr rot="-60000000" spcFirstLastPara="0" vertOverflow="ellipsis" vert="horz" wrap="square" anchor="ctr" anchorCtr="1"/>
          <a:lstStyle/>
          <a:p>
            <a:pPr>
              <a:defRPr lang="en-US" sz="1600" b="0" i="0" u="none" strike="noStrike" kern="1200" baseline="0">
                <a:solidFill>
                  <a:schemeClr val="tx1"/>
                </a:solidFill>
                <a:latin typeface="+mn-lt"/>
                <a:ea typeface="+mn-ea"/>
                <a:cs typeface="+mn-cs"/>
              </a:defRPr>
            </a:pPr>
          </a:p>
        </c:txPr>
        <c:crossAx val="444096498"/>
        <c:crosses val="autoZero"/>
        <c:crossBetween val="between"/>
      </c:valAx>
    </c:plotArea>
    <c:legend>
      <c:legendPos val="b"/>
      <c:layout/>
      <c:overlay val="0"/>
      <c:txPr>
        <a:bodyPr rot="0" spcFirstLastPara="0" vertOverflow="ellipsis" vert="horz" wrap="square" anchor="ctr" anchorCtr="1"/>
        <a:lstStyle/>
        <a:p>
          <a:pPr>
            <a:defRPr lang="en-US" sz="1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17dfafe1-e048-47be-bb4a-1f4cdecdcf0b}"/>
      </c:ext>
    </c:extLst>
  </c:chart>
  <c:txPr>
    <a:bodyPr/>
    <a:lstStyle/>
    <a:p>
      <a:pPr>
        <a:defRPr lang="en-US" sz="1600"/>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920" b="1" i="0" u="none" strike="noStrike" kern="1200" baseline="0">
                <a:solidFill>
                  <a:schemeClr val="tx1"/>
                </a:solidFill>
                <a:latin typeface="+mn-lt"/>
                <a:ea typeface="+mn-ea"/>
                <a:cs typeface="+mn-cs"/>
              </a:defRPr>
            </a:pPr>
            <a:r>
              <a:rPr lang="en-US"/>
              <a:t>Young adults cascade</a:t>
            </a:r>
            <a:endParaRPr lang="en-US"/>
          </a:p>
        </c:rich>
      </c:tx>
      <c:layout/>
      <c:overlay val="0"/>
    </c:title>
    <c:autoTitleDeleted val="0"/>
    <c:plotArea>
      <c:layout/>
      <c:barChart>
        <c:barDir val="col"/>
        <c:grouping val="stacked"/>
        <c:varyColors val="0"/>
        <c:ser>
          <c:idx val="0"/>
          <c:order val="0"/>
          <c:tx>
            <c:strRef>
              <c:f> Achieved </c:f>
              <c:strCache>
                <c:ptCount val="1"/>
                <c:pt idx="0">
                  <c:v> Achieved </c:v>
                </c:pt>
              </c:strCache>
            </c:strRef>
          </c:tx>
          <c:spPr>
            <a:solidFill>
              <a:srgbClr val="4472C4"/>
            </a:solidFill>
            <a:ln cmpd="sng">
              <a:solidFill>
                <a:srgbClr val="000000"/>
              </a:solidFill>
            </a:ln>
          </c:spPr>
          <c:invertIfNegative val="0"/>
          <c:dLbls>
            <c:spPr>
              <a:noFill/>
              <a:ln>
                <a:noFill/>
              </a:ln>
              <a:effectLst/>
            </c:spPr>
            <c:txPr>
              <a:bodyPr rot="0" spcFirstLastPara="0" vertOverflow="ellipsis" vert="horz" wrap="square" lIns="38100" tIns="19050" rIns="38100" bIns="19050" anchor="ctr" anchorCtr="1"/>
              <a:lstStyle/>
              <a:p>
                <a:pPr>
                  <a:defRPr lang="en-US" sz="16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Overall!$A$15:$A$18</c:f>
              <c:strCache>
                <c:ptCount val="4"/>
                <c:pt idx="0">
                  <c:v>YALHIV</c:v>
                </c:pt>
                <c:pt idx="1">
                  <c:v>Diagnosis</c:v>
                </c:pt>
                <c:pt idx="2">
                  <c:v>Treatment</c:v>
                </c:pt>
                <c:pt idx="3">
                  <c:v>Vl Suppression</c:v>
                </c:pt>
              </c:strCache>
            </c:strRef>
          </c:cat>
          <c:val>
            <c:numRef>
              <c:f>Overall!$B$15:$B$18</c:f>
              <c:numCache>
                <c:formatCode>_-* #,##0_-;\-* #,##0_-;_-* "-"??_-;_-@</c:formatCode>
                <c:ptCount val="4"/>
                <c:pt idx="0">
                  <c:v>131780</c:v>
                </c:pt>
                <c:pt idx="1">
                  <c:v>91232</c:v>
                </c:pt>
                <c:pt idx="2">
                  <c:v>91232</c:v>
                </c:pt>
                <c:pt idx="3">
                  <c:v>84763.7972641053</c:v>
                </c:pt>
              </c:numCache>
            </c:numRef>
          </c:val>
        </c:ser>
        <c:ser>
          <c:idx val="1"/>
          <c:order val="1"/>
          <c:tx>
            <c:strRef>
              <c:f>Gap</c:f>
              <c:strCache>
                <c:ptCount val="1"/>
                <c:pt idx="0">
                  <c:v>Gap</c:v>
                </c:pt>
              </c:strCache>
            </c:strRef>
          </c:tx>
          <c:spPr>
            <a:solidFill>
              <a:srgbClr val="ED7D31"/>
            </a:solidFill>
            <a:ln cmpd="sng">
              <a:solidFill>
                <a:srgbClr val="000000"/>
              </a:solidFill>
            </a:ln>
          </c:spPr>
          <c:invertIfNegative val="0"/>
          <c:dLbls>
            <c:spPr>
              <a:noFill/>
              <a:ln>
                <a:noFill/>
              </a:ln>
              <a:effectLst/>
            </c:spPr>
            <c:txPr>
              <a:bodyPr rot="0" spcFirstLastPara="0" vertOverflow="ellipsis" vert="horz" wrap="square" lIns="38100" tIns="19050" rIns="38100" bIns="19050" anchor="ctr" anchorCtr="1"/>
              <a:lstStyle/>
              <a:p>
                <a:pPr>
                  <a:defRPr lang="en-US" sz="16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Overall!$A$15:$A$18</c:f>
              <c:strCache>
                <c:ptCount val="4"/>
                <c:pt idx="0">
                  <c:v>YALHIV</c:v>
                </c:pt>
                <c:pt idx="1">
                  <c:v>Diagnosis</c:v>
                </c:pt>
                <c:pt idx="2">
                  <c:v>Treatment</c:v>
                </c:pt>
                <c:pt idx="3">
                  <c:v>Vl Suppression</c:v>
                </c:pt>
              </c:strCache>
            </c:strRef>
          </c:cat>
          <c:val>
            <c:numRef>
              <c:f>Overall!$C$15:$C$18</c:f>
              <c:numCache>
                <c:formatCode>General</c:formatCode>
                <c:ptCount val="4"/>
                <c:pt idx="1" c:formatCode="0">
                  <c:v>40548</c:v>
                </c:pt>
                <c:pt idx="2" c:formatCode="0">
                  <c:v>40548</c:v>
                </c:pt>
                <c:pt idx="3" c:formatCode="0">
                  <c:v>47016.2027358947</c:v>
                </c:pt>
              </c:numCache>
            </c:numRef>
          </c:val>
        </c:ser>
        <c:ser>
          <c:idx val="2"/>
          <c:order val="2"/>
          <c:spPr>
            <a:solidFill>
              <a:srgbClr val="A5A5A5"/>
            </a:solidFill>
            <a:ln cmpd="sng">
              <a:solidFill>
                <a:srgbClr val="000000"/>
              </a:solidFill>
            </a:ln>
          </c:spPr>
          <c:invertIfNegative val="0"/>
          <c:dLbls>
            <c:dLbl>
              <c:idx val="2"/>
              <c:layout>
                <c:manualLayout>
                  <c:x val="0.00469977561963643"/>
                  <c:y val="-0.0520186347770742"/>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0469989897332723"/>
                  <c:y val="-0.0534635968542152"/>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0595697176557371"/>
                      <c:h val="0.105193239215861"/>
                    </c:manualLayout>
                  </c15:layout>
                </c:ext>
              </c:extLst>
            </c:dLbl>
            <c:dLbl>
              <c:idx val="4"/>
              <c:delete val="1"/>
            </c:dLbl>
            <c:spPr>
              <a:noFill/>
              <a:ln>
                <a:noFill/>
              </a:ln>
              <a:effectLst/>
            </c:spPr>
            <c:txPr>
              <a:bodyPr rot="0" spcFirstLastPara="0" vertOverflow="ellipsis" vert="horz" wrap="square" lIns="38100" tIns="19050" rIns="38100" bIns="19050" anchor="ctr" anchorCtr="1"/>
              <a:lstStyle/>
              <a:p>
                <a:pPr>
                  <a:defRPr lang="en-US" sz="16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Overall!$A$15:$A$18</c:f>
              <c:strCache>
                <c:ptCount val="4"/>
                <c:pt idx="0">
                  <c:v>YALHIV</c:v>
                </c:pt>
                <c:pt idx="1">
                  <c:v>Diagnosis</c:v>
                </c:pt>
                <c:pt idx="2">
                  <c:v>Treatment</c:v>
                </c:pt>
                <c:pt idx="3">
                  <c:v>Vl Suppression</c:v>
                </c:pt>
              </c:strCache>
            </c:strRef>
          </c:cat>
          <c:val>
            <c:numRef>
              <c:f>Overall!$D$14:$D$18</c:f>
              <c:numCache>
                <c:formatCode>General</c:formatCode>
                <c:ptCount val="5"/>
                <c:pt idx="2" c:formatCode="0%">
                  <c:v>0.692305357413872</c:v>
                </c:pt>
                <c:pt idx="3" c:formatCode="0%">
                  <c:v>0.692305357413872</c:v>
                </c:pt>
                <c:pt idx="4" c:formatCode="0%">
                  <c:v>0.643222015966803</c:v>
                </c:pt>
              </c:numCache>
            </c:numRef>
          </c:val>
        </c:ser>
        <c:dLbls>
          <c:showLegendKey val="0"/>
          <c:showVal val="1"/>
          <c:showCatName val="0"/>
          <c:showSerName val="0"/>
          <c:showPercent val="0"/>
          <c:showBubbleSize val="0"/>
        </c:dLbls>
        <c:gapWidth val="150"/>
        <c:overlap val="100"/>
        <c:axId val="1481646631"/>
        <c:axId val="828254971"/>
      </c:barChart>
      <c:catAx>
        <c:axId val="1481646631"/>
        <c:scaling>
          <c:orientation val="minMax"/>
        </c:scaling>
        <c:delete val="0"/>
        <c:axPos val="b"/>
        <c:title>
          <c:layout/>
          <c:overlay val="0"/>
          <c:tx>
            <c:rich>
              <a:bodyPr/>
              <a:lstStyle/>
              <a:p>
                <a:pPr>
                  <a:defRPr/>
                </a:pPr>
              </a:p>
            </c:rich>
          </c:tx>
        </c:title>
        <c:numFmt formatCode="General" sourceLinked="1"/>
        <c:majorTickMark val="none"/>
        <c:minorTickMark val="none"/>
        <c:tickLblPos val="nextTo"/>
        <c:txPr>
          <a:bodyPr rot="-60000000" spcFirstLastPara="0" vertOverflow="ellipsis" vert="horz" wrap="square" anchor="ctr" anchorCtr="1"/>
          <a:lstStyle/>
          <a:p>
            <a:pPr>
              <a:defRPr lang="en-US" sz="1600" b="0" i="0" u="none" strike="noStrike" kern="1200" baseline="0">
                <a:solidFill>
                  <a:schemeClr val="tx1"/>
                </a:solidFill>
                <a:latin typeface="+mn-lt"/>
                <a:ea typeface="+mn-ea"/>
                <a:cs typeface="+mn-cs"/>
              </a:defRPr>
            </a:pPr>
          </a:p>
        </c:txPr>
        <c:crossAx val="828254971"/>
        <c:crosses val="autoZero"/>
        <c:auto val="1"/>
        <c:lblAlgn val="ctr"/>
        <c:lblOffset val="100"/>
        <c:noMultiLvlLbl val="0"/>
      </c:catAx>
      <c:valAx>
        <c:axId val="828254971"/>
        <c:scaling>
          <c:orientation val="minMax"/>
        </c:scaling>
        <c:delete val="0"/>
        <c:axPos val="l"/>
        <c:title>
          <c:layout/>
          <c:overlay val="0"/>
          <c:tx>
            <c:rich>
              <a:bodyPr/>
              <a:lstStyle/>
              <a:p>
                <a:pPr>
                  <a:defRPr/>
                </a:pPr>
              </a:p>
            </c:rich>
          </c:tx>
        </c:title>
        <c:numFmt formatCode="_-* #,##0_-;\-* #,##0_-;_-* &quot;-&quot;??_-;_-@" sourceLinked="1"/>
        <c:majorTickMark val="none"/>
        <c:minorTickMark val="none"/>
        <c:tickLblPos val="nextTo"/>
        <c:spPr>
          <a:ln w="6350" cap="flat" cmpd="sng" algn="ctr">
            <a:solidFill>
              <a:schemeClr val="tx1">
                <a:tint val="75000"/>
              </a:schemeClr>
            </a:solidFill>
            <a:prstDash val="solid"/>
            <a:round/>
          </a:ln>
        </c:spPr>
        <c:txPr>
          <a:bodyPr rot="-60000000" spcFirstLastPara="0" vertOverflow="ellipsis" vert="horz" wrap="square" anchor="ctr" anchorCtr="1"/>
          <a:lstStyle/>
          <a:p>
            <a:pPr>
              <a:defRPr lang="en-US" sz="1600" b="0" i="0" u="none" strike="noStrike" kern="1200" baseline="0">
                <a:solidFill>
                  <a:schemeClr val="tx1"/>
                </a:solidFill>
                <a:latin typeface="+mn-lt"/>
                <a:ea typeface="+mn-ea"/>
                <a:cs typeface="+mn-cs"/>
              </a:defRPr>
            </a:pPr>
          </a:p>
        </c:txPr>
        <c:crossAx val="1481646631"/>
        <c:crosses val="autoZero"/>
        <c:crossBetween val="between"/>
      </c:valAx>
    </c:plotArea>
    <c:legend>
      <c:legendPos val="b"/>
      <c:layout/>
      <c:overlay val="0"/>
      <c:txPr>
        <a:bodyPr rot="0" spcFirstLastPara="0" vertOverflow="ellipsis" vert="horz" wrap="square" anchor="ctr" anchorCtr="1"/>
        <a:lstStyle/>
        <a:p>
          <a:pPr>
            <a:defRPr lang="en-US" sz="1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1177d4fa-473e-481d-894d-17664bbb22ec}"/>
      </c:ext>
    </c:extLst>
  </c:chart>
  <c:txPr>
    <a:bodyPr/>
    <a:lstStyle/>
    <a:p>
      <a:pPr>
        <a:defRPr lang="en-US" sz="1600"/>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2157887429041"/>
          <c:y val="0.159317866257885"/>
          <c:w val="0.751166822136063"/>
          <c:h val="0.566343611053147"/>
        </c:manualLayout>
      </c:layout>
      <c:barChart>
        <c:barDir val="col"/>
        <c:grouping val="stacked"/>
        <c:varyColors val="0"/>
        <c:ser>
          <c:idx val="0"/>
          <c:order val="0"/>
          <c:tx>
            <c:strRef>
              <c:f> Achieved </c:f>
              <c:strCache>
                <c:ptCount val="1"/>
                <c:pt idx="0">
                  <c:v> Achieved </c:v>
                </c:pt>
              </c:strCache>
            </c:strRef>
          </c:tx>
          <c:spPr>
            <a:solidFill>
              <a:srgbClr val="4472C4"/>
            </a:solidFill>
            <a:ln cmpd="sng">
              <a:solidFill>
                <a:srgbClr val="000000"/>
              </a:solidFill>
            </a:ln>
          </c:spPr>
          <c:invertIfNegative val="0"/>
          <c:dLbls>
            <c:spPr>
              <a:noFill/>
              <a:ln>
                <a:noFill/>
              </a:ln>
              <a:effectLst/>
            </c:spPr>
            <c:txPr>
              <a:bodyPr rot="0" spcFirstLastPara="0" vertOverflow="ellipsis" vert="horz" wrap="square" lIns="38100" tIns="19050" rIns="38100" bIns="19050" anchor="ctr" anchorCtr="1"/>
              <a:lstStyle/>
              <a:p>
                <a:pPr>
                  <a:defRPr lang="en-US" sz="16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Overall!$A$9:$A$12</c:f>
              <c:strCache>
                <c:ptCount val="4"/>
                <c:pt idx="0">
                  <c:v>ALHIV</c:v>
                </c:pt>
                <c:pt idx="1">
                  <c:v>Diagnosis</c:v>
                </c:pt>
                <c:pt idx="2">
                  <c:v>Treatment</c:v>
                </c:pt>
                <c:pt idx="3">
                  <c:v>Vl Suppression</c:v>
                </c:pt>
              </c:strCache>
            </c:strRef>
          </c:cat>
          <c:val>
            <c:numRef>
              <c:f>Overall!$B$9:$B$12</c:f>
              <c:numCache>
                <c:formatCode>_-* #,##0_-;\-* #,##0_-;_-* "-"??_-;_-@</c:formatCode>
                <c:ptCount val="4"/>
                <c:pt idx="0">
                  <c:v>84868</c:v>
                </c:pt>
                <c:pt idx="1">
                  <c:v>61943</c:v>
                </c:pt>
                <c:pt idx="2">
                  <c:v>61943</c:v>
                </c:pt>
                <c:pt idx="3">
                  <c:v>60015.9192326691</c:v>
                </c:pt>
              </c:numCache>
            </c:numRef>
          </c:val>
        </c:ser>
        <c:ser>
          <c:idx val="1"/>
          <c:order val="1"/>
          <c:tx>
            <c:strRef>
              <c:f>Gap</c:f>
              <c:strCache>
                <c:ptCount val="1"/>
                <c:pt idx="0">
                  <c:v>Gap</c:v>
                </c:pt>
              </c:strCache>
            </c:strRef>
          </c:tx>
          <c:spPr>
            <a:solidFill>
              <a:srgbClr val="ED7D31"/>
            </a:solidFill>
            <a:ln cmpd="sng">
              <a:solidFill>
                <a:srgbClr val="000000"/>
              </a:solidFill>
            </a:ln>
          </c:spPr>
          <c:invertIfNegative val="0"/>
          <c:dLbls>
            <c:spPr>
              <a:noFill/>
              <a:ln>
                <a:noFill/>
              </a:ln>
              <a:effectLst/>
            </c:spPr>
            <c:txPr>
              <a:bodyPr rot="0" spcFirstLastPara="0" vertOverflow="ellipsis" vert="horz" wrap="square" lIns="38100" tIns="19050" rIns="38100" bIns="19050" anchor="ctr" anchorCtr="1"/>
              <a:lstStyle/>
              <a:p>
                <a:pPr>
                  <a:defRPr lang="en-US" sz="16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Overall!$A$9:$A$12</c:f>
              <c:strCache>
                <c:ptCount val="4"/>
                <c:pt idx="0">
                  <c:v>ALHIV</c:v>
                </c:pt>
                <c:pt idx="1">
                  <c:v>Diagnosis</c:v>
                </c:pt>
                <c:pt idx="2">
                  <c:v>Treatment</c:v>
                </c:pt>
                <c:pt idx="3">
                  <c:v>Vl Suppression</c:v>
                </c:pt>
              </c:strCache>
            </c:strRef>
          </c:cat>
          <c:val>
            <c:numRef>
              <c:f>Overall!$C$9:$C$12</c:f>
              <c:numCache>
                <c:formatCode>General</c:formatCode>
                <c:ptCount val="4"/>
                <c:pt idx="1" c:formatCode="0">
                  <c:v>22925</c:v>
                </c:pt>
                <c:pt idx="2" c:formatCode="0">
                  <c:v>22925</c:v>
                </c:pt>
                <c:pt idx="3" c:formatCode="0">
                  <c:v>24852.0807673309</c:v>
                </c:pt>
              </c:numCache>
            </c:numRef>
          </c:val>
        </c:ser>
        <c:ser>
          <c:idx val="2"/>
          <c:order val="2"/>
          <c:spPr>
            <a:solidFill>
              <a:srgbClr val="A5A5A5"/>
            </a:solidFill>
            <a:ln cmpd="sng">
              <a:solidFill>
                <a:srgbClr val="000000"/>
              </a:solidFill>
            </a:ln>
          </c:spPr>
          <c:invertIfNegative val="0"/>
          <c:dLbls>
            <c:dLbl>
              <c:idx val="2"/>
              <c:layout>
                <c:manualLayout>
                  <c:x val="-0.00203622688120909"/>
                  <c:y val="-0.0573343873898457"/>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305434032181362"/>
                  <c:y val="-0.0477786561582048"/>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107970850209699"/>
                      <c:h val="0.100016653557842"/>
                    </c:manualLayout>
                  </c15:layout>
                </c:ext>
              </c:extLst>
            </c:dLbl>
            <c:dLbl>
              <c:idx val="4"/>
              <c:delete val="1"/>
            </c:dLbl>
            <c:spPr>
              <a:noFill/>
              <a:ln>
                <a:noFill/>
              </a:ln>
              <a:effectLst/>
            </c:spPr>
            <c:txPr>
              <a:bodyPr rot="0" spcFirstLastPara="0" vertOverflow="ellipsis" vert="horz" wrap="square" lIns="38100" tIns="19050" rIns="38100" bIns="19050" anchor="ctr" anchorCtr="1"/>
              <a:lstStyle/>
              <a:p>
                <a:pPr>
                  <a:defRPr lang="en-US" sz="16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Overall!$A$9:$A$12</c:f>
              <c:strCache>
                <c:ptCount val="4"/>
                <c:pt idx="0">
                  <c:v>ALHIV</c:v>
                </c:pt>
                <c:pt idx="1">
                  <c:v>Diagnosis</c:v>
                </c:pt>
                <c:pt idx="2">
                  <c:v>Treatment</c:v>
                </c:pt>
                <c:pt idx="3">
                  <c:v>Vl Suppression</c:v>
                </c:pt>
              </c:strCache>
            </c:strRef>
          </c:cat>
          <c:val>
            <c:numRef>
              <c:f>Overall!$D$8:$D$12</c:f>
              <c:numCache>
                <c:formatCode>General</c:formatCode>
                <c:ptCount val="5"/>
                <c:pt idx="2" c:formatCode="0%">
                  <c:v>0.729874628835368</c:v>
                </c:pt>
                <c:pt idx="3" c:formatCode="0%">
                  <c:v>0.729874628835368</c:v>
                </c:pt>
                <c:pt idx="4" c:formatCode="0%">
                  <c:v>0.707167828070287</c:v>
                </c:pt>
              </c:numCache>
            </c:numRef>
          </c:val>
        </c:ser>
        <c:dLbls>
          <c:showLegendKey val="0"/>
          <c:showVal val="1"/>
          <c:showCatName val="0"/>
          <c:showSerName val="0"/>
          <c:showPercent val="0"/>
          <c:showBubbleSize val="0"/>
        </c:dLbls>
        <c:gapWidth val="150"/>
        <c:overlap val="100"/>
        <c:axId val="2133850195"/>
        <c:axId val="2040327586"/>
      </c:barChart>
      <c:catAx>
        <c:axId val="2133850195"/>
        <c:scaling>
          <c:orientation val="minMax"/>
        </c:scaling>
        <c:delete val="0"/>
        <c:axPos val="b"/>
        <c:title>
          <c:layout/>
          <c:overlay val="0"/>
          <c:tx>
            <c:rich>
              <a:bodyPr/>
              <a:lstStyle/>
              <a:p>
                <a:pPr>
                  <a:defRPr/>
                </a:pPr>
              </a:p>
            </c:rich>
          </c:tx>
        </c:title>
        <c:numFmt formatCode="General" sourceLinked="1"/>
        <c:majorTickMark val="none"/>
        <c:minorTickMark val="none"/>
        <c:tickLblPos val="nextTo"/>
        <c:txPr>
          <a:bodyPr rot="-60000000" spcFirstLastPara="0" vertOverflow="ellipsis" vert="horz" wrap="square" anchor="ctr" anchorCtr="1"/>
          <a:lstStyle/>
          <a:p>
            <a:pPr>
              <a:defRPr lang="en-US" sz="1600" b="0" i="0" u="none" strike="noStrike" kern="1200" baseline="0">
                <a:solidFill>
                  <a:schemeClr val="tx1"/>
                </a:solidFill>
                <a:latin typeface="+mn-lt"/>
                <a:ea typeface="+mn-ea"/>
                <a:cs typeface="+mn-cs"/>
              </a:defRPr>
            </a:pPr>
          </a:p>
        </c:txPr>
        <c:crossAx val="2040327586"/>
        <c:crosses val="autoZero"/>
        <c:auto val="1"/>
        <c:lblAlgn val="ctr"/>
        <c:lblOffset val="100"/>
        <c:noMultiLvlLbl val="0"/>
      </c:catAx>
      <c:valAx>
        <c:axId val="2040327586"/>
        <c:scaling>
          <c:orientation val="minMax"/>
        </c:scaling>
        <c:delete val="0"/>
        <c:axPos val="l"/>
        <c:title>
          <c:layout/>
          <c:overlay val="0"/>
          <c:tx>
            <c:rich>
              <a:bodyPr/>
              <a:lstStyle/>
              <a:p>
                <a:pPr>
                  <a:defRPr/>
                </a:pPr>
              </a:p>
            </c:rich>
          </c:tx>
        </c:title>
        <c:numFmt formatCode="_-* #,##0_-;\-* #,##0_-;_-* &quot;-&quot;??_-;_-@" sourceLinked="1"/>
        <c:majorTickMark val="none"/>
        <c:minorTickMark val="none"/>
        <c:tickLblPos val="nextTo"/>
        <c:spPr>
          <a:ln w="6350" cap="flat" cmpd="sng" algn="ctr">
            <a:solidFill>
              <a:schemeClr val="tx1">
                <a:tint val="75000"/>
              </a:schemeClr>
            </a:solidFill>
            <a:prstDash val="solid"/>
            <a:round/>
          </a:ln>
        </c:spPr>
        <c:txPr>
          <a:bodyPr rot="-60000000" spcFirstLastPara="0" vertOverflow="ellipsis" vert="horz" wrap="square" anchor="ctr" anchorCtr="1"/>
          <a:lstStyle/>
          <a:p>
            <a:pPr>
              <a:defRPr lang="en-US" sz="1600" b="0" i="0" u="none" strike="noStrike" kern="1200" baseline="0">
                <a:solidFill>
                  <a:schemeClr val="tx1"/>
                </a:solidFill>
                <a:latin typeface="+mn-lt"/>
                <a:ea typeface="+mn-ea"/>
                <a:cs typeface="+mn-cs"/>
              </a:defRPr>
            </a:pPr>
          </a:p>
        </c:txPr>
        <c:crossAx val="2133850195"/>
        <c:crosses val="autoZero"/>
        <c:crossBetween val="between"/>
      </c:valAx>
    </c:plotArea>
    <c:legend>
      <c:legendPos val="b"/>
      <c:layout/>
      <c:overlay val="0"/>
      <c:txPr>
        <a:bodyPr rot="0" spcFirstLastPara="0" vertOverflow="ellipsis" vert="horz" wrap="square" anchor="ctr" anchorCtr="1"/>
        <a:lstStyle/>
        <a:p>
          <a:pPr>
            <a:defRPr lang="en-US" sz="1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53f3a76d-acf4-49e8-b97b-52125f03d28b}"/>
      </c:ext>
    </c:extLst>
  </c:chart>
  <c:txPr>
    <a:bodyPr/>
    <a:lstStyle/>
    <a:p>
      <a:pPr>
        <a:defRPr lang="en-US" sz="1600"/>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lang="en-US"/>
              <a:t>Children cascade</a:t>
            </a:r>
            <a:endParaRPr lang="en-US"/>
          </a:p>
        </c:rich>
      </c:tx>
      <c:layout/>
      <c:overlay val="0"/>
    </c:title>
    <c:autoTitleDeleted val="0"/>
    <c:plotArea>
      <c:layout/>
      <c:barChart>
        <c:barDir val="col"/>
        <c:grouping val="stacked"/>
        <c:varyColors val="0"/>
        <c:ser>
          <c:idx val="0"/>
          <c:order val="0"/>
          <c:tx>
            <c:strRef>
              <c:f> Achieved </c:f>
              <c:strCache>
                <c:ptCount val="1"/>
                <c:pt idx="0">
                  <c:v> Achieved </c:v>
                </c:pt>
              </c:strCache>
            </c:strRef>
          </c:tx>
          <c:spPr>
            <a:solidFill>
              <a:srgbClr val="4472C4"/>
            </a:solidFill>
            <a:ln cmpd="sng">
              <a:solidFill>
                <a:srgbClr val="000000"/>
              </a:solidFill>
            </a:ln>
          </c:spPr>
          <c:invertIfNegative val="0"/>
          <c:dLbls>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Overall!$A$3:$A$6</c:f>
              <c:strCache>
                <c:ptCount val="4"/>
                <c:pt idx="0">
                  <c:v>CHLIV</c:v>
                </c:pt>
                <c:pt idx="1">
                  <c:v>Diagnosis</c:v>
                </c:pt>
                <c:pt idx="2">
                  <c:v>Treatment</c:v>
                </c:pt>
                <c:pt idx="3">
                  <c:v>Vl Suppression</c:v>
                </c:pt>
              </c:strCache>
            </c:strRef>
          </c:cat>
          <c:val>
            <c:numRef>
              <c:f>Overall!$B$3:$B$6</c:f>
              <c:numCache>
                <c:formatCode>_-* #,##0_-;\-* #,##0_-;_-* "-"??_-;_-@</c:formatCode>
                <c:ptCount val="4"/>
                <c:pt idx="0">
                  <c:v>71433</c:v>
                </c:pt>
                <c:pt idx="1">
                  <c:v>39400</c:v>
                </c:pt>
                <c:pt idx="2">
                  <c:v>39395</c:v>
                </c:pt>
                <c:pt idx="3">
                  <c:v>36481.3450235799</c:v>
                </c:pt>
              </c:numCache>
            </c:numRef>
          </c:val>
        </c:ser>
        <c:ser>
          <c:idx val="1"/>
          <c:order val="1"/>
          <c:tx>
            <c:strRef>
              <c:f>Gap</c:f>
              <c:strCache>
                <c:ptCount val="1"/>
                <c:pt idx="0">
                  <c:v>Gap</c:v>
                </c:pt>
              </c:strCache>
            </c:strRef>
          </c:tx>
          <c:spPr>
            <a:solidFill>
              <a:srgbClr val="ED7D31"/>
            </a:solidFill>
            <a:ln cmpd="sng">
              <a:solidFill>
                <a:srgbClr val="000000"/>
              </a:solidFill>
            </a:ln>
          </c:spPr>
          <c:invertIfNegative val="0"/>
          <c:dLbls>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Overall!$A$3:$A$6</c:f>
              <c:strCache>
                <c:ptCount val="4"/>
                <c:pt idx="0">
                  <c:v>CHLIV</c:v>
                </c:pt>
                <c:pt idx="1">
                  <c:v>Diagnosis</c:v>
                </c:pt>
                <c:pt idx="2">
                  <c:v>Treatment</c:v>
                </c:pt>
                <c:pt idx="3">
                  <c:v>Vl Suppression</c:v>
                </c:pt>
              </c:strCache>
            </c:strRef>
          </c:cat>
          <c:val>
            <c:numRef>
              <c:f>Overall!$C$3:$C$6</c:f>
              <c:numCache>
                <c:formatCode>General</c:formatCode>
                <c:ptCount val="4"/>
                <c:pt idx="1" c:formatCode="0">
                  <c:v>32033</c:v>
                </c:pt>
                <c:pt idx="2" c:formatCode="0">
                  <c:v>32038</c:v>
                </c:pt>
                <c:pt idx="3" c:formatCode="0">
                  <c:v>34951.6549764201</c:v>
                </c:pt>
              </c:numCache>
            </c:numRef>
          </c:val>
        </c:ser>
        <c:ser>
          <c:idx val="2"/>
          <c:order val="2"/>
          <c:spPr>
            <a:solidFill>
              <a:srgbClr val="A5A5A5"/>
            </a:solidFill>
            <a:ln cmpd="sng">
              <a:solidFill>
                <a:srgbClr val="000000"/>
              </a:solidFill>
            </a:ln>
          </c:spPr>
          <c:invertIfNegative val="0"/>
          <c:dLbls>
            <c:dLbl>
              <c:idx val="2"/>
              <c:layout>
                <c:manualLayout>
                  <c:x val="0.00144496207714084"/>
                  <c:y val="-0.0687342020098613"/>
                </c:manualLayout>
              </c:layout>
              <c:dLblPos val="ct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0433488623142285"/>
                  <c:y val="-0.0793085905471113"/>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0.0708393227201058"/>
                      <c:h val="0.0705847382178191"/>
                    </c:manualLayout>
                  </c15:layout>
                </c:ext>
              </c:extLst>
            </c:dLbl>
            <c:dLbl>
              <c:idx val="4"/>
              <c:delete val="1"/>
            </c:dLbl>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Overall!$A$3:$A$6</c:f>
              <c:strCache>
                <c:ptCount val="4"/>
                <c:pt idx="0">
                  <c:v>CHLIV</c:v>
                </c:pt>
                <c:pt idx="1">
                  <c:v>Diagnosis</c:v>
                </c:pt>
                <c:pt idx="2">
                  <c:v>Treatment</c:v>
                </c:pt>
                <c:pt idx="3">
                  <c:v>Vl Suppression</c:v>
                </c:pt>
              </c:strCache>
            </c:strRef>
          </c:cat>
          <c:val>
            <c:numRef>
              <c:f>Overall!$D$2:$D$6</c:f>
              <c:numCache>
                <c:formatCode>General</c:formatCode>
                <c:ptCount val="5"/>
                <c:pt idx="2" c:formatCode="0%">
                  <c:v>0.551565802920219</c:v>
                </c:pt>
                <c:pt idx="3" c:formatCode="0%">
                  <c:v>0.55149580725995</c:v>
                </c:pt>
                <c:pt idx="4" c:formatCode="0%">
                  <c:v>0.510707166485797</c:v>
                </c:pt>
              </c:numCache>
            </c:numRef>
          </c:val>
        </c:ser>
        <c:dLbls>
          <c:showLegendKey val="0"/>
          <c:showVal val="1"/>
          <c:showCatName val="0"/>
          <c:showSerName val="0"/>
          <c:showPercent val="0"/>
          <c:showBubbleSize val="0"/>
        </c:dLbls>
        <c:gapWidth val="150"/>
        <c:overlap val="100"/>
        <c:axId val="855288354"/>
        <c:axId val="107528115"/>
      </c:barChart>
      <c:catAx>
        <c:axId val="855288354"/>
        <c:scaling>
          <c:orientation val="minMax"/>
        </c:scaling>
        <c:delete val="0"/>
        <c:axPos val="b"/>
        <c:title>
          <c:layout/>
          <c:overlay val="0"/>
          <c:tx>
            <c:rich>
              <a:bodyPr/>
              <a:lstStyle/>
              <a:p>
                <a:pPr>
                  <a:defRPr/>
                </a:pPr>
              </a:p>
            </c:rich>
          </c:tx>
        </c:title>
        <c:numFmt formatCode="General" sourceLinked="1"/>
        <c:majorTickMark val="none"/>
        <c:minorTickMark val="none"/>
        <c:tickLblPos val="nextTo"/>
        <c:txPr>
          <a:bodyPr rot="-6000000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crossAx val="107528115"/>
        <c:crosses val="autoZero"/>
        <c:auto val="1"/>
        <c:lblAlgn val="ctr"/>
        <c:lblOffset val="100"/>
        <c:noMultiLvlLbl val="0"/>
      </c:catAx>
      <c:valAx>
        <c:axId val="107528115"/>
        <c:scaling>
          <c:orientation val="minMax"/>
        </c:scaling>
        <c:delete val="0"/>
        <c:axPos val="l"/>
        <c:title>
          <c:layout/>
          <c:overlay val="0"/>
          <c:tx>
            <c:rich>
              <a:bodyPr/>
              <a:lstStyle/>
              <a:p>
                <a:pPr>
                  <a:defRPr/>
                </a:pPr>
              </a:p>
            </c:rich>
          </c:tx>
        </c:title>
        <c:numFmt formatCode="_-* #,##0_-;\-* #,##0_-;_-* &quot;-&quot;??_-;_-@" sourceLinked="1"/>
        <c:majorTickMark val="none"/>
        <c:minorTickMark val="none"/>
        <c:tickLblPos val="nextTo"/>
        <c:spPr>
          <a:ln w="6350" cap="flat" cmpd="sng" algn="ctr">
            <a:solidFill>
              <a:schemeClr val="tx1">
                <a:tint val="75000"/>
              </a:schemeClr>
            </a:solidFill>
            <a:prstDash val="solid"/>
            <a:round/>
          </a:ln>
        </c:spPr>
        <c:txPr>
          <a:bodyPr rot="-6000000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crossAx val="855288354"/>
        <c:crosses val="autoZero"/>
        <c:crossBetween val="between"/>
      </c:valAx>
    </c:plotArea>
    <c:legend>
      <c:legendPos val="b"/>
      <c:layout/>
      <c:overlay val="0"/>
      <c:txPr>
        <a:bodyPr rot="0" spcFirstLastPara="0" vertOverflow="ellipsis" vert="horz" wrap="square" anchor="ctr" anchorCtr="1"/>
        <a:lstStyle/>
        <a:p>
          <a:pPr>
            <a:defRPr lang="en-US" sz="18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53dc3222-d702-485e-b0e8-2cca3ffe7a9c}"/>
      </c:ext>
    </c:extLst>
  </c:chart>
  <c:txPr>
    <a:bodyPr/>
    <a:lstStyle/>
    <a:p>
      <a:pPr>
        <a:defRPr lang="en-US" sz="1800"/>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sz="1800" b="1" i="0" u="none" strike="noStrike" kern="1200" spc="0" baseline="0">
                <a:solidFill>
                  <a:srgbClr val="C00000"/>
                </a:solidFill>
                <a:latin typeface="Aptos" panose="020B0004020202020204" pitchFamily="34" charset="0"/>
                <a:ea typeface="+mn-ea"/>
                <a:cs typeface="+mn-cs"/>
              </a:defRPr>
            </a:pPr>
            <a:r>
              <a:rPr lang="en-GB" dirty="0">
                <a:solidFill>
                  <a:srgbClr val="C00000"/>
                </a:solidFill>
              </a:rPr>
              <a:t>Hypertension Screening</a:t>
            </a:r>
            <a:endParaRPr lang="en-GB" dirty="0">
              <a:solidFill>
                <a:srgbClr val="C00000"/>
              </a:solidFill>
            </a:endParaRPr>
          </a:p>
        </c:rich>
      </c:tx>
      <c:layout/>
      <c:overlay val="0"/>
      <c:spPr>
        <a:noFill/>
        <a:ln>
          <a:noFill/>
        </a:ln>
        <a:effectLst/>
      </c:spPr>
    </c:title>
    <c:autoTitleDeleted val="0"/>
    <c:plotArea>
      <c:layout/>
      <c:barChart>
        <c:barDir val="col"/>
        <c:grouping val="clustered"/>
        <c:varyColors val="0"/>
        <c:ser>
          <c:idx val="0"/>
          <c:order val="0"/>
          <c:spPr>
            <a:solidFill>
              <a:srgbClr val="002060"/>
            </a:solidFill>
            <a:ln>
              <a:noFill/>
            </a:ln>
            <a:effectLst/>
          </c:spPr>
          <c:invertIfNegative val="0"/>
          <c:dLbls>
            <c:dLbl>
              <c:idx val="1"/>
              <c:layout/>
              <c:tx>
                <c:rich>
                  <a:bodyPr rot="0" spcFirstLastPara="1" vertOverflow="ellipsis" vert="horz" wrap="square" lIns="38100" tIns="19050" rIns="38100" bIns="19050" anchor="ctr" anchorCtr="1"/>
                  <a:lstStyle/>
                  <a:p>
                    <a:pPr>
                      <a:defRPr lang="en-US" sz="1500" b="1" i="0" u="none" strike="noStrike" kern="1200" baseline="0">
                        <a:solidFill>
                          <a:schemeClr val="tx1">
                            <a:lumMod val="75000"/>
                            <a:lumOff val="25000"/>
                          </a:schemeClr>
                        </a:solidFill>
                        <a:latin typeface="Aptos" panose="020B0004020202020204" pitchFamily="34" charset="0"/>
                        <a:ea typeface="+mn-ea"/>
                        <a:cs typeface="+mn-cs"/>
                      </a:defRPr>
                    </a:pPr>
                    <a:r>
                      <a:rPr lang="en-US" dirty="0"/>
                      <a:t>603,717</a:t>
                    </a:r>
                    <a:endParaRPr lang="en-US" dirty="0"/>
                  </a:p>
                  <a:p>
                    <a:pPr>
                      <a:defRPr lang="en-US" sz="1500" b="1" i="0" u="none" strike="noStrike" kern="1200" baseline="0">
                        <a:solidFill>
                          <a:schemeClr val="tx1">
                            <a:lumMod val="75000"/>
                            <a:lumOff val="25000"/>
                          </a:schemeClr>
                        </a:solidFill>
                        <a:latin typeface="Aptos" panose="020B0004020202020204" pitchFamily="34" charset="0"/>
                        <a:ea typeface="+mn-ea"/>
                        <a:cs typeface="+mn-cs"/>
                      </a:defRPr>
                    </a:pPr>
                    <a:r>
                      <a:rPr lang="en-US" dirty="0"/>
                      <a:t>(76.91%)</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Lst>
            </c:dLbl>
            <c:dLbl>
              <c:idx val="2"/>
              <c:layout/>
              <c:tx>
                <c:rich>
                  <a:bodyPr rot="0" spcFirstLastPara="1" vertOverflow="ellipsis" vert="horz" wrap="square" lIns="38100" tIns="19050" rIns="38100" bIns="19050" anchor="ctr" anchorCtr="1"/>
                  <a:lstStyle/>
                  <a:p>
                    <a:pPr>
                      <a:defRPr lang="en-US" sz="1500" b="1" i="0" u="none" strike="noStrike" kern="1200" baseline="0">
                        <a:solidFill>
                          <a:schemeClr val="tx1">
                            <a:lumMod val="75000"/>
                            <a:lumOff val="25000"/>
                          </a:schemeClr>
                        </a:solidFill>
                        <a:latin typeface="Aptos" panose="020B0004020202020204" pitchFamily="34" charset="0"/>
                        <a:ea typeface="+mn-ea"/>
                        <a:cs typeface="+mn-cs"/>
                      </a:defRPr>
                    </a:pPr>
                    <a:r>
                      <a:rPr lang="en-US" dirty="0"/>
                      <a:t>435,026</a:t>
                    </a:r>
                    <a:endParaRPr lang="en-US" dirty="0"/>
                  </a:p>
                  <a:p>
                    <a:pPr>
                      <a:defRPr lang="en-US" sz="1500" b="1" i="0" u="none" strike="noStrike" kern="1200" baseline="0">
                        <a:solidFill>
                          <a:schemeClr val="tx1">
                            <a:lumMod val="75000"/>
                            <a:lumOff val="25000"/>
                          </a:schemeClr>
                        </a:solidFill>
                        <a:latin typeface="Aptos" panose="020B0004020202020204" pitchFamily="34" charset="0"/>
                        <a:ea typeface="+mn-ea"/>
                        <a:cs typeface="+mn-cs"/>
                      </a:defRPr>
                    </a:pPr>
                    <a:r>
                      <a:rPr lang="en-US" dirty="0"/>
                      <a:t>(72.06%)</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Lst>
            </c:dLbl>
            <c:dLbl>
              <c:idx val="3"/>
              <c:layout/>
              <c:tx>
                <c:rich>
                  <a:bodyPr rot="0" spcFirstLastPara="1" vertOverflow="ellipsis" vert="horz" wrap="square" lIns="38100" tIns="19050" rIns="38100" bIns="19050" anchor="ctr" anchorCtr="1"/>
                  <a:lstStyle/>
                  <a:p>
                    <a:pPr>
                      <a:defRPr lang="en-US" sz="1500" b="1" i="0" u="none" strike="noStrike" kern="1200" baseline="0">
                        <a:solidFill>
                          <a:schemeClr val="tx1">
                            <a:lumMod val="75000"/>
                            <a:lumOff val="25000"/>
                          </a:schemeClr>
                        </a:solidFill>
                        <a:latin typeface="Aptos" panose="020B0004020202020204" pitchFamily="34" charset="0"/>
                        <a:ea typeface="+mn-ea"/>
                        <a:cs typeface="+mn-cs"/>
                      </a:defRPr>
                    </a:pPr>
                    <a:r>
                      <a:rPr lang="en-US" dirty="0"/>
                      <a:t>511,388</a:t>
                    </a:r>
                    <a:endParaRPr lang="en-US" dirty="0"/>
                  </a:p>
                  <a:p>
                    <a:pPr>
                      <a:defRPr lang="en-US" sz="1500" b="1" i="0" u="none" strike="noStrike" kern="1200" baseline="0">
                        <a:solidFill>
                          <a:schemeClr val="tx1">
                            <a:lumMod val="75000"/>
                            <a:lumOff val="25000"/>
                          </a:schemeClr>
                        </a:solidFill>
                        <a:latin typeface="Aptos" panose="020B0004020202020204" pitchFamily="34" charset="0"/>
                        <a:ea typeface="+mn-ea"/>
                        <a:cs typeface="+mn-cs"/>
                      </a:defRPr>
                    </a:pPr>
                    <a:r>
                      <a:rPr lang="en-US" dirty="0"/>
                      <a:t>(94.57%)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Lst>
            </c:dLbl>
            <c:dLbl>
              <c:idx val="4"/>
              <c:layout/>
              <c:tx>
                <c:rich>
                  <a:bodyPr rot="0" spcFirstLastPara="1" vertOverflow="ellipsis" vert="horz" wrap="square" lIns="38100" tIns="19050" rIns="38100" bIns="19050" anchor="ctr" anchorCtr="1"/>
                  <a:lstStyle/>
                  <a:p>
                    <a:pPr>
                      <a:defRPr lang="en-US" sz="1500" b="1" i="0" u="none" strike="noStrike" kern="1200" baseline="0">
                        <a:solidFill>
                          <a:schemeClr val="tx1">
                            <a:lumMod val="75000"/>
                            <a:lumOff val="25000"/>
                          </a:schemeClr>
                        </a:solidFill>
                        <a:latin typeface="Aptos" panose="020B0004020202020204" pitchFamily="34" charset="0"/>
                        <a:ea typeface="+mn-ea"/>
                        <a:cs typeface="+mn-cs"/>
                      </a:defRPr>
                    </a:pPr>
                    <a:r>
                      <a:rPr lang="en-US" dirty="0"/>
                      <a:t>23,638</a:t>
                    </a:r>
                    <a:endParaRPr lang="en-US" dirty="0"/>
                  </a:p>
                  <a:p>
                    <a:pPr>
                      <a:defRPr lang="en-US" sz="1500" b="1" i="0" u="none" strike="noStrike" kern="1200" baseline="0">
                        <a:solidFill>
                          <a:schemeClr val="tx1">
                            <a:lumMod val="75000"/>
                            <a:lumOff val="25000"/>
                          </a:schemeClr>
                        </a:solidFill>
                        <a:latin typeface="Aptos" panose="020B0004020202020204" pitchFamily="34" charset="0"/>
                        <a:ea typeface="+mn-ea"/>
                        <a:cs typeface="+mn-cs"/>
                      </a:defRPr>
                    </a:pPr>
                    <a:r>
                      <a:rPr lang="en-US" dirty="0"/>
                      <a:t>(5.43%)</a:t>
                    </a:r>
                    <a:endParaRPr lang="en-US" dirty="0"/>
                  </a:p>
                </c:rich>
              </c:tx>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lstStyle/>
              <a:p>
                <a:pPr>
                  <a:defRPr lang="en-US" sz="1500" b="1" i="0" u="none" strike="noStrike" kern="1200" baseline="0">
                    <a:solidFill>
                      <a:schemeClr val="tx1">
                        <a:lumMod val="75000"/>
                        <a:lumOff val="25000"/>
                      </a:schemeClr>
                    </a:solidFill>
                    <a:latin typeface="Aptos" panose="020B0004020202020204" pitchFamily="34" charset="0"/>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Sheet1!$E$7:$I$7</c:f>
              <c:strCache>
                <c:ptCount val="5"/>
                <c:pt idx="0">
                  <c:v>No. with a visit between April 2024 and June 2024</c:v>
                </c:pt>
                <c:pt idx="1">
                  <c:v>No. with a self visit</c:v>
                </c:pt>
                <c:pt idx="2">
                  <c:v>No. screened for BP</c:v>
                </c:pt>
                <c:pt idx="3">
                  <c:v>No. with normal BP</c:v>
                </c:pt>
                <c:pt idx="4">
                  <c:v>No. with high BP</c:v>
                </c:pt>
              </c:strCache>
            </c:strRef>
          </c:cat>
          <c:val>
            <c:numRef>
              <c:f>Sheet1!$E$8:$I$8</c:f>
              <c:numCache>
                <c:formatCode>_-* #,##0_-;\-* #,##0_-;_-* "-"??_-;_-@_-</c:formatCode>
                <c:ptCount val="5"/>
                <c:pt idx="0">
                  <c:v>784997</c:v>
                </c:pt>
                <c:pt idx="1">
                  <c:v>603717</c:v>
                </c:pt>
                <c:pt idx="2">
                  <c:v>435026</c:v>
                </c:pt>
                <c:pt idx="3">
                  <c:v>411388</c:v>
                </c:pt>
                <c:pt idx="4">
                  <c:v>23638</c:v>
                </c:pt>
              </c:numCache>
            </c:numRef>
          </c:val>
        </c:ser>
        <c:dLbls>
          <c:showLegendKey val="0"/>
          <c:showVal val="1"/>
          <c:showCatName val="0"/>
          <c:showSerName val="0"/>
          <c:showPercent val="0"/>
          <c:showBubbleSize val="0"/>
        </c:dLbls>
        <c:gapWidth val="118"/>
        <c:overlap val="-27"/>
        <c:axId val="131426880"/>
        <c:axId val="131428800"/>
      </c:barChart>
      <c:catAx>
        <c:axId val="131426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500" b="1" i="0" u="none" strike="noStrike" kern="1200" baseline="0">
                <a:solidFill>
                  <a:schemeClr val="tx1">
                    <a:lumMod val="65000"/>
                    <a:lumOff val="35000"/>
                  </a:schemeClr>
                </a:solidFill>
                <a:latin typeface="Aptos" panose="020B0004020202020204" pitchFamily="34" charset="0"/>
                <a:ea typeface="+mn-ea"/>
                <a:cs typeface="+mn-cs"/>
              </a:defRPr>
            </a:pPr>
          </a:p>
        </c:txPr>
        <c:crossAx val="131428800"/>
        <c:crosses val="autoZero"/>
        <c:auto val="1"/>
        <c:lblAlgn val="ctr"/>
        <c:lblOffset val="100"/>
        <c:noMultiLvlLbl val="0"/>
      </c:catAx>
      <c:valAx>
        <c:axId val="131428800"/>
        <c:scaling>
          <c:orientation val="minMax"/>
        </c:scaling>
        <c:delete val="1"/>
        <c:axPos val="l"/>
        <c:numFmt formatCode="_-* #,##0_-;\-* #,##0_-;_-* &quot;-&quot;??_-;_-@_-" sourceLinked="1"/>
        <c:majorTickMark val="none"/>
        <c:minorTickMark val="none"/>
        <c:tickLblPos val="nextTo"/>
        <c:txPr>
          <a:bodyPr rot="-60000000" spcFirstLastPara="0" vertOverflow="ellipsis" vert="horz" wrap="square" anchor="ctr" anchorCtr="1"/>
          <a:lstStyle/>
          <a:p>
            <a:pPr>
              <a:defRPr lang="en-US" sz="1500" b="1" i="0" u="none" strike="noStrike" kern="1200" baseline="0">
                <a:solidFill>
                  <a:schemeClr val="tx1">
                    <a:lumMod val="65000"/>
                    <a:lumOff val="35000"/>
                  </a:schemeClr>
                </a:solidFill>
                <a:latin typeface="Aptos" panose="020B0004020202020204" pitchFamily="34" charset="0"/>
                <a:ea typeface="+mn-ea"/>
                <a:cs typeface="+mn-cs"/>
              </a:defRPr>
            </a:pPr>
          </a:p>
        </c:txPr>
        <c:crossAx val="131426880"/>
        <c:crosses val="autoZero"/>
        <c:crossBetween val="between"/>
      </c:valAx>
      <c:spPr>
        <a:noFill/>
        <a:ln>
          <a:noFill/>
        </a:ln>
        <a:effectLst/>
      </c:spPr>
    </c:plotArea>
    <c:plotVisOnly val="1"/>
    <c:dispBlanksAs val="gap"/>
    <c:showDLblsOverMax val="0"/>
    <c:extLst>
      <c:ext uri="{0b15fc19-7d7d-44ad-8c2d-2c3a37ce22c3}">
        <chartProps xmlns="https://web.wps.cn/et/2018/main" chartId="{3afbd5bb-2307-447f-8366-ed811a5939cb}"/>
      </c:ext>
    </c:extLst>
  </c:chart>
  <c:spPr>
    <a:noFill/>
    <a:ln w="19050">
      <a:solidFill>
        <a:sysClr val="windowText" lastClr="000000"/>
      </a:solidFill>
    </a:ln>
    <a:effectLst/>
  </c:spPr>
  <c:txPr>
    <a:bodyPr/>
    <a:lstStyle/>
    <a:p>
      <a:pPr>
        <a:defRPr lang="en-US" sz="1500" b="1">
          <a:latin typeface="Aptos" panose="020B0004020202020204" pitchFamily="34" charset="0"/>
        </a:defRPr>
      </a:pPr>
    </a:p>
  </c:txPr>
  <c:externalData r:id="rId1">
    <c:autoUpdate val="0"/>
  </c:externalData>
  <c:userShapes r:id="rId3"/>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sz="1500" b="1" i="0" u="none" strike="noStrike" kern="1200" spc="0" baseline="0">
                <a:solidFill>
                  <a:srgbClr val="C00000"/>
                </a:solidFill>
                <a:latin typeface="Aptos" panose="020B0004020202020204" pitchFamily="34" charset="0"/>
                <a:ea typeface="+mn-ea"/>
                <a:cs typeface="+mn-cs"/>
              </a:defRPr>
            </a:pPr>
            <a:r>
              <a:rPr lang="en-GB" sz="1500" dirty="0">
                <a:solidFill>
                  <a:srgbClr val="C00000"/>
                </a:solidFill>
              </a:rPr>
              <a:t>Overall (TX_CURR = 1,206,957)</a:t>
            </a:r>
            <a:endParaRPr lang="en-GB" sz="1500" dirty="0">
              <a:solidFill>
                <a:srgbClr val="C00000"/>
              </a:solidFill>
            </a:endParaRPr>
          </a:p>
        </c:rich>
      </c:tx>
      <c:layout/>
      <c:overlay val="0"/>
      <c:spPr>
        <a:noFill/>
        <a:ln>
          <a:noFill/>
        </a:ln>
        <a:effectLst/>
      </c:spPr>
    </c:title>
    <c:autoTitleDeleted val="0"/>
    <c:plotArea>
      <c:layout/>
      <c:barChart>
        <c:barDir val="col"/>
        <c:grouping val="clustered"/>
        <c:varyColors val="0"/>
        <c:ser>
          <c:idx val="0"/>
          <c:order val="0"/>
          <c:spPr>
            <a:solidFill>
              <a:srgbClr val="002060"/>
            </a:solidFill>
            <a:ln>
              <a:noFill/>
            </a:ln>
            <a:effectLst/>
          </c:spPr>
          <c:invertIfNegative val="0"/>
          <c:dLbls>
            <c:dLbl>
              <c:idx val="0"/>
              <c:layout/>
              <c:tx>
                <c:rich>
                  <a:bodyPr rot="0" spcFirstLastPara="1" vertOverflow="ellipsis" vert="horz" wrap="square" lIns="38100" tIns="19050" rIns="38100" bIns="19050" anchor="ctr" anchorCtr="1"/>
                  <a:lstStyle/>
                  <a:p>
                    <a:fld id="{79f5d43e-7e77-4226-af53-d1e022721e11}" type="VALUE">
                      <a:t>[VALUE]</a:t>
                    </a:fld>
                    <a:endParaRPr lang="en-US" b="0" i="0" u="none" strike="noStrike" baseline="0">
                      <a:latin typeface="Arial" panose="020B0604020202020204" pitchFamily="34" charset="0"/>
                      <a:ea typeface="Arial" panose="020B0604020202020204" pitchFamily="34" charset="0"/>
                      <a:cs typeface="+mn-ea"/>
                    </a:endParaRPr>
                  </a:p>
                </c:rich>
              </c:tx>
              <c:dLblPos val="outEnd"/>
              <c:showLegendKey val="0"/>
              <c:showVal val="1"/>
              <c:showCatName val="0"/>
              <c:showSerName val="0"/>
              <c:showPercent val="0"/>
              <c:showBubbleSize val="0"/>
              <c:extLst>
                <c:ext xmlns:c15="http://schemas.microsoft.com/office/drawing/2012/chart" uri="{CE6537A1-D6FC-4f65-9D91-7224C49458BB}"/>
              </c:extLst>
            </c:dLbl>
            <c:dLbl>
              <c:idx val="1"/>
              <c:layout/>
              <c:tx>
                <c:rich>
                  <a:bodyPr rot="0" spcFirstLastPara="1" vertOverflow="ellipsis" vert="horz" wrap="square" lIns="38100" tIns="19050" rIns="38100" bIns="19050" anchor="ctr" anchorCtr="1"/>
                  <a:lstStyle/>
                  <a:p>
                    <a:fld id="{f84043b6-ae1e-4985-bbd0-5cb1b4147825}" type="VALUE">
                      <a:t>[VALUE]</a:t>
                    </a:fld>
                    <a:endParaRPr lang="en-US" b="0" i="0" u="none" strike="noStrike" baseline="0">
                      <a:latin typeface="Arial" panose="020B0604020202020204" pitchFamily="34" charset="0"/>
                      <a:ea typeface="Arial" panose="020B0604020202020204" pitchFamily="34" charset="0"/>
                      <a:cs typeface="+mn-ea"/>
                    </a:endParaRPr>
                  </a:p>
                </c:rich>
              </c:tx>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lstStyle/>
              <a:p>
                <a:pPr>
                  <a:defRPr lang="en-US" sz="1200" b="1" i="0" u="none" strike="noStrike" kern="1200" baseline="0">
                    <a:solidFill>
                      <a:schemeClr val="tx1">
                        <a:lumMod val="75000"/>
                        <a:lumOff val="25000"/>
                      </a:schemeClr>
                    </a:solidFill>
                    <a:latin typeface="Aptos" panose="020B0004020202020204" pitchFamily="34" charset="0"/>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Diabetes!$A$3:$A$4</c:f>
              <c:strCache>
                <c:ptCount val="2"/>
                <c:pt idx="0">
                  <c:v>Known Diabetics</c:v>
                </c:pt>
                <c:pt idx="1">
                  <c:v>Controlled Diabetes</c:v>
                </c:pt>
              </c:strCache>
            </c:strRef>
          </c:cat>
          <c:val>
            <c:numRef>
              <c:f>Diabetes!$B$3:$B$4</c:f>
              <c:numCache>
                <c:formatCode>_-* #,##0_-;\-* #,##0_-;_-* "-"??_-;_-@_-</c:formatCode>
                <c:ptCount val="2"/>
                <c:pt idx="0">
                  <c:v>9527</c:v>
                </c:pt>
                <c:pt idx="1">
                  <c:v>6525</c:v>
                </c:pt>
              </c:numCache>
            </c:numRef>
          </c:val>
        </c:ser>
        <c:dLbls>
          <c:showLegendKey val="0"/>
          <c:showVal val="1"/>
          <c:showCatName val="0"/>
          <c:showSerName val="0"/>
          <c:showPercent val="0"/>
          <c:showBubbleSize val="0"/>
        </c:dLbls>
        <c:gapWidth val="75"/>
        <c:axId val="769687903"/>
        <c:axId val="769688863"/>
      </c:barChart>
      <c:catAx>
        <c:axId val="7696879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200" b="1" i="0" u="none" strike="noStrike" kern="1200" baseline="0">
                <a:solidFill>
                  <a:schemeClr val="tx1">
                    <a:lumMod val="65000"/>
                    <a:lumOff val="35000"/>
                  </a:schemeClr>
                </a:solidFill>
                <a:latin typeface="Aptos" panose="020B0004020202020204" pitchFamily="34" charset="0"/>
                <a:ea typeface="+mn-ea"/>
                <a:cs typeface="+mn-cs"/>
              </a:defRPr>
            </a:pPr>
          </a:p>
        </c:txPr>
        <c:crossAx val="769688863"/>
        <c:crosses val="autoZero"/>
        <c:auto val="1"/>
        <c:lblAlgn val="ctr"/>
        <c:lblOffset val="100"/>
        <c:noMultiLvlLbl val="0"/>
      </c:catAx>
      <c:valAx>
        <c:axId val="769688863"/>
        <c:scaling>
          <c:orientation val="minMax"/>
        </c:scaling>
        <c:delete val="0"/>
        <c:axPos val="l"/>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lang="en-US" sz="1200" b="1" i="0" u="none" strike="noStrike" kern="1200" baseline="0">
                <a:solidFill>
                  <a:schemeClr val="tx1">
                    <a:lumMod val="65000"/>
                    <a:lumOff val="35000"/>
                  </a:schemeClr>
                </a:solidFill>
                <a:latin typeface="Aptos" panose="020B0004020202020204" pitchFamily="34" charset="0"/>
                <a:ea typeface="+mn-ea"/>
                <a:cs typeface="+mn-cs"/>
              </a:defRPr>
            </a:pPr>
          </a:p>
        </c:txPr>
        <c:crossAx val="769687903"/>
        <c:crosses val="autoZero"/>
        <c:crossBetween val="between"/>
      </c:valAx>
      <c:spPr>
        <a:noFill/>
        <a:ln>
          <a:noFill/>
        </a:ln>
        <a:effectLst/>
      </c:spPr>
    </c:plotArea>
    <c:plotVisOnly val="1"/>
    <c:dispBlanksAs val="gap"/>
    <c:showDLblsOverMax val="0"/>
    <c:extLst>
      <c:ext uri="{0b15fc19-7d7d-44ad-8c2d-2c3a37ce22c3}">
        <chartProps xmlns="https://web.wps.cn/et/2018/main" chartId="{493a3f44-8f28-4452-b40d-92b07c4fb54c}"/>
      </c:ext>
    </c:extLst>
  </c:chart>
  <c:spPr>
    <a:noFill/>
    <a:ln w="19050">
      <a:solidFill>
        <a:sysClr val="windowText" lastClr="000000"/>
      </a:solidFill>
    </a:ln>
    <a:effectLst/>
  </c:spPr>
  <c:txPr>
    <a:bodyPr/>
    <a:lstStyle/>
    <a:p>
      <a:pPr>
        <a:defRPr lang="en-US" sz="1200" b="1">
          <a:latin typeface="Aptos" panose="020B0004020202020204" pitchFamily="34" charset="0"/>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sz="1500" b="1" i="0" u="none" strike="noStrike" kern="1200" spc="0" baseline="0">
                <a:solidFill>
                  <a:srgbClr val="C00000"/>
                </a:solidFill>
                <a:latin typeface="Aptos" panose="020B0004020202020204" pitchFamily="34" charset="0"/>
                <a:ea typeface="+mn-ea"/>
                <a:cs typeface="+mn-cs"/>
              </a:defRPr>
            </a:pPr>
            <a:r>
              <a:rPr lang="en-GB" sz="1500" dirty="0">
                <a:solidFill>
                  <a:srgbClr val="C00000"/>
                </a:solidFill>
              </a:rPr>
              <a:t>AYP (TX_CURR = 87,845)</a:t>
            </a:r>
            <a:endParaRPr lang="en-GB" sz="1500" dirty="0">
              <a:solidFill>
                <a:srgbClr val="C00000"/>
              </a:solidFill>
            </a:endParaRPr>
          </a:p>
        </c:rich>
      </c:tx>
      <c:layout/>
      <c:overlay val="0"/>
      <c:spPr>
        <a:noFill/>
        <a:ln>
          <a:noFill/>
        </a:ln>
        <a:effectLst/>
      </c:spPr>
    </c:title>
    <c:autoTitleDeleted val="0"/>
    <c:plotArea>
      <c:layout/>
      <c:barChart>
        <c:barDir val="col"/>
        <c:grouping val="clustered"/>
        <c:varyColors val="0"/>
        <c:ser>
          <c:idx val="0"/>
          <c:order val="0"/>
          <c:spPr>
            <a:solidFill>
              <a:srgbClr val="002060"/>
            </a:solidFill>
            <a:ln>
              <a:noFill/>
            </a:ln>
            <a:effectLst/>
          </c:spPr>
          <c:invertIfNegative val="0"/>
          <c:dLbls>
            <c:dLbl>
              <c:idx val="0"/>
              <c:layout/>
              <c:tx>
                <c:rich>
                  <a:bodyPr rot="0" spcFirstLastPara="1" vertOverflow="ellipsis" vert="horz" wrap="square" lIns="38100" tIns="19050" rIns="38100" bIns="19050" anchor="ctr" anchorCtr="1"/>
                  <a:lstStyle/>
                  <a:p>
                    <a:fld id="{589f8aef-aba7-486a-871f-f05cee49f2f0}" type="VALUE">
                      <a:t>[VALUE]</a:t>
                    </a:fld>
                    <a:endParaRPr lang="en-US" b="0" i="0" u="none" strike="noStrike" baseline="0">
                      <a:latin typeface="Arial" panose="020B0604020202020204" pitchFamily="34" charset="0"/>
                      <a:ea typeface="Arial" panose="020B0604020202020204" pitchFamily="34" charset="0"/>
                      <a:cs typeface="+mn-ea"/>
                    </a:endParaRPr>
                  </a:p>
                </c:rich>
              </c:tx>
              <c:dLblPos val="outEnd"/>
              <c:showLegendKey val="0"/>
              <c:showVal val="1"/>
              <c:showCatName val="0"/>
              <c:showSerName val="0"/>
              <c:showPercent val="0"/>
              <c:showBubbleSize val="0"/>
              <c:extLst>
                <c:ext xmlns:c15="http://schemas.microsoft.com/office/drawing/2012/chart" uri="{CE6537A1-D6FC-4f65-9D91-7224C49458BB}"/>
              </c:extLst>
            </c:dLbl>
            <c:dLbl>
              <c:idx val="1"/>
              <c:layout/>
              <c:tx>
                <c:rich>
                  <a:bodyPr rot="0" spcFirstLastPara="1" vertOverflow="ellipsis" vert="horz" wrap="square" lIns="38100" tIns="19050" rIns="38100" bIns="19050" anchor="ctr" anchorCtr="1"/>
                  <a:lstStyle/>
                  <a:p>
                    <a:fld id="{31f56987-3aa6-4209-8d00-869a38c8296e}" type="VALUE">
                      <a:t>[VALUE]</a:t>
                    </a:fld>
                    <a:endParaRPr lang="en-US" b="0" i="0" u="none" strike="noStrike" baseline="0">
                      <a:latin typeface="Arial" panose="020B0604020202020204" pitchFamily="34" charset="0"/>
                      <a:ea typeface="Arial" panose="020B0604020202020204" pitchFamily="34" charset="0"/>
                      <a:cs typeface="+mn-ea"/>
                    </a:endParaRPr>
                  </a:p>
                </c:rich>
              </c:tx>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lstStyle/>
              <a:p>
                <a:pPr>
                  <a:defRPr lang="en-US" sz="1200" b="1" i="0" u="none" strike="noStrike" kern="1200" baseline="0">
                    <a:solidFill>
                      <a:schemeClr val="tx1">
                        <a:lumMod val="75000"/>
                        <a:lumOff val="25000"/>
                      </a:schemeClr>
                    </a:solidFill>
                    <a:latin typeface="Aptos" panose="020B0004020202020204" pitchFamily="34" charset="0"/>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Diabetes!$A$9:$A$10</c:f>
              <c:strCache>
                <c:ptCount val="2"/>
                <c:pt idx="0">
                  <c:v>Known Diabetics</c:v>
                </c:pt>
                <c:pt idx="1">
                  <c:v>Controlled Diabetes</c:v>
                </c:pt>
              </c:strCache>
            </c:strRef>
          </c:cat>
          <c:val>
            <c:numRef>
              <c:f>Diabetes!$B$9:$B$10</c:f>
              <c:numCache>
                <c:formatCode>_-* #,##0_-;\-* #,##0_-;_-* "-"??_-;_-@_-</c:formatCode>
                <c:ptCount val="2"/>
                <c:pt idx="0">
                  <c:v>28</c:v>
                </c:pt>
                <c:pt idx="1">
                  <c:v>20</c:v>
                </c:pt>
              </c:numCache>
            </c:numRef>
          </c:val>
        </c:ser>
        <c:dLbls>
          <c:showLegendKey val="0"/>
          <c:showVal val="1"/>
          <c:showCatName val="0"/>
          <c:showSerName val="0"/>
          <c:showPercent val="0"/>
          <c:showBubbleSize val="0"/>
        </c:dLbls>
        <c:gapWidth val="75"/>
        <c:axId val="769687903"/>
        <c:axId val="769688863"/>
      </c:barChart>
      <c:catAx>
        <c:axId val="7696879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200" b="1" i="0" u="none" strike="noStrike" kern="1200" baseline="0">
                <a:solidFill>
                  <a:schemeClr val="tx1">
                    <a:lumMod val="65000"/>
                    <a:lumOff val="35000"/>
                  </a:schemeClr>
                </a:solidFill>
                <a:latin typeface="Aptos" panose="020B0004020202020204" pitchFamily="34" charset="0"/>
                <a:ea typeface="+mn-ea"/>
                <a:cs typeface="+mn-cs"/>
              </a:defRPr>
            </a:pPr>
          </a:p>
        </c:txPr>
        <c:crossAx val="769688863"/>
        <c:crosses val="autoZero"/>
        <c:auto val="1"/>
        <c:lblAlgn val="ctr"/>
        <c:lblOffset val="100"/>
        <c:noMultiLvlLbl val="0"/>
      </c:catAx>
      <c:valAx>
        <c:axId val="769688863"/>
        <c:scaling>
          <c:orientation val="minMax"/>
          <c:max val="40"/>
          <c:min val="0"/>
        </c:scaling>
        <c:delete val="0"/>
        <c:axPos val="l"/>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lang="en-US" sz="1200" b="1" i="0" u="none" strike="noStrike" kern="1200" baseline="0">
                <a:solidFill>
                  <a:schemeClr val="tx1">
                    <a:lumMod val="65000"/>
                    <a:lumOff val="35000"/>
                  </a:schemeClr>
                </a:solidFill>
                <a:latin typeface="Aptos" panose="020B0004020202020204" pitchFamily="34" charset="0"/>
                <a:ea typeface="+mn-ea"/>
                <a:cs typeface="+mn-cs"/>
              </a:defRPr>
            </a:pPr>
          </a:p>
        </c:txPr>
        <c:crossAx val="769687903"/>
        <c:crosses val="autoZero"/>
        <c:crossBetween val="between"/>
      </c:valAx>
      <c:spPr>
        <a:noFill/>
        <a:ln>
          <a:noFill/>
        </a:ln>
        <a:effectLst/>
      </c:spPr>
    </c:plotArea>
    <c:plotVisOnly val="1"/>
    <c:dispBlanksAs val="gap"/>
    <c:showDLblsOverMax val="0"/>
    <c:extLst>
      <c:ext uri="{0b15fc19-7d7d-44ad-8c2d-2c3a37ce22c3}">
        <chartProps xmlns="https://web.wps.cn/et/2018/main" chartId="{73d5cbaa-c3f4-45ca-ab50-797d42f22eb2}"/>
      </c:ext>
    </c:extLst>
  </c:chart>
  <c:spPr>
    <a:noFill/>
    <a:ln w="19050">
      <a:solidFill>
        <a:sysClr val="windowText" lastClr="000000"/>
      </a:solidFill>
    </a:ln>
    <a:effectLst/>
  </c:spPr>
  <c:txPr>
    <a:bodyPr/>
    <a:lstStyle/>
    <a:p>
      <a:pPr>
        <a:defRPr lang="en-US" sz="1200" b="1">
          <a:latin typeface="Aptos" panose="020B0004020202020204" pitchFamily="34" charset="0"/>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sz="1500" b="1" i="0" u="none" strike="noStrike" kern="1200" spc="0" baseline="0">
                <a:solidFill>
                  <a:srgbClr val="C00000"/>
                </a:solidFill>
                <a:latin typeface="Aptos" panose="020B0004020202020204" pitchFamily="34" charset="0"/>
                <a:ea typeface="+mn-ea"/>
                <a:cs typeface="+mn-cs"/>
              </a:defRPr>
            </a:pPr>
            <a:r>
              <a:rPr lang="en-GB" sz="1500" dirty="0">
                <a:solidFill>
                  <a:srgbClr val="C00000"/>
                </a:solidFill>
              </a:rPr>
              <a:t>Adults (TX_CURR = 1,119,112)</a:t>
            </a:r>
            <a:endParaRPr lang="en-GB" sz="1500" dirty="0">
              <a:solidFill>
                <a:srgbClr val="C00000"/>
              </a:solidFill>
            </a:endParaRPr>
          </a:p>
        </c:rich>
      </c:tx>
      <c:layout/>
      <c:overlay val="0"/>
      <c:spPr>
        <a:noFill/>
        <a:ln>
          <a:noFill/>
        </a:ln>
        <a:effectLst/>
      </c:spPr>
    </c:title>
    <c:autoTitleDeleted val="0"/>
    <c:plotArea>
      <c:layout/>
      <c:barChart>
        <c:barDir val="col"/>
        <c:grouping val="clustered"/>
        <c:varyColors val="0"/>
        <c:ser>
          <c:idx val="0"/>
          <c:order val="0"/>
          <c:spPr>
            <a:solidFill>
              <a:srgbClr val="002060"/>
            </a:solidFill>
            <a:ln>
              <a:noFill/>
            </a:ln>
            <a:effectLst/>
          </c:spPr>
          <c:invertIfNegative val="0"/>
          <c:dLbls>
            <c:dLbl>
              <c:idx val="0"/>
              <c:layout/>
              <c:tx>
                <c:rich>
                  <a:bodyPr rot="0" spcFirstLastPara="1" vertOverflow="ellipsis" vert="horz" wrap="square" lIns="38100" tIns="19050" rIns="38100" bIns="19050" anchor="ctr" anchorCtr="1"/>
                  <a:lstStyle/>
                  <a:p>
                    <a:fld id="{263616f4-f840-436e-8d70-5f593078fca0}" type="VALUE">
                      <a:t>[VALUE]</a:t>
                    </a:fld>
                    <a:endParaRPr lang="en-US" b="0" i="0" u="none" strike="noStrike" baseline="0">
                      <a:latin typeface="Arial" panose="020B0604020202020204" pitchFamily="34" charset="0"/>
                      <a:ea typeface="Arial" panose="020B0604020202020204" pitchFamily="34" charset="0"/>
                      <a:cs typeface="+mn-ea"/>
                    </a:endParaRPr>
                  </a:p>
                </c:rich>
              </c:tx>
              <c:dLblPos val="outEnd"/>
              <c:showLegendKey val="0"/>
              <c:showVal val="1"/>
              <c:showCatName val="0"/>
              <c:showSerName val="0"/>
              <c:showPercent val="0"/>
              <c:showBubbleSize val="0"/>
              <c:extLst>
                <c:ext xmlns:c15="http://schemas.microsoft.com/office/drawing/2012/chart" uri="{CE6537A1-D6FC-4f65-9D91-7224C49458BB}"/>
              </c:extLst>
            </c:dLbl>
            <c:dLbl>
              <c:idx val="1"/>
              <c:layout/>
              <c:tx>
                <c:rich>
                  <a:bodyPr rot="0" spcFirstLastPara="1" vertOverflow="ellipsis" vert="horz" wrap="square" lIns="38100" tIns="19050" rIns="38100" bIns="19050" anchor="ctr" anchorCtr="1"/>
                  <a:lstStyle/>
                  <a:p>
                    <a:fld id="{aae6b004-b676-43d5-aaef-9a5c7ceb23f7}" type="VALUE">
                      <a:t>[VALUE]</a:t>
                    </a:fld>
                    <a:endParaRPr lang="en-US" b="0" i="0" u="none" strike="noStrike" baseline="0">
                      <a:latin typeface="Arial" panose="020B0604020202020204" pitchFamily="34" charset="0"/>
                      <a:ea typeface="Arial" panose="020B0604020202020204" pitchFamily="34" charset="0"/>
                      <a:cs typeface="+mn-ea"/>
                    </a:endParaRPr>
                  </a:p>
                </c:rich>
              </c:tx>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lstStyle/>
              <a:p>
                <a:pPr>
                  <a:defRPr lang="en-US" sz="1200" b="1" i="0" u="none" strike="noStrike" kern="1200" baseline="0">
                    <a:solidFill>
                      <a:schemeClr val="tx1">
                        <a:lumMod val="75000"/>
                        <a:lumOff val="25000"/>
                      </a:schemeClr>
                    </a:solidFill>
                    <a:latin typeface="Aptos" panose="020B0004020202020204" pitchFamily="34" charset="0"/>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Diabetes!$A$15:$A$16</c:f>
              <c:strCache>
                <c:ptCount val="2"/>
                <c:pt idx="0">
                  <c:v>Known Diabetics</c:v>
                </c:pt>
                <c:pt idx="1">
                  <c:v>Controlled Diabetes</c:v>
                </c:pt>
              </c:strCache>
            </c:strRef>
          </c:cat>
          <c:val>
            <c:numRef>
              <c:f>Diabetes!$B$15:$B$16</c:f>
              <c:numCache>
                <c:formatCode>_-* #,##0_-;\-* #,##0_-;_-* "-"??_-;_-@_-</c:formatCode>
                <c:ptCount val="2"/>
                <c:pt idx="0">
                  <c:v>9499</c:v>
                </c:pt>
                <c:pt idx="1">
                  <c:v>6505</c:v>
                </c:pt>
              </c:numCache>
            </c:numRef>
          </c:val>
        </c:ser>
        <c:dLbls>
          <c:showLegendKey val="0"/>
          <c:showVal val="1"/>
          <c:showCatName val="0"/>
          <c:showSerName val="0"/>
          <c:showPercent val="0"/>
          <c:showBubbleSize val="0"/>
        </c:dLbls>
        <c:gapWidth val="75"/>
        <c:axId val="769687903"/>
        <c:axId val="769688863"/>
      </c:barChart>
      <c:catAx>
        <c:axId val="7696879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200" b="1" i="0" u="none" strike="noStrike" kern="1200" baseline="0">
                <a:solidFill>
                  <a:schemeClr val="tx1">
                    <a:lumMod val="65000"/>
                    <a:lumOff val="35000"/>
                  </a:schemeClr>
                </a:solidFill>
                <a:latin typeface="Aptos" panose="020B0004020202020204" pitchFamily="34" charset="0"/>
                <a:ea typeface="+mn-ea"/>
                <a:cs typeface="+mn-cs"/>
              </a:defRPr>
            </a:pPr>
          </a:p>
        </c:txPr>
        <c:crossAx val="769688863"/>
        <c:crosses val="autoZero"/>
        <c:auto val="1"/>
        <c:lblAlgn val="ctr"/>
        <c:lblOffset val="100"/>
        <c:noMultiLvlLbl val="0"/>
      </c:catAx>
      <c:valAx>
        <c:axId val="769688863"/>
        <c:scaling>
          <c:orientation val="minMax"/>
          <c:max val="12000"/>
        </c:scaling>
        <c:delete val="0"/>
        <c:axPos val="l"/>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lang="en-US" sz="1200" b="1" i="0" u="none" strike="noStrike" kern="1200" baseline="0">
                <a:solidFill>
                  <a:schemeClr val="tx1">
                    <a:lumMod val="65000"/>
                    <a:lumOff val="35000"/>
                  </a:schemeClr>
                </a:solidFill>
                <a:latin typeface="Aptos" panose="020B0004020202020204" pitchFamily="34" charset="0"/>
                <a:ea typeface="+mn-ea"/>
                <a:cs typeface="+mn-cs"/>
              </a:defRPr>
            </a:pPr>
          </a:p>
        </c:txPr>
        <c:crossAx val="769687903"/>
        <c:crosses val="autoZero"/>
        <c:crossBetween val="between"/>
      </c:valAx>
      <c:spPr>
        <a:noFill/>
        <a:ln>
          <a:noFill/>
        </a:ln>
        <a:effectLst/>
      </c:spPr>
    </c:plotArea>
    <c:plotVisOnly val="1"/>
    <c:dispBlanksAs val="gap"/>
    <c:showDLblsOverMax val="0"/>
    <c:extLst>
      <c:ext uri="{0b15fc19-7d7d-44ad-8c2d-2c3a37ce22c3}">
        <chartProps xmlns="https://web.wps.cn/et/2018/main" chartId="{4c6bcc20-29a6-470b-a012-9edb4fcbd90e}"/>
      </c:ext>
    </c:extLst>
  </c:chart>
  <c:spPr>
    <a:noFill/>
    <a:ln w="19050">
      <a:solidFill>
        <a:sysClr val="windowText" lastClr="000000"/>
      </a:solidFill>
    </a:ln>
    <a:effectLst/>
  </c:spPr>
  <c:txPr>
    <a:bodyPr/>
    <a:lstStyle/>
    <a:p>
      <a:pPr>
        <a:defRPr lang="en-US" sz="1200" b="1">
          <a:latin typeface="Aptos" panose="020B0004020202020204" pitchFamily="34" charset="0"/>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2060"/>
            </a:solidFill>
            <a:ln>
              <a:noFill/>
            </a:ln>
            <a:effectLst/>
          </c:spPr>
          <c:invertIfNegative val="0"/>
          <c:dPt>
            <c:idx val="1"/>
            <c:invertIfNegative val="0"/>
            <c:bubble3D val="0"/>
            <c:spPr>
              <a:solidFill>
                <a:srgbClr val="70AD47">
                  <a:lumMod val="75000"/>
                </a:srgbClr>
              </a:solidFill>
              <a:ln>
                <a:noFill/>
              </a:ln>
              <a:effectLst/>
            </c:spPr>
          </c:dPt>
          <c:dLbls>
            <c:dLbl>
              <c:idx val="1"/>
              <c:layout/>
              <c:tx>
                <c:rich>
                  <a:bodyPr rot="0" spcFirstLastPara="1" vertOverflow="ellipsis" vert="horz" wrap="square" lIns="38100" tIns="19050" rIns="38100" bIns="19050" anchor="ctr" anchorCtr="1"/>
                  <a:lstStyle/>
                  <a:p>
                    <a:fld id="{fa447bfe-4543-4bfd-b374-d8fb58d635bb}" type="VALUE">
                      <a:t>[VALUE]</a:t>
                    </a:fld>
                    <a:endParaRPr lang="en-US" b="0" i="0" u="none" strike="noStrike" baseline="0">
                      <a:latin typeface="Arial" panose="020B0604020202020204" pitchFamily="34" charset="0"/>
                      <a:ea typeface="Arial" panose="020B0604020202020204" pitchFamily="34" charset="0"/>
                      <a:cs typeface="+mn-ea"/>
                    </a:endParaRPr>
                  </a:p>
                </c:rich>
              </c:tx>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lstStyle/>
              <a:p>
                <a:pPr>
                  <a:defRPr lang="en-US" sz="1500" b="1"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Creatinine!$A$11:$A$12</c:f>
              <c:strCache>
                <c:ptCount val="2"/>
                <c:pt idx="0">
                  <c:v>TX_NEW (July 2023 - June 2024)</c:v>
                </c:pt>
                <c:pt idx="1">
                  <c:v>With a Documented Creatinine Test</c:v>
                </c:pt>
              </c:strCache>
            </c:strRef>
          </c:cat>
          <c:val>
            <c:numRef>
              <c:f>Creatinine!$B$11:$B$12</c:f>
              <c:numCache>
                <c:formatCode>_-* #,##0_-;\-* #,##0_-;_-* "-"??_-;_-@_-</c:formatCode>
                <c:ptCount val="2"/>
                <c:pt idx="0">
                  <c:v>80758</c:v>
                </c:pt>
                <c:pt idx="1">
                  <c:v>1288</c:v>
                </c:pt>
              </c:numCache>
            </c:numRef>
          </c:val>
        </c:ser>
        <c:dLbls>
          <c:showLegendKey val="0"/>
          <c:showVal val="1"/>
          <c:showCatName val="0"/>
          <c:showSerName val="0"/>
          <c:showPercent val="0"/>
          <c:showBubbleSize val="0"/>
        </c:dLbls>
        <c:gapWidth val="75"/>
        <c:axId val="63945071"/>
        <c:axId val="63936431"/>
      </c:barChart>
      <c:catAx>
        <c:axId val="639450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500" b="1" i="0" u="none" strike="noStrike" kern="1200" baseline="0">
                <a:solidFill>
                  <a:schemeClr val="tx1">
                    <a:lumMod val="65000"/>
                    <a:lumOff val="35000"/>
                  </a:schemeClr>
                </a:solidFill>
                <a:latin typeface="+mn-lt"/>
                <a:ea typeface="+mn-ea"/>
                <a:cs typeface="+mn-cs"/>
              </a:defRPr>
            </a:pPr>
          </a:p>
        </c:txPr>
        <c:crossAx val="63936431"/>
        <c:crosses val="autoZero"/>
        <c:auto val="1"/>
        <c:lblAlgn val="ctr"/>
        <c:lblOffset val="100"/>
        <c:noMultiLvlLbl val="0"/>
      </c:catAx>
      <c:valAx>
        <c:axId val="63936431"/>
        <c:scaling>
          <c:orientation val="minMax"/>
        </c:scaling>
        <c:delete val="0"/>
        <c:axPos val="l"/>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lang="en-US" sz="1500" b="1" i="0" u="none" strike="noStrike" kern="1200" baseline="0">
                <a:solidFill>
                  <a:schemeClr val="tx1">
                    <a:lumMod val="65000"/>
                    <a:lumOff val="35000"/>
                  </a:schemeClr>
                </a:solidFill>
                <a:latin typeface="+mn-lt"/>
                <a:ea typeface="+mn-ea"/>
                <a:cs typeface="+mn-cs"/>
              </a:defRPr>
            </a:pPr>
          </a:p>
        </c:txPr>
        <c:crossAx val="63945071"/>
        <c:crosses val="autoZero"/>
        <c:crossBetween val="between"/>
      </c:valAx>
      <c:spPr>
        <a:noFill/>
        <a:ln>
          <a:noFill/>
        </a:ln>
        <a:effectLst/>
      </c:spPr>
    </c:plotArea>
    <c:plotVisOnly val="1"/>
    <c:dispBlanksAs val="gap"/>
    <c:showDLblsOverMax val="0"/>
    <c:extLst>
      <c:ext uri="{0b15fc19-7d7d-44ad-8c2d-2c3a37ce22c3}">
        <chartProps xmlns="https://web.wps.cn/et/2018/main" chartId="{4675253a-69ab-484d-a40d-5fc78b7291c7}"/>
      </c:ext>
    </c:extLst>
  </c:chart>
  <c:spPr>
    <a:noFill/>
    <a:ln w="22225">
      <a:solidFill>
        <a:srgbClr val="002060"/>
      </a:solidFill>
    </a:ln>
    <a:effectLst/>
  </c:spPr>
  <c:txPr>
    <a:bodyPr/>
    <a:lstStyle/>
    <a:p>
      <a:pPr>
        <a:defRPr lang="en-US" sz="1500" b="1"/>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sz="1800" b="1" i="0" u="none" strike="noStrike" kern="1200" spc="0" baseline="0">
                <a:solidFill>
                  <a:srgbClr val="C00000"/>
                </a:solidFill>
                <a:latin typeface="Aptos" panose="020B0004020202020204" pitchFamily="34" charset="0"/>
                <a:ea typeface="+mn-ea"/>
                <a:cs typeface="+mn-cs"/>
              </a:defRPr>
            </a:pPr>
            <a:r>
              <a:rPr lang="en-GB" sz="1800" dirty="0">
                <a:solidFill>
                  <a:srgbClr val="C00000"/>
                </a:solidFill>
              </a:rPr>
              <a:t>Overall (TX_CURR = 1,206,957)</a:t>
            </a:r>
            <a:endParaRPr lang="en-GB" sz="1800" dirty="0">
              <a:solidFill>
                <a:srgbClr val="C00000"/>
              </a:solidFill>
            </a:endParaRPr>
          </a:p>
        </c:rich>
      </c:tx>
      <c:layout/>
      <c:overlay val="0"/>
      <c:spPr>
        <a:noFill/>
        <a:ln>
          <a:noFill/>
        </a:ln>
        <a:effectLst/>
      </c:spPr>
    </c:title>
    <c:autoTitleDeleted val="0"/>
    <c:plotArea>
      <c:layout/>
      <c:barChart>
        <c:barDir val="col"/>
        <c:grouping val="clustered"/>
        <c:varyColors val="0"/>
        <c:ser>
          <c:idx val="0"/>
          <c:order val="0"/>
          <c:spPr>
            <a:solidFill>
              <a:srgbClr val="002060"/>
            </a:solidFill>
            <a:ln>
              <a:noFill/>
            </a:ln>
            <a:effectLst/>
          </c:spPr>
          <c:invertIfNegative val="0"/>
          <c:dPt>
            <c:idx val="1"/>
            <c:invertIfNegative val="0"/>
            <c:bubble3D val="0"/>
            <c:spPr>
              <a:solidFill>
                <a:srgbClr val="C00000"/>
              </a:solidFill>
              <a:ln>
                <a:noFill/>
              </a:ln>
              <a:effectLst/>
            </c:spPr>
          </c:dPt>
          <c:dLbls>
            <c:dLbl>
              <c:idx val="0"/>
              <c:layout/>
              <c:tx>
                <c:rich>
                  <a:bodyPr rot="0" spcFirstLastPara="1" vertOverflow="ellipsis" vert="horz" wrap="square" lIns="38100" tIns="19050" rIns="38100" bIns="19050" anchor="ctr" anchorCtr="1"/>
                  <a:lstStyle/>
                  <a:p>
                    <a:fld id="{806a77b9-eafb-4f3a-ad60-c790b5502f83}" type="VALUE">
                      <a:t>[VALUE]</a:t>
                    </a:fld>
                    <a:endParaRPr lang="en-US" b="0" i="0" u="none" strike="noStrike" baseline="0">
                      <a:latin typeface="Arial" panose="020B0604020202020204" pitchFamily="34" charset="0"/>
                      <a:ea typeface="Arial" panose="020B0604020202020204" pitchFamily="34" charset="0"/>
                      <a:cs typeface="+mn-ea"/>
                    </a:endParaRPr>
                  </a:p>
                </c:rich>
              </c:tx>
              <c:dLblPos val="outEnd"/>
              <c:showLegendKey val="0"/>
              <c:showVal val="1"/>
              <c:showCatName val="0"/>
              <c:showSerName val="0"/>
              <c:showPercent val="0"/>
              <c:showBubbleSize val="0"/>
              <c:extLst>
                <c:ext xmlns:c15="http://schemas.microsoft.com/office/drawing/2012/chart" uri="{CE6537A1-D6FC-4f65-9D91-7224C49458BB}"/>
              </c:extLst>
            </c:dLbl>
            <c:dLbl>
              <c:idx val="1"/>
              <c:layout/>
              <c:tx>
                <c:rich>
                  <a:bodyPr rot="0" spcFirstLastPara="1" vertOverflow="ellipsis" vert="horz" wrap="square" lIns="38100" tIns="19050" rIns="38100" bIns="19050" anchor="ctr" anchorCtr="1"/>
                  <a:lstStyle/>
                  <a:p>
                    <a:fld id="{87dab51f-525f-4514-a8cf-15424a4b8d57}" type="VALUE">
                      <a:t>[VALUE]</a:t>
                    </a:fld>
                    <a:endParaRPr lang="en-US" b="0" i="0" u="none" strike="noStrike" baseline="0">
                      <a:solidFill>
                        <a:schemeClr val="accent2">
                          <a:lumMod val="75000"/>
                        </a:schemeClr>
                      </a:solidFill>
                      <a:latin typeface="Arial" panose="020B0604020202020204" pitchFamily="34" charset="0"/>
                      <a:ea typeface="Arial" panose="020B0604020202020204" pitchFamily="34" charset="0"/>
                      <a:cs typeface="+mn-ea"/>
                    </a:endParaRPr>
                  </a:p>
                </c:rich>
              </c:tx>
              <c:numFmt formatCode="General" sourceLinked="1"/>
              <c:spPr>
                <a:noFill/>
                <a:ln>
                  <a:noFill/>
                </a:ln>
                <a:effectLst/>
              </c:spPr>
              <c:txPr>
                <a:bodyPr rot="0" spcFirstLastPara="1" vertOverflow="ellipsis" vert="horz" wrap="square" lIns="38100" tIns="19050" rIns="38100" bIns="19050" anchor="ctr" anchorCtr="1"/>
                <a:lstStyle/>
                <a:p>
                  <a:pPr>
                    <a:defRPr lang="en-US" sz="1200" b="1" i="0" u="none" strike="noStrike" kern="1200" baseline="0">
                      <a:solidFill>
                        <a:schemeClr val="accent2">
                          <a:lumMod val="75000"/>
                        </a:schemeClr>
                      </a:solidFill>
                      <a:latin typeface="Aptos" panose="020B0004020202020204" pitchFamily="34" charset="0"/>
                      <a:ea typeface="+mn-ea"/>
                      <a:cs typeface="+mn-cs"/>
                    </a:defRPr>
                  </a:pPr>
                </a:p>
              </c:txPr>
              <c:dLblPos val="outEnd"/>
              <c:showLegendKey val="0"/>
              <c:showVal val="1"/>
              <c:showCatName val="0"/>
              <c:showSerName val="0"/>
              <c:showPercent val="0"/>
              <c:showBubbleSize val="0"/>
              <c:extLst>
                <c:ext xmlns:c15="http://schemas.microsoft.com/office/drawing/2012/chart" uri="{CE6537A1-D6FC-4f65-9D91-7224C49458BB}"/>
              </c:extLst>
            </c:dLbl>
            <c:dLbl>
              <c:idx val="2"/>
              <c:layout/>
              <c:tx>
                <c:rich>
                  <a:bodyPr rot="0" spcFirstLastPara="1" vertOverflow="ellipsis" vert="horz" wrap="square" lIns="38100" tIns="19050" rIns="38100" bIns="19050" anchor="ctr" anchorCtr="1"/>
                  <a:lstStyle/>
                  <a:p>
                    <a:fld id="{f1132add-f49e-4dfe-a5b2-20903981d51a}" type="VALUE">
                      <a:t>[VALUE]</a:t>
                    </a:fld>
                    <a:endParaRPr lang="en-US" b="0" i="0" u="none" strike="noStrike" baseline="0">
                      <a:latin typeface="Arial" panose="020B0604020202020204" pitchFamily="34" charset="0"/>
                      <a:ea typeface="Arial" panose="020B0604020202020204" pitchFamily="34" charset="0"/>
                      <a:cs typeface="+mn-ea"/>
                    </a:endParaRPr>
                  </a:p>
                </c:rich>
              </c:tx>
              <c:dLblPos val="outEnd"/>
              <c:showLegendKey val="0"/>
              <c:showVal val="1"/>
              <c:showCatName val="0"/>
              <c:showSerName val="0"/>
              <c:showPercent val="0"/>
              <c:showBubbleSize val="0"/>
              <c:extLst>
                <c:ext xmlns:c15="http://schemas.microsoft.com/office/drawing/2012/chart" uri="{CE6537A1-D6FC-4f65-9D91-7224C49458BB}"/>
              </c:extLst>
            </c:dLbl>
            <c:dLbl>
              <c:idx val="3"/>
              <c:layout/>
              <c:tx>
                <c:rich>
                  <a:bodyPr rot="0" spcFirstLastPara="1" vertOverflow="ellipsis" vert="horz" wrap="square" lIns="38100" tIns="19050" rIns="38100" bIns="19050" anchor="ctr" anchorCtr="1"/>
                  <a:lstStyle/>
                  <a:p>
                    <a:fld id="{35c1a9da-2172-4255-a611-6b5bdf7b253b}" type="VALUE">
                      <a:t>[VALUE]</a:t>
                    </a:fld>
                    <a:endParaRPr lang="en-US" b="0" i="0" u="none" strike="noStrike" baseline="0">
                      <a:latin typeface="Arial" panose="020B0604020202020204" pitchFamily="34" charset="0"/>
                      <a:ea typeface="Arial" panose="020B0604020202020204" pitchFamily="34" charset="0"/>
                      <a:cs typeface="+mn-ea"/>
                    </a:endParaRPr>
                  </a:p>
                </c:rich>
              </c:tx>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lstStyle/>
              <a:p>
                <a:pPr>
                  <a:defRPr lang="en-US" sz="1200" b="1" i="0" u="none" strike="noStrike" kern="1200" baseline="0">
                    <a:solidFill>
                      <a:schemeClr val="tx1">
                        <a:lumMod val="75000"/>
                        <a:lumOff val="25000"/>
                      </a:schemeClr>
                    </a:solidFill>
                    <a:latin typeface="Aptos" panose="020B0004020202020204" pitchFamily="34" charset="0"/>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HTN!$A$3:$A$6</c:f>
              <c:strCache>
                <c:ptCount val="4"/>
                <c:pt idx="0">
                  <c:v>Known Hypertensives</c:v>
                </c:pt>
                <c:pt idx="1">
                  <c:v>Controlled Hypertension</c:v>
                </c:pt>
                <c:pt idx="2">
                  <c:v>Valid VL Among Hypertensives</c:v>
                </c:pt>
                <c:pt idx="3">
                  <c:v>Suppressed</c:v>
                </c:pt>
              </c:strCache>
            </c:strRef>
          </c:cat>
          <c:val>
            <c:numRef>
              <c:f>HTN!$B$3:$B$6</c:f>
              <c:numCache>
                <c:formatCode>_-* #,##0_-;\-* #,##0_-;_-* "-"??_-;_-@_-</c:formatCode>
                <c:ptCount val="4"/>
                <c:pt idx="0">
                  <c:v>55668</c:v>
                </c:pt>
                <c:pt idx="1">
                  <c:v>31433</c:v>
                </c:pt>
                <c:pt idx="2">
                  <c:v>46584</c:v>
                </c:pt>
                <c:pt idx="3">
                  <c:v>44638</c:v>
                </c:pt>
              </c:numCache>
            </c:numRef>
          </c:val>
        </c:ser>
        <c:dLbls>
          <c:showLegendKey val="0"/>
          <c:showVal val="1"/>
          <c:showCatName val="0"/>
          <c:showSerName val="0"/>
          <c:showPercent val="0"/>
          <c:showBubbleSize val="0"/>
        </c:dLbls>
        <c:gapWidth val="75"/>
        <c:axId val="704689695"/>
        <c:axId val="704687295"/>
      </c:barChart>
      <c:catAx>
        <c:axId val="7046896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200" b="1" i="0" u="none" strike="noStrike" kern="1200" baseline="0">
                <a:solidFill>
                  <a:schemeClr val="tx1">
                    <a:lumMod val="65000"/>
                    <a:lumOff val="35000"/>
                  </a:schemeClr>
                </a:solidFill>
                <a:latin typeface="Aptos" panose="020B0004020202020204" pitchFamily="34" charset="0"/>
                <a:ea typeface="+mn-ea"/>
                <a:cs typeface="+mn-cs"/>
              </a:defRPr>
            </a:pPr>
          </a:p>
        </c:txPr>
        <c:crossAx val="704687295"/>
        <c:crosses val="autoZero"/>
        <c:auto val="1"/>
        <c:lblAlgn val="ctr"/>
        <c:lblOffset val="100"/>
        <c:noMultiLvlLbl val="0"/>
      </c:catAx>
      <c:valAx>
        <c:axId val="704687295"/>
        <c:scaling>
          <c:orientation val="minMax"/>
        </c:scaling>
        <c:delete val="0"/>
        <c:axPos val="l"/>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lang="en-US" sz="1200" b="1" i="0" u="none" strike="noStrike" kern="1200" baseline="0">
                <a:solidFill>
                  <a:schemeClr val="tx1">
                    <a:lumMod val="65000"/>
                    <a:lumOff val="35000"/>
                  </a:schemeClr>
                </a:solidFill>
                <a:latin typeface="Aptos" panose="020B0004020202020204" pitchFamily="34" charset="0"/>
                <a:ea typeface="+mn-ea"/>
                <a:cs typeface="+mn-cs"/>
              </a:defRPr>
            </a:pPr>
          </a:p>
        </c:txPr>
        <c:crossAx val="704689695"/>
        <c:crosses val="autoZero"/>
        <c:crossBetween val="between"/>
      </c:valAx>
      <c:spPr>
        <a:noFill/>
        <a:ln>
          <a:noFill/>
        </a:ln>
        <a:effectLst/>
      </c:spPr>
    </c:plotArea>
    <c:plotVisOnly val="1"/>
    <c:dispBlanksAs val="gap"/>
    <c:showDLblsOverMax val="0"/>
    <c:extLst>
      <c:ext uri="{0b15fc19-7d7d-44ad-8c2d-2c3a37ce22c3}">
        <chartProps xmlns="https://web.wps.cn/et/2018/main" chartId="{bb5883d1-cdf3-4766-829e-d8e930fcbed5}"/>
      </c:ext>
    </c:extLst>
  </c:chart>
  <c:spPr>
    <a:noFill/>
    <a:ln w="19050">
      <a:solidFill>
        <a:sysClr val="windowText" lastClr="000000"/>
      </a:solidFill>
    </a:ln>
    <a:effectLst/>
  </c:spPr>
  <c:txPr>
    <a:bodyPr/>
    <a:lstStyle/>
    <a:p>
      <a:pPr>
        <a:defRPr lang="en-US" sz="1200" b="1">
          <a:latin typeface="Aptos" panose="020B0004020202020204" pitchFamily="34" charset="0"/>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0.0082</cdr:x>
      <cdr:y>0.03061</cdr:y>
    </cdr:from>
    <cdr:to>
      <cdr:x>0.32222</cdr:x>
      <cdr:y>0.11403</cdr:y>
    </cdr:to>
    <cdr:sp>
      <cdr:nvSpPr>
        <cdr:cNvPr id="2" name="Rectangles 1"/>
        <cdr:cNvSpPr/>
      </cdr:nvSpPr>
      <cdr:spPr xmlns:a="http://schemas.openxmlformats.org/drawingml/2006/main">
        <a:xfrm xmlns:a="http://schemas.openxmlformats.org/drawingml/2006/main">
          <a:off x="86608" y="135505"/>
          <a:ext cx="3316229" cy="369332"/>
        </a:xfrm>
        <a:prstGeom xmlns:a="http://schemas.openxmlformats.org/drawingml/2006/main" prst="rect">
          <a:avLst/>
        </a:prstGeom>
        <a:noFill/>
        <a:ln w="15875">
          <a:solidFill>
            <a:sysClr val="windowText" lastClr="000000"/>
          </a:solidFill>
        </a:ln>
      </cdr:spPr>
      <cdr:txBody xmlns:a="http://schemas.openxmlformats.org/drawingml/2006/main">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chemeClr val="bg1">
                  <a:lumMod val="65000"/>
                </a:schemeClr>
              </a:solidFill>
            </a:rPr>
            <a:t>TX_CURR 15+ Years: 1,206,957</a:t>
          </a:r>
          <a:endParaRPr lang="en-US" b="1">
            <a:solidFill>
              <a:schemeClr val="bg1">
                <a:lumMod val="65000"/>
              </a:schemeClr>
            </a:solidFill>
          </a:endParaRPr>
        </a:p>
      </cdr:txBody>
    </cdr:sp>
  </cdr:relSizeAnchor>
  <cdr:relSizeAnchor xmlns:cdr="http://schemas.openxmlformats.org/drawingml/2006/chartDrawing">
    <cdr:from>
      <cdr:x>0.41258</cdr:x>
      <cdr:y>0.22922</cdr:y>
    </cdr:from>
    <cdr:to>
      <cdr:x>0.60682</cdr:x>
      <cdr:y>0.9521</cdr:y>
    </cdr:to>
    <cdr:sp>
      <cdr:nvSpPr>
        <cdr:cNvPr id="3" name="Rectangles 2"/>
        <cdr:cNvSpPr/>
      </cdr:nvSpPr>
      <cdr:spPr xmlns:a="http://schemas.openxmlformats.org/drawingml/2006/main">
        <a:xfrm xmlns:a="http://schemas.openxmlformats.org/drawingml/2006/main">
          <a:off x="4357091" y="1014827"/>
          <a:ext cx="2051222" cy="3200400"/>
        </a:xfrm>
        <a:prstGeom xmlns:a="http://schemas.openxmlformats.org/drawingml/2006/main" prst="rect">
          <a:avLst/>
        </a:prstGeom>
        <a:ln w="22225">
          <a:solidFill>
            <a:srgbClr val="C00000"/>
          </a:solidFill>
        </a:ln>
      </cdr:spPr>
      <cdr:txBody xmlns:a="http://schemas.openxmlformats.org/drawingml/2006/main">
        <a:bodyPr vertOverflow="clip" wrap="square" rtlCol="0"/>
        <a:lstStyle/>
        <a:p>
          <a:endParaRPr 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 name="Shape 61"/>
        <p:cNvGrpSpPr/>
        <p:nvPr/>
      </p:nvGrpSpPr>
      <p:grpSpPr>
        <a:xfrm>
          <a:off x="0" y="0"/>
          <a:ext cx="0" cy="0"/>
          <a:chOff x="0" y="0"/>
          <a:chExt cx="0" cy="0"/>
        </a:xfrm>
      </p:grpSpPr>
      <p:sp>
        <p:nvSpPr>
          <p:cNvPr id="62" name="Google Shape;62;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63" name="Google Shape;63;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 name="Shape 66"/>
        <p:cNvGrpSpPr/>
        <p:nvPr/>
      </p:nvGrpSpPr>
      <p:grpSpPr>
        <a:xfrm>
          <a:off x="0" y="0"/>
          <a:ext cx="0" cy="0"/>
          <a:chOff x="0" y="0"/>
          <a:chExt cx="0" cy="0"/>
        </a:xfrm>
      </p:grpSpPr>
      <p:sp>
        <p:nvSpPr>
          <p:cNvPr id="67" name="Google Shape;67;p49: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 name="Google Shape;68;p4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 name="Shape 78"/>
        <p:cNvGrpSpPr/>
        <p:nvPr/>
      </p:nvGrpSpPr>
      <p:grpSpPr>
        <a:xfrm>
          <a:off x="0" y="0"/>
          <a:ext cx="0" cy="0"/>
          <a:chOff x="0" y="0"/>
          <a:chExt cx="0" cy="0"/>
        </a:xfrm>
      </p:grpSpPr>
      <p:sp>
        <p:nvSpPr>
          <p:cNvPr id="79" name="Google Shape;79;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0" name="Google Shape;80;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5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p5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90"/>
        <p:cNvGrpSpPr/>
        <p:nvPr/>
      </p:nvGrpSpPr>
      <p:grpSpPr>
        <a:xfrm>
          <a:off x="0" y="0"/>
          <a:ext cx="0" cy="0"/>
          <a:chOff x="0" y="0"/>
          <a:chExt cx="0" cy="0"/>
        </a:xfrm>
      </p:grpSpPr>
      <p:sp>
        <p:nvSpPr>
          <p:cNvPr id="91" name="Google Shape;91;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2" name="Google Shape;92;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p51: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4" name="Google Shape;104;p5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 name="Shape 107"/>
        <p:cNvGrpSpPr/>
        <p:nvPr/>
      </p:nvGrpSpPr>
      <p:grpSpPr>
        <a:xfrm>
          <a:off x="0" y="0"/>
          <a:ext cx="0" cy="0"/>
          <a:chOff x="0" y="0"/>
          <a:chExt cx="0" cy="0"/>
        </a:xfrm>
      </p:grpSpPr>
      <p:sp>
        <p:nvSpPr>
          <p:cNvPr id="108" name="Google Shape;108;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9" name="Google Shape;109;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9:notes"/>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2005</a:t>
            </a:r>
            <a:endPar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14" name="Google Shape;114;p9:notes"/>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t>Module 1: Overview of HIV Infection</a:t>
            </a:r>
            <a:endPar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15" name="Google Shape;115;p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16" name="Google Shape;116;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HIV stands for Human Immunodeficiency Virus.  It is the virus that causes AIDS.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p1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4" name="Google Shape;124;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a:solidFill>
                  <a:srgbClr val="444444"/>
                </a:solidFill>
                <a:latin typeface="Basic" panose="02010503040500020004"/>
                <a:ea typeface="Basic" panose="02010503040500020004"/>
                <a:cs typeface="Basic" panose="02010503040500020004"/>
                <a:sym typeface="Basic" panose="02010503040500020004"/>
              </a:rPr>
              <a:t>The RNA present in a virus is protected by a protein coat called a capsid. Outside the capsid are enzymes the virus uses to infect its host and replicate. These structures are surrounded by an envelope comprising glycoproteins, which help the virus identify and bind to its target</a:t>
            </a:r>
            <a:endParaRPr lang="en-US" b="0" i="0">
              <a:solidFill>
                <a:srgbClr val="444444"/>
              </a:solidFill>
              <a:latin typeface="Basic" panose="02010503040500020004"/>
              <a:ea typeface="Basic" panose="02010503040500020004"/>
              <a:cs typeface="Basic" panose="02010503040500020004"/>
              <a:sym typeface="Basic" panose="02010503040500020004"/>
            </a:endParaRPr>
          </a:p>
        </p:txBody>
      </p:sp>
      <p:sp>
        <p:nvSpPr>
          <p:cNvPr id="131" name="Google Shape;131;p1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5" name="Shape 135"/>
        <p:cNvGrpSpPr/>
        <p:nvPr/>
      </p:nvGrpSpPr>
      <p:grpSpPr>
        <a:xfrm>
          <a:off x="0" y="0"/>
          <a:ext cx="0" cy="0"/>
          <a:chOff x="0" y="0"/>
          <a:chExt cx="0" cy="0"/>
        </a:xfrm>
      </p:grpSpPr>
      <p:sp>
        <p:nvSpPr>
          <p:cNvPr id="136" name="Google Shape;136;p1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7" name="Google Shape;137;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p1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3" name="Google Shape;143;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9" name="Google Shape;149;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4" name="Shape 154"/>
        <p:cNvGrpSpPr/>
        <p:nvPr/>
      </p:nvGrpSpPr>
      <p:grpSpPr>
        <a:xfrm>
          <a:off x="0" y="0"/>
          <a:ext cx="0" cy="0"/>
          <a:chOff x="0" y="0"/>
          <a:chExt cx="0" cy="0"/>
        </a:xfrm>
      </p:grpSpPr>
      <p:sp>
        <p:nvSpPr>
          <p:cNvPr id="155" name="Google Shape;155;p1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6" name="Google Shape;156;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2" name="Google Shape;162;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p1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8" name="Google Shape;168;p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p1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4" name="Google Shape;174;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p1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0" name="Google Shape;180;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p2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6" name="Google Shape;186;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p2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2" name="Google Shape;192;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p2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8" name="Google Shape;198;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3" name="Google Shape;203;p2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 structured treatment plan designed to improve and maintain health. Recommended regimens for the initial treatment of HIV include a combination of three or more antiretroviral (ARV) drugs from at least two different HIV drug classes.</a:t>
            </a:r>
            <a:endParaRPr lang="en-US"/>
          </a:p>
        </p:txBody>
      </p:sp>
      <p:sp>
        <p:nvSpPr>
          <p:cNvPr id="204" name="Google Shape;204;p2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8" name="Shape 208"/>
        <p:cNvGrpSpPr/>
        <p:nvPr/>
      </p:nvGrpSpPr>
      <p:grpSpPr>
        <a:xfrm>
          <a:off x="0" y="0"/>
          <a:ext cx="0" cy="0"/>
          <a:chOff x="0" y="0"/>
          <a:chExt cx="0" cy="0"/>
        </a:xfrm>
      </p:grpSpPr>
      <p:sp>
        <p:nvSpPr>
          <p:cNvPr id="209" name="Google Shape;209;p2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0" name="Google Shape;210;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4" name="Shape 214"/>
        <p:cNvGrpSpPr/>
        <p:nvPr/>
      </p:nvGrpSpPr>
      <p:grpSpPr>
        <a:xfrm>
          <a:off x="0" y="0"/>
          <a:ext cx="0" cy="0"/>
          <a:chOff x="0" y="0"/>
          <a:chExt cx="0" cy="0"/>
        </a:xfrm>
      </p:grpSpPr>
      <p:sp>
        <p:nvSpPr>
          <p:cNvPr id="215" name="Google Shape;215;p2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6" name="Google Shape;216;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p2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1" name="Google Shape;221;p2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5" name="Shape 225"/>
        <p:cNvGrpSpPr/>
        <p:nvPr/>
      </p:nvGrpSpPr>
      <p:grpSpPr>
        <a:xfrm>
          <a:off x="0" y="0"/>
          <a:ext cx="0" cy="0"/>
          <a:chOff x="0" y="0"/>
          <a:chExt cx="0" cy="0"/>
        </a:xfrm>
      </p:grpSpPr>
      <p:sp>
        <p:nvSpPr>
          <p:cNvPr id="226" name="Google Shape;226;p2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7" name="Google Shape;227;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0" name="Shape 230"/>
        <p:cNvGrpSpPr/>
        <p:nvPr/>
      </p:nvGrpSpPr>
      <p:grpSpPr>
        <a:xfrm>
          <a:off x="0" y="0"/>
          <a:ext cx="0" cy="0"/>
          <a:chOff x="0" y="0"/>
          <a:chExt cx="0" cy="0"/>
        </a:xfrm>
      </p:grpSpPr>
      <p:sp>
        <p:nvSpPr>
          <p:cNvPr id="231" name="Google Shape;231;p2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2" name="Google Shape;232;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8" name="Shape 238"/>
        <p:cNvGrpSpPr/>
        <p:nvPr/>
      </p:nvGrpSpPr>
      <p:grpSpPr>
        <a:xfrm>
          <a:off x="0" y="0"/>
          <a:ext cx="0" cy="0"/>
          <a:chOff x="0" y="0"/>
          <a:chExt cx="0" cy="0"/>
        </a:xfrm>
      </p:grpSpPr>
      <p:sp>
        <p:nvSpPr>
          <p:cNvPr id="239" name="Google Shape;239;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2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41" name="Google Shape;241;p2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6" name="Shape 246"/>
        <p:cNvGrpSpPr/>
        <p:nvPr/>
      </p:nvGrpSpPr>
      <p:grpSpPr>
        <a:xfrm>
          <a:off x="0" y="0"/>
          <a:ext cx="0" cy="0"/>
          <a:chOff x="0" y="0"/>
          <a:chExt cx="0" cy="0"/>
        </a:xfrm>
      </p:grpSpPr>
      <p:sp>
        <p:nvSpPr>
          <p:cNvPr id="247" name="Google Shape;247;p3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48" name="Google Shape;248;p3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4" name="Shape 254"/>
        <p:cNvGrpSpPr/>
        <p:nvPr/>
      </p:nvGrpSpPr>
      <p:grpSpPr>
        <a:xfrm>
          <a:off x="0" y="0"/>
          <a:ext cx="0" cy="0"/>
          <a:chOff x="0" y="0"/>
          <a:chExt cx="0" cy="0"/>
        </a:xfrm>
      </p:grpSpPr>
      <p:sp>
        <p:nvSpPr>
          <p:cNvPr id="255" name="Google Shape;255;p3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6" name="Google Shape;256;p3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1" name="Shape 261"/>
        <p:cNvGrpSpPr/>
        <p:nvPr/>
      </p:nvGrpSpPr>
      <p:grpSpPr>
        <a:xfrm>
          <a:off x="0" y="0"/>
          <a:ext cx="0" cy="0"/>
          <a:chOff x="0" y="0"/>
          <a:chExt cx="0" cy="0"/>
        </a:xfrm>
      </p:grpSpPr>
      <p:sp>
        <p:nvSpPr>
          <p:cNvPr id="262" name="Google Shape;262;p3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3" name="Google Shape;263;p3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p3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70" name="Google Shape;270;p3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3" name="Shape 273"/>
        <p:cNvGrpSpPr/>
        <p:nvPr/>
      </p:nvGrpSpPr>
      <p:grpSpPr>
        <a:xfrm>
          <a:off x="0" y="0"/>
          <a:ext cx="0" cy="0"/>
          <a:chOff x="0" y="0"/>
          <a:chExt cx="0" cy="0"/>
        </a:xfrm>
      </p:grpSpPr>
      <p:sp>
        <p:nvSpPr>
          <p:cNvPr id="274" name="Google Shape;274;p3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3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76" name="Google Shape;276;p3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EB Garamond"/>
              <a:buNone/>
            </a:pPr>
            <a:fld id="{00000000-1234-1234-1234-123412341234}" type="slidenum">
              <a:rPr lang="en-US" sz="1200" b="0" i="0" u="none" strike="noStrike" cap="none">
                <a:solidFill>
                  <a:srgbClr val="000000"/>
                </a:solidFill>
                <a:latin typeface="EB Garamond"/>
                <a:ea typeface="EB Garamond"/>
                <a:cs typeface="EB Garamond"/>
                <a:sym typeface="EB Garamond"/>
              </a:rPr>
            </a:fld>
            <a:endParaRPr sz="1200" b="0" i="0" u="none" strike="noStrike" cap="none">
              <a:solidFill>
                <a:srgbClr val="000000"/>
              </a:solidFill>
              <a:latin typeface="EB Garamond"/>
              <a:ea typeface="EB Garamond"/>
              <a:cs typeface="EB Garamond"/>
              <a:sym typeface="EB Garamon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1" name="Shape 281"/>
        <p:cNvGrpSpPr/>
        <p:nvPr/>
      </p:nvGrpSpPr>
      <p:grpSpPr>
        <a:xfrm>
          <a:off x="0" y="0"/>
          <a:ext cx="0" cy="0"/>
          <a:chOff x="0" y="0"/>
          <a:chExt cx="0" cy="0"/>
        </a:xfrm>
      </p:grpSpPr>
      <p:sp>
        <p:nvSpPr>
          <p:cNvPr id="282" name="Google Shape;282;p3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p3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4" name="Google Shape;284;p3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EB Garamond"/>
              <a:buNone/>
            </a:pPr>
            <a:fld id="{00000000-1234-1234-1234-123412341234}" type="slidenum">
              <a:rPr lang="en-US" sz="1200" b="0" i="0" u="none" strike="noStrike" cap="none">
                <a:solidFill>
                  <a:srgbClr val="000000"/>
                </a:solidFill>
                <a:latin typeface="EB Garamond"/>
                <a:ea typeface="EB Garamond"/>
                <a:cs typeface="EB Garamond"/>
                <a:sym typeface="EB Garamond"/>
              </a:rPr>
            </a:fld>
            <a:endParaRPr sz="1200" b="0" i="0" u="none" strike="noStrike" cap="none">
              <a:solidFill>
                <a:srgbClr val="000000"/>
              </a:solidFill>
              <a:latin typeface="EB Garamond"/>
              <a:ea typeface="EB Garamond"/>
              <a:cs typeface="EB Garamond"/>
              <a:sym typeface="EB Garamon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2" name="Shape 292"/>
        <p:cNvGrpSpPr/>
        <p:nvPr/>
      </p:nvGrpSpPr>
      <p:grpSpPr>
        <a:xfrm>
          <a:off x="0" y="0"/>
          <a:ext cx="0" cy="0"/>
          <a:chOff x="0" y="0"/>
          <a:chExt cx="0" cy="0"/>
        </a:xfrm>
      </p:grpSpPr>
      <p:sp>
        <p:nvSpPr>
          <p:cNvPr id="293" name="Google Shape;293;p3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3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5" name="Google Shape;295;p3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5" name="Shape 305"/>
        <p:cNvGrpSpPr/>
        <p:nvPr/>
      </p:nvGrpSpPr>
      <p:grpSpPr>
        <a:xfrm>
          <a:off x="0" y="0"/>
          <a:ext cx="0" cy="0"/>
          <a:chOff x="0" y="0"/>
          <a:chExt cx="0" cy="0"/>
        </a:xfrm>
      </p:grpSpPr>
      <p:sp>
        <p:nvSpPr>
          <p:cNvPr id="306" name="Google Shape;306;p3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3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3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EB Garamond"/>
              <a:buNone/>
            </a:pPr>
            <a:fld id="{00000000-1234-1234-1234-123412341234}" type="slidenum">
              <a:rPr lang="en-US" sz="1200" b="0" i="0" u="none" strike="noStrike" cap="none">
                <a:solidFill>
                  <a:srgbClr val="000000"/>
                </a:solidFill>
                <a:latin typeface="EB Garamond"/>
                <a:ea typeface="EB Garamond"/>
                <a:cs typeface="EB Garamond"/>
                <a:sym typeface="EB Garamond"/>
              </a:rPr>
            </a:fld>
            <a:endParaRPr sz="1200" b="0" i="0" u="none" strike="noStrike" cap="none">
              <a:solidFill>
                <a:srgbClr val="000000"/>
              </a:solidFill>
              <a:latin typeface="EB Garamond"/>
              <a:ea typeface="EB Garamond"/>
              <a:cs typeface="EB Garamond"/>
              <a:sym typeface="EB Garamon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3" name="Shape 313"/>
        <p:cNvGrpSpPr/>
        <p:nvPr/>
      </p:nvGrpSpPr>
      <p:grpSpPr>
        <a:xfrm>
          <a:off x="0" y="0"/>
          <a:ext cx="0" cy="0"/>
          <a:chOff x="0" y="0"/>
          <a:chExt cx="0" cy="0"/>
        </a:xfrm>
      </p:grpSpPr>
      <p:sp>
        <p:nvSpPr>
          <p:cNvPr id="314" name="Google Shape;314;p3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15" name="Google Shape;315;p3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319"/>
        <p:cNvGrpSpPr/>
        <p:nvPr/>
      </p:nvGrpSpPr>
      <p:grpSpPr>
        <a:xfrm>
          <a:off x="0" y="0"/>
          <a:ext cx="0" cy="0"/>
          <a:chOff x="0" y="0"/>
          <a:chExt cx="0" cy="0"/>
        </a:xfrm>
      </p:grpSpPr>
      <p:sp>
        <p:nvSpPr>
          <p:cNvPr id="320" name="Google Shape;320;p3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p3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PEN HIV Focus in 14 counties </a:t>
            </a:r>
            <a:r>
              <a:rPr lang="en-US" sz="1200">
                <a:solidFill>
                  <a:schemeClr val="dk1"/>
                </a:solidFill>
                <a:latin typeface="Calibri" panose="020F0502020204030204"/>
                <a:ea typeface="Calibri" panose="020F0502020204030204"/>
                <a:cs typeface="Calibri" panose="020F0502020204030204"/>
                <a:sym typeface="Calibri" panose="020F0502020204030204"/>
              </a:rPr>
              <a:t>(Kiambu, Kwale, Taita Taveta, Embu, Makueni, Mandera, Migori, Siaya, Laikipia, Kericho, Nyeri, Uasin Gishu, Kakamega, and Nairobi)</a:t>
            </a:r>
            <a:endParaRPr lang="en-US" sz="12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lnSpc>
                <a:spcPct val="100000"/>
              </a:lnSpc>
              <a:spcBef>
                <a:spcPts val="0"/>
              </a:spcBef>
              <a:spcAft>
                <a:spcPts val="0"/>
              </a:spcAft>
              <a:buSzPts val="1400"/>
              <a:buNone/>
            </a:pPr>
          </a:p>
        </p:txBody>
      </p:sp>
      <p:sp>
        <p:nvSpPr>
          <p:cNvPr id="322" name="Google Shape;322;p3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6" name="Shape 326"/>
        <p:cNvGrpSpPr/>
        <p:nvPr/>
      </p:nvGrpSpPr>
      <p:grpSpPr>
        <a:xfrm>
          <a:off x="0" y="0"/>
          <a:ext cx="0" cy="0"/>
          <a:chOff x="0" y="0"/>
          <a:chExt cx="0" cy="0"/>
        </a:xfrm>
      </p:grpSpPr>
      <p:sp>
        <p:nvSpPr>
          <p:cNvPr id="327" name="Google Shape;327;p4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8" name="Google Shape;328;p4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4" name="Shape 14"/>
        <p:cNvGrpSpPr/>
        <p:nvPr/>
      </p:nvGrpSpPr>
      <p:grpSpPr>
        <a:xfrm>
          <a:off x="0" y="0"/>
          <a:ext cx="0" cy="0"/>
          <a:chOff x="0" y="0"/>
          <a:chExt cx="0" cy="0"/>
        </a:xfrm>
      </p:grpSpPr>
      <p:sp>
        <p:nvSpPr>
          <p:cNvPr id="15" name="Google Shape;15;p42"/>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05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6" name="Google Shape;16;p42"/>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7" name="Google Shape;17;p42"/>
          <p:cNvSpPr txBox="1"/>
          <p:nvPr>
            <p:ph type="dt" idx="10"/>
          </p:nvPr>
        </p:nvSpPr>
        <p:spPr>
          <a:xfrm>
            <a:off x="110067" y="6492876"/>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2"/>
          <p:cNvSpPr txBox="1"/>
          <p:nvPr>
            <p:ph type="sldNum" idx="12"/>
          </p:nvPr>
        </p:nvSpPr>
        <p:spPr>
          <a:xfrm>
            <a:off x="9448800" y="64579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1pPr>
            <a:lvl2pPr marL="0" marR="0" lvl="1"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2pPr>
            <a:lvl3pPr marL="0" marR="0" lvl="2"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3pPr>
            <a:lvl4pPr marL="0" marR="0" lvl="3"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4pPr>
            <a:lvl5pPr marL="0" marR="0" lvl="4"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5pPr>
            <a:lvl6pPr marL="0" marR="0" lvl="5"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6pPr>
            <a:lvl7pPr marL="0" marR="0" lvl="6"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7pPr>
            <a:lvl8pPr marL="0" marR="0" lvl="7"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8pPr>
            <a:lvl9pPr marL="0" marR="0" lvl="8"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9" name="Shape 19"/>
        <p:cNvGrpSpPr/>
        <p:nvPr/>
      </p:nvGrpSpPr>
      <p:grpSpPr>
        <a:xfrm>
          <a:off x="0" y="0"/>
          <a:ext cx="0" cy="0"/>
          <a:chOff x="0" y="0"/>
          <a:chExt cx="0" cy="0"/>
        </a:xfrm>
      </p:grpSpPr>
      <p:sp>
        <p:nvSpPr>
          <p:cNvPr id="20" name="Google Shape;20;p43"/>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sz="18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43"/>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22" name="Google Shape;22;p43"/>
          <p:cNvSpPr txBox="1"/>
          <p:nvPr>
            <p:ph type="dt" idx="10"/>
          </p:nvPr>
        </p:nvSpPr>
        <p:spPr>
          <a:xfrm>
            <a:off x="110067" y="6492876"/>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3"/>
          <p:cNvSpPr txBox="1"/>
          <p:nvPr>
            <p:ph type="sldNum" idx="12"/>
          </p:nvPr>
        </p:nvSpPr>
        <p:spPr>
          <a:xfrm>
            <a:off x="9448800" y="64579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1pPr>
            <a:lvl2pPr marL="0" marR="0" lvl="1"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2pPr>
            <a:lvl3pPr marL="0" marR="0" lvl="2"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3pPr>
            <a:lvl4pPr marL="0" marR="0" lvl="3"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4pPr>
            <a:lvl5pPr marL="0" marR="0" lvl="4"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5pPr>
            <a:lvl6pPr marL="0" marR="0" lvl="5"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6pPr>
            <a:lvl7pPr marL="0" marR="0" lvl="6"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7pPr>
            <a:lvl8pPr marL="0" marR="0" lvl="7"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8pPr>
            <a:lvl9pPr marL="0" marR="0" lvl="8"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4" name="Shape 24"/>
        <p:cNvGrpSpPr/>
        <p:nvPr/>
      </p:nvGrpSpPr>
      <p:grpSpPr>
        <a:xfrm>
          <a:off x="0" y="0"/>
          <a:ext cx="0" cy="0"/>
          <a:chOff x="0" y="0"/>
          <a:chExt cx="0" cy="0"/>
        </a:xfrm>
      </p:grpSpPr>
      <p:sp>
        <p:nvSpPr>
          <p:cNvPr id="25" name="Google Shape;25;p44"/>
          <p:cNvSpPr txBox="1"/>
          <p:nvPr>
            <p:ph type="title"/>
          </p:nvPr>
        </p:nvSpPr>
        <p:spPr>
          <a:xfrm>
            <a:off x="1102785" y="112714"/>
            <a:ext cx="9764183" cy="5365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6" name="Google Shape;26;p44"/>
          <p:cNvSpPr txBox="1"/>
          <p:nvPr>
            <p:ph type="dt" idx="10"/>
          </p:nvPr>
        </p:nvSpPr>
        <p:spPr>
          <a:xfrm>
            <a:off x="110067" y="6492876"/>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4"/>
          <p:cNvSpPr txBox="1"/>
          <p:nvPr>
            <p:ph type="sldNum" idx="12"/>
          </p:nvPr>
        </p:nvSpPr>
        <p:spPr>
          <a:xfrm>
            <a:off x="9448800" y="64579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1pPr>
            <a:lvl2pPr marL="0" marR="0" lvl="1"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2pPr>
            <a:lvl3pPr marL="0" marR="0" lvl="2"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3pPr>
            <a:lvl4pPr marL="0" marR="0" lvl="3"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4pPr>
            <a:lvl5pPr marL="0" marR="0" lvl="4"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5pPr>
            <a:lvl6pPr marL="0" marR="0" lvl="5"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6pPr>
            <a:lvl7pPr marL="0" marR="0" lvl="6"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7pPr>
            <a:lvl8pPr marL="0" marR="0" lvl="7"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8pPr>
            <a:lvl9pPr marL="0" marR="0" lvl="8"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8" name="Shape 28"/>
        <p:cNvGrpSpPr/>
        <p:nvPr/>
      </p:nvGrpSpPr>
      <p:grpSpPr>
        <a:xfrm>
          <a:off x="0" y="0"/>
          <a:ext cx="0" cy="0"/>
          <a:chOff x="0" y="0"/>
          <a:chExt cx="0" cy="0"/>
        </a:xfrm>
      </p:grpSpPr>
      <p:sp>
        <p:nvSpPr>
          <p:cNvPr id="29" name="Google Shape;29;p45"/>
          <p:cNvSpPr txBox="1"/>
          <p:nvPr>
            <p:ph type="dt" idx="10"/>
          </p:nvPr>
        </p:nvSpPr>
        <p:spPr>
          <a:xfrm>
            <a:off x="110067" y="6492876"/>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5"/>
          <p:cNvSpPr txBox="1"/>
          <p:nvPr>
            <p:ph type="sldNum" idx="12"/>
          </p:nvPr>
        </p:nvSpPr>
        <p:spPr>
          <a:xfrm>
            <a:off x="9448800" y="64579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1pPr>
            <a:lvl2pPr marL="0" marR="0" lvl="1"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2pPr>
            <a:lvl3pPr marL="0" marR="0" lvl="2"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3pPr>
            <a:lvl4pPr marL="0" marR="0" lvl="3"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4pPr>
            <a:lvl5pPr marL="0" marR="0" lvl="4"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5pPr>
            <a:lvl6pPr marL="0" marR="0" lvl="5"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6pPr>
            <a:lvl7pPr marL="0" marR="0" lvl="6"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7pPr>
            <a:lvl8pPr marL="0" marR="0" lvl="7"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8pPr>
            <a:lvl9pPr marL="0" marR="0" lvl="8"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1" name="Shape 31"/>
        <p:cNvGrpSpPr/>
        <p:nvPr/>
      </p:nvGrpSpPr>
      <p:grpSpPr>
        <a:xfrm>
          <a:off x="0" y="0"/>
          <a:ext cx="0" cy="0"/>
          <a:chOff x="0" y="0"/>
          <a:chExt cx="0" cy="0"/>
        </a:xfrm>
      </p:grpSpPr>
      <p:sp>
        <p:nvSpPr>
          <p:cNvPr id="32" name="Google Shape;32;p46"/>
          <p:cNvSpPr txBox="1"/>
          <p:nvPr>
            <p:ph type="title"/>
          </p:nvPr>
        </p:nvSpPr>
        <p:spPr>
          <a:xfrm>
            <a:off x="1102785" y="112714"/>
            <a:ext cx="9764183" cy="5365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 name="Google Shape;33;p46"/>
          <p:cNvSpPr txBox="1"/>
          <p:nvPr>
            <p:ph type="body" idx="1"/>
          </p:nvPr>
        </p:nvSpPr>
        <p:spPr>
          <a:xfrm>
            <a:off x="1103245" y="1272209"/>
            <a:ext cx="4916556" cy="4904754"/>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34" name="Google Shape;34;p46"/>
          <p:cNvSpPr txBox="1"/>
          <p:nvPr>
            <p:ph type="body" idx="2"/>
          </p:nvPr>
        </p:nvSpPr>
        <p:spPr>
          <a:xfrm>
            <a:off x="6172202" y="1272209"/>
            <a:ext cx="4694583" cy="4904754"/>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p:txBody>
      </p:sp>
      <p:sp>
        <p:nvSpPr>
          <p:cNvPr id="35" name="Google Shape;35;p46"/>
          <p:cNvSpPr txBox="1"/>
          <p:nvPr>
            <p:ph type="dt" idx="10"/>
          </p:nvPr>
        </p:nvSpPr>
        <p:spPr>
          <a:xfrm>
            <a:off x="110067" y="6492876"/>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6"/>
          <p:cNvSpPr txBox="1"/>
          <p:nvPr>
            <p:ph type="sldNum" idx="12"/>
          </p:nvPr>
        </p:nvSpPr>
        <p:spPr>
          <a:xfrm>
            <a:off x="9448800" y="64579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1pPr>
            <a:lvl2pPr marL="0" marR="0" lvl="1"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2pPr>
            <a:lvl3pPr marL="0" marR="0" lvl="2"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3pPr>
            <a:lvl4pPr marL="0" marR="0" lvl="3"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4pPr>
            <a:lvl5pPr marL="0" marR="0" lvl="4"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5pPr>
            <a:lvl6pPr marL="0" marR="0" lvl="5"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6pPr>
            <a:lvl7pPr marL="0" marR="0" lvl="6"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7pPr>
            <a:lvl8pPr marL="0" marR="0" lvl="7"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8pPr>
            <a:lvl9pPr marL="0" marR="0" lvl="8"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7" name="Shape 37"/>
        <p:cNvGrpSpPr/>
        <p:nvPr/>
      </p:nvGrpSpPr>
      <p:grpSpPr>
        <a:xfrm>
          <a:off x="0" y="0"/>
          <a:ext cx="0" cy="0"/>
          <a:chOff x="0" y="0"/>
          <a:chExt cx="0" cy="0"/>
        </a:xfrm>
      </p:grpSpPr>
      <p:sp>
        <p:nvSpPr>
          <p:cNvPr id="38" name="Google Shape;38;p47"/>
          <p:cNvSpPr txBox="1"/>
          <p:nvPr>
            <p:ph type="title"/>
          </p:nvPr>
        </p:nvSpPr>
        <p:spPr>
          <a:xfrm>
            <a:off x="831851" y="1709740"/>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05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 name="Google Shape;39;p47"/>
          <p:cNvSpPr txBox="1"/>
          <p:nvPr>
            <p:ph type="body" idx="1"/>
          </p:nvPr>
        </p:nvSpPr>
        <p:spPr>
          <a:xfrm>
            <a:off x="831851" y="4589465"/>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p:txBody>
      </p:sp>
      <p:sp>
        <p:nvSpPr>
          <p:cNvPr id="40" name="Google Shape;40;p47"/>
          <p:cNvSpPr txBox="1"/>
          <p:nvPr>
            <p:ph type="dt" idx="10"/>
          </p:nvPr>
        </p:nvSpPr>
        <p:spPr>
          <a:xfrm>
            <a:off x="110067" y="6492876"/>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7"/>
          <p:cNvSpPr txBox="1"/>
          <p:nvPr>
            <p:ph type="sldNum" idx="12"/>
          </p:nvPr>
        </p:nvSpPr>
        <p:spPr>
          <a:xfrm>
            <a:off x="9448800" y="64579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1pPr>
            <a:lvl2pPr marL="0" marR="0" lvl="1"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2pPr>
            <a:lvl3pPr marL="0" marR="0" lvl="2"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3pPr>
            <a:lvl4pPr marL="0" marR="0" lvl="3"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4pPr>
            <a:lvl5pPr marL="0" marR="0" lvl="4"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5pPr>
            <a:lvl6pPr marL="0" marR="0" lvl="5"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6pPr>
            <a:lvl7pPr marL="0" marR="0" lvl="6"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7pPr>
            <a:lvl8pPr marL="0" marR="0" lvl="7"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8pPr>
            <a:lvl9pPr marL="0" marR="0" lvl="8"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42" name="Shape 42"/>
        <p:cNvGrpSpPr/>
        <p:nvPr/>
      </p:nvGrpSpPr>
      <p:grpSpPr>
        <a:xfrm>
          <a:off x="0" y="0"/>
          <a:ext cx="0" cy="0"/>
          <a:chOff x="0" y="0"/>
          <a:chExt cx="0" cy="0"/>
        </a:xfrm>
      </p:grpSpPr>
      <p:sp>
        <p:nvSpPr>
          <p:cNvPr id="43" name="Google Shape;43;p48"/>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4" name="Google Shape;44;p48"/>
          <p:cNvSpPr txBox="1"/>
          <p:nvPr>
            <p:ph type="body" idx="1"/>
          </p:nvPr>
        </p:nvSpPr>
        <p:spPr>
          <a:xfrm>
            <a:off x="5183188" y="987427"/>
            <a:ext cx="617220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p:txBody>
      </p:sp>
      <p:sp>
        <p:nvSpPr>
          <p:cNvPr id="45" name="Google Shape;45;p48"/>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p:txBody>
      </p:sp>
      <p:sp>
        <p:nvSpPr>
          <p:cNvPr id="46" name="Google Shape;46;p48"/>
          <p:cNvSpPr txBox="1"/>
          <p:nvPr>
            <p:ph type="dt" idx="10"/>
          </p:nvPr>
        </p:nvSpPr>
        <p:spPr>
          <a:xfrm>
            <a:off x="110067" y="6492876"/>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8"/>
          <p:cNvSpPr txBox="1"/>
          <p:nvPr>
            <p:ph type="sldNum" idx="12"/>
          </p:nvPr>
        </p:nvSpPr>
        <p:spPr>
          <a:xfrm>
            <a:off x="9448800" y="64579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1pPr>
            <a:lvl2pPr marL="0" marR="0" lvl="1"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2pPr>
            <a:lvl3pPr marL="0" marR="0" lvl="2"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3pPr>
            <a:lvl4pPr marL="0" marR="0" lvl="3"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4pPr>
            <a:lvl5pPr marL="0" marR="0" lvl="4"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5pPr>
            <a:lvl6pPr marL="0" marR="0" lvl="5"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6pPr>
            <a:lvl7pPr marL="0" marR="0" lvl="6"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7pPr>
            <a:lvl8pPr marL="0" marR="0" lvl="7"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8pPr>
            <a:lvl9pPr marL="0" marR="0" lvl="8" indent="0" algn="r">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1.GIF"/><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8"/>
          <a:stretch>
            <a:fillRect/>
          </a:stretch>
        </a:blipFill>
        <a:effectLst/>
      </p:bgPr>
    </p:bg>
    <p:spTree>
      <p:nvGrpSpPr>
        <p:cNvPr id="9" name="Shape 9"/>
        <p:cNvGrpSpPr/>
        <p:nvPr/>
      </p:nvGrpSpPr>
      <p:grpSpPr>
        <a:xfrm>
          <a:off x="0" y="0"/>
          <a:ext cx="0" cy="0"/>
          <a:chOff x="0" y="0"/>
          <a:chExt cx="0" cy="0"/>
        </a:xfrm>
      </p:grpSpPr>
      <p:sp>
        <p:nvSpPr>
          <p:cNvPr id="10" name="Google Shape;10;p41"/>
          <p:cNvSpPr txBox="1"/>
          <p:nvPr>
            <p:ph type="title"/>
          </p:nvPr>
        </p:nvSpPr>
        <p:spPr>
          <a:xfrm>
            <a:off x="1102785" y="112714"/>
            <a:ext cx="9764183" cy="53657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00000"/>
              </a:buClr>
              <a:buSzPts val="1400"/>
              <a:buFont typeface="Arial" panose="020B0604020202020204"/>
              <a:buNone/>
              <a:defRPr sz="1800" b="1"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90000"/>
              </a:lnSpc>
              <a:spcBef>
                <a:spcPts val="0"/>
              </a:spcBef>
              <a:spcAft>
                <a:spcPts val="0"/>
              </a:spcAft>
              <a:buClr>
                <a:srgbClr val="000000"/>
              </a:buClr>
              <a:buSzPts val="1400"/>
              <a:buFont typeface="Arial" panose="020B0604020202020204"/>
              <a:buNone/>
              <a:defRPr sz="1800" b="1"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90000"/>
              </a:lnSpc>
              <a:spcBef>
                <a:spcPts val="0"/>
              </a:spcBef>
              <a:spcAft>
                <a:spcPts val="0"/>
              </a:spcAft>
              <a:buClr>
                <a:srgbClr val="000000"/>
              </a:buClr>
              <a:buSzPts val="1400"/>
              <a:buFont typeface="Arial" panose="020B0604020202020204"/>
              <a:buNone/>
              <a:defRPr sz="1800" b="1"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90000"/>
              </a:lnSpc>
              <a:spcBef>
                <a:spcPts val="0"/>
              </a:spcBef>
              <a:spcAft>
                <a:spcPts val="0"/>
              </a:spcAft>
              <a:buClr>
                <a:srgbClr val="000000"/>
              </a:buClr>
              <a:buSzPts val="1400"/>
              <a:buFont typeface="Arial" panose="020B0604020202020204"/>
              <a:buNone/>
              <a:defRPr sz="1800" b="1"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90000"/>
              </a:lnSpc>
              <a:spcBef>
                <a:spcPts val="0"/>
              </a:spcBef>
              <a:spcAft>
                <a:spcPts val="0"/>
              </a:spcAft>
              <a:buClr>
                <a:srgbClr val="000000"/>
              </a:buClr>
              <a:buSzPts val="1400"/>
              <a:buFont typeface="Arial" panose="020B0604020202020204"/>
              <a:buNone/>
              <a:defRPr sz="1800" b="1"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90000"/>
              </a:lnSpc>
              <a:spcBef>
                <a:spcPts val="0"/>
              </a:spcBef>
              <a:spcAft>
                <a:spcPts val="0"/>
              </a:spcAft>
              <a:buClr>
                <a:srgbClr val="000000"/>
              </a:buClr>
              <a:buSzPts val="14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90000"/>
              </a:lnSpc>
              <a:spcBef>
                <a:spcPts val="0"/>
              </a:spcBef>
              <a:spcAft>
                <a:spcPts val="0"/>
              </a:spcAft>
              <a:buClr>
                <a:srgbClr val="000000"/>
              </a:buClr>
              <a:buSzPts val="14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90000"/>
              </a:lnSpc>
              <a:spcBef>
                <a:spcPts val="0"/>
              </a:spcBef>
              <a:spcAft>
                <a:spcPts val="0"/>
              </a:spcAft>
              <a:buClr>
                <a:srgbClr val="000000"/>
              </a:buClr>
              <a:buSzPts val="14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90000"/>
              </a:lnSpc>
              <a:spcBef>
                <a:spcPts val="0"/>
              </a:spcBef>
              <a:spcAft>
                <a:spcPts val="0"/>
              </a:spcAft>
              <a:buClr>
                <a:srgbClr val="000000"/>
              </a:buClr>
              <a:buSzPts val="14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41"/>
          <p:cNvSpPr txBox="1"/>
          <p:nvPr>
            <p:ph type="body" idx="1"/>
          </p:nvPr>
        </p:nvSpPr>
        <p:spPr>
          <a:xfrm>
            <a:off x="1102784" y="1046163"/>
            <a:ext cx="10251016" cy="5130800"/>
          </a:xfrm>
          <a:prstGeom prst="rect">
            <a:avLst/>
          </a:prstGeom>
          <a:noFill/>
          <a:ln>
            <a:noFill/>
          </a:ln>
        </p:spPr>
        <p:txBody>
          <a:bodyPr spcFirstLastPara="1" wrap="square" lIns="91425" tIns="45700" rIns="91425" bIns="45700" anchor="t" anchorCtr="0">
            <a:noAutofit/>
          </a:bodyPr>
          <a:lstStyle>
            <a:lvl1pPr marL="457200" marR="0" lvl="0" indent="-342900" algn="l" rtl="0">
              <a:lnSpc>
                <a:spcPct val="90000"/>
              </a:lnSpc>
              <a:spcBef>
                <a:spcPts val="750"/>
              </a:spcBef>
              <a:spcAft>
                <a:spcPts val="0"/>
              </a:spcAft>
              <a:buClr>
                <a:schemeClr val="dk1"/>
              </a:buClr>
              <a:buSzPts val="1800"/>
              <a:buFont typeface="Arial" panose="020B0604020202020204"/>
              <a:buChar char="•"/>
              <a:defRPr sz="1800" b="0" i="0" u="none" strike="noStrike" cap="none">
                <a:solidFill>
                  <a:schemeClr val="dk1"/>
                </a:solidFill>
                <a:latin typeface="EB Garamond"/>
                <a:ea typeface="EB Garamond"/>
                <a:cs typeface="EB Garamond"/>
                <a:sym typeface="EB Garamond"/>
              </a:defRPr>
            </a:lvl1pPr>
            <a:lvl2pPr marL="914400" marR="0" lvl="1" indent="-323850" algn="l" rtl="0">
              <a:lnSpc>
                <a:spcPct val="90000"/>
              </a:lnSpc>
              <a:spcBef>
                <a:spcPts val="375"/>
              </a:spcBef>
              <a:spcAft>
                <a:spcPts val="0"/>
              </a:spcAft>
              <a:buClr>
                <a:schemeClr val="dk1"/>
              </a:buClr>
              <a:buSzPts val="1500"/>
              <a:buFont typeface="Arial" panose="020B0604020202020204"/>
              <a:buChar char="•"/>
              <a:defRPr sz="1500" b="0" i="0" u="none" strike="noStrike" cap="none">
                <a:solidFill>
                  <a:schemeClr val="dk1"/>
                </a:solidFill>
                <a:latin typeface="EB Garamond"/>
                <a:ea typeface="EB Garamond"/>
                <a:cs typeface="EB Garamond"/>
                <a:sym typeface="EB Garamond"/>
              </a:defRPr>
            </a:lvl2pPr>
            <a:lvl3pPr marL="1371600" marR="0" lvl="2" indent="-311150" algn="l" rtl="0">
              <a:lnSpc>
                <a:spcPct val="90000"/>
              </a:lnSpc>
              <a:spcBef>
                <a:spcPts val="375"/>
              </a:spcBef>
              <a:spcAft>
                <a:spcPts val="0"/>
              </a:spcAft>
              <a:buClr>
                <a:schemeClr val="dk1"/>
              </a:buClr>
              <a:buSzPts val="1300"/>
              <a:buFont typeface="Arial" panose="020B0604020202020204"/>
              <a:buChar char="•"/>
              <a:defRPr sz="1300" b="0" i="0" u="none" strike="noStrike" cap="none">
                <a:solidFill>
                  <a:schemeClr val="dk1"/>
                </a:solidFill>
                <a:latin typeface="EB Garamond"/>
                <a:ea typeface="EB Garamond"/>
                <a:cs typeface="EB Garamond"/>
                <a:sym typeface="EB Garamond"/>
              </a:defRPr>
            </a:lvl3pPr>
            <a:lvl4pPr marL="1828800" marR="0" lvl="3" indent="-304800" algn="l" rtl="0">
              <a:lnSpc>
                <a:spcPct val="90000"/>
              </a:lnSpc>
              <a:spcBef>
                <a:spcPts val="375"/>
              </a:spcBef>
              <a:spcAft>
                <a:spcPts val="0"/>
              </a:spcAft>
              <a:buClr>
                <a:schemeClr val="dk1"/>
              </a:buClr>
              <a:buSzPts val="1200"/>
              <a:buFont typeface="Arial" panose="020B0604020202020204"/>
              <a:buChar char="•"/>
              <a:defRPr sz="1200" b="0" i="0" u="none" strike="noStrike" cap="none">
                <a:solidFill>
                  <a:schemeClr val="dk1"/>
                </a:solidFill>
                <a:latin typeface="EB Garamond"/>
                <a:ea typeface="EB Garamond"/>
                <a:cs typeface="EB Garamond"/>
                <a:sym typeface="EB Garamond"/>
              </a:defRPr>
            </a:lvl4pPr>
            <a:lvl5pPr marL="2286000" marR="0" lvl="4" indent="-304800" algn="l" rtl="0">
              <a:lnSpc>
                <a:spcPct val="90000"/>
              </a:lnSpc>
              <a:spcBef>
                <a:spcPts val="375"/>
              </a:spcBef>
              <a:spcAft>
                <a:spcPts val="0"/>
              </a:spcAft>
              <a:buClr>
                <a:schemeClr val="dk1"/>
              </a:buClr>
              <a:buSzPts val="1200"/>
              <a:buFont typeface="Arial" panose="020B0604020202020204"/>
              <a:buChar char="•"/>
              <a:defRPr sz="1200" b="0" i="0" u="none" strike="noStrike" cap="none">
                <a:solidFill>
                  <a:schemeClr val="dk1"/>
                </a:solidFill>
                <a:latin typeface="EB Garamond"/>
                <a:ea typeface="EB Garamond"/>
                <a:cs typeface="EB Garamond"/>
                <a:sym typeface="EB Garamond"/>
              </a:defRPr>
            </a:lvl5pPr>
            <a:lvl6pPr marL="2743200" marR="0" lvl="5"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EB Garamond"/>
                <a:ea typeface="EB Garamond"/>
                <a:cs typeface="EB Garamond"/>
                <a:sym typeface="EB Garamond"/>
              </a:defRPr>
            </a:lvl6pPr>
            <a:lvl7pPr marL="3200400" marR="0" lvl="6"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EB Garamond"/>
                <a:ea typeface="EB Garamond"/>
                <a:cs typeface="EB Garamond"/>
                <a:sym typeface="EB Garamond"/>
              </a:defRPr>
            </a:lvl7pPr>
            <a:lvl8pPr marL="3657600" marR="0" lvl="7"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EB Garamond"/>
                <a:ea typeface="EB Garamond"/>
                <a:cs typeface="EB Garamond"/>
                <a:sym typeface="EB Garamond"/>
              </a:defRPr>
            </a:lvl8pPr>
            <a:lvl9pPr marL="4114800" marR="0" lvl="8" indent="-314325" algn="l" rtl="0">
              <a:lnSpc>
                <a:spcPct val="90000"/>
              </a:lnSpc>
              <a:spcBef>
                <a:spcPts val="375"/>
              </a:spcBef>
              <a:spcAft>
                <a:spcPts val="0"/>
              </a:spcAft>
              <a:buClr>
                <a:schemeClr val="dk1"/>
              </a:buClr>
              <a:buSzPts val="1350"/>
              <a:buFont typeface="Arial" panose="020B0604020202020204"/>
              <a:buChar char="•"/>
              <a:defRPr sz="1350" b="0" i="0" u="none" strike="noStrike" cap="none">
                <a:solidFill>
                  <a:schemeClr val="dk1"/>
                </a:solidFill>
                <a:latin typeface="EB Garamond"/>
                <a:ea typeface="EB Garamond"/>
                <a:cs typeface="EB Garamond"/>
                <a:sym typeface="EB Garamond"/>
              </a:defRPr>
            </a:lvl9pPr>
          </a:lstStyle>
          <a:p/>
        </p:txBody>
      </p:sp>
      <p:sp>
        <p:nvSpPr>
          <p:cNvPr id="12" name="Google Shape;12;p41"/>
          <p:cNvSpPr txBox="1"/>
          <p:nvPr>
            <p:ph type="dt" idx="10"/>
          </p:nvPr>
        </p:nvSpPr>
        <p:spPr>
          <a:xfrm>
            <a:off x="110067" y="6492876"/>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900" b="1" i="0" u="none" strike="noStrike" cap="none">
                <a:solidFill>
                  <a:schemeClr val="dk1"/>
                </a:solidFill>
                <a:latin typeface="EB Garamond"/>
                <a:ea typeface="EB Garamond"/>
                <a:cs typeface="EB Garamond"/>
                <a:sym typeface="EB Garamond"/>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EB Garamond"/>
                <a:ea typeface="EB Garamond"/>
                <a:cs typeface="EB Garamond"/>
                <a:sym typeface="EB Garamond"/>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EB Garamond"/>
                <a:ea typeface="EB Garamond"/>
                <a:cs typeface="EB Garamond"/>
                <a:sym typeface="EB Garamond"/>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EB Garamond"/>
                <a:ea typeface="EB Garamond"/>
                <a:cs typeface="EB Garamond"/>
                <a:sym typeface="EB Garamond"/>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EB Garamond"/>
                <a:ea typeface="EB Garamond"/>
                <a:cs typeface="EB Garamond"/>
                <a:sym typeface="EB Garamond"/>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EB Garamond"/>
                <a:ea typeface="EB Garamond"/>
                <a:cs typeface="EB Garamond"/>
                <a:sym typeface="EB Garamond"/>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EB Garamond"/>
                <a:ea typeface="EB Garamond"/>
                <a:cs typeface="EB Garamond"/>
                <a:sym typeface="EB Garamond"/>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EB Garamond"/>
                <a:ea typeface="EB Garamond"/>
                <a:cs typeface="EB Garamond"/>
                <a:sym typeface="EB Garamond"/>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EB Garamond"/>
                <a:ea typeface="EB Garamond"/>
                <a:cs typeface="EB Garamond"/>
                <a:sym typeface="EB Garamond"/>
              </a:defRPr>
            </a:lvl9pPr>
          </a:lstStyle>
          <a:p/>
        </p:txBody>
      </p:sp>
      <p:sp>
        <p:nvSpPr>
          <p:cNvPr id="13" name="Google Shape;13;p41"/>
          <p:cNvSpPr txBox="1"/>
          <p:nvPr>
            <p:ph type="sldNum" idx="12"/>
          </p:nvPr>
        </p:nvSpPr>
        <p:spPr>
          <a:xfrm>
            <a:off x="9448800" y="64579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1pPr>
            <a:lvl2pPr marL="0" marR="0" lvl="1" indent="0" algn="r" rtl="0">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2pPr>
            <a:lvl3pPr marL="0" marR="0" lvl="2" indent="0" algn="r" rtl="0">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3pPr>
            <a:lvl4pPr marL="0" marR="0" lvl="3" indent="0" algn="r" rtl="0">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4pPr>
            <a:lvl5pPr marL="0" marR="0" lvl="4" indent="0" algn="r" rtl="0">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5pPr>
            <a:lvl6pPr marL="0" marR="0" lvl="5" indent="0" algn="r" rtl="0">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6pPr>
            <a:lvl7pPr marL="0" marR="0" lvl="6" indent="0" algn="r" rtl="0">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7pPr>
            <a:lvl8pPr marL="0" marR="0" lvl="7" indent="0" algn="r" rtl="0">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8pPr>
            <a:lvl9pPr marL="0" marR="0" lvl="8" indent="0" algn="r" rtl="0">
              <a:lnSpc>
                <a:spcPct val="100000"/>
              </a:lnSpc>
              <a:spcBef>
                <a:spcPts val="0"/>
              </a:spcBef>
              <a:spcAft>
                <a:spcPts val="0"/>
              </a:spcAft>
              <a:buClr>
                <a:srgbClr val="000000"/>
              </a:buClr>
              <a:buSzPts val="900"/>
              <a:buFont typeface="Arial" panose="020B0604020202020204"/>
              <a:buNone/>
              <a:defRPr sz="900" b="1" i="0" u="none" strike="noStrike" cap="none">
                <a:solidFill>
                  <a:schemeClr val="dk1"/>
                </a:solidFill>
                <a:latin typeface="EB Garamond"/>
                <a:ea typeface="EB Garamond"/>
                <a:cs typeface="EB Garamond"/>
                <a:sym typeface="EB Garamond"/>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chart" Target="../charts/char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chart" Target="../charts/chart6.xm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2.xml"/><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chart" Target="../charts/chart7.xml"/></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chart" Target="../charts/chart1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chart" Target="../charts/char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4" name="Shape 64"/>
        <p:cNvGrpSpPr/>
        <p:nvPr/>
      </p:nvGrpSpPr>
      <p:grpSpPr>
        <a:xfrm>
          <a:off x="0" y="0"/>
          <a:ext cx="0" cy="0"/>
          <a:chOff x="0" y="0"/>
          <a:chExt cx="0" cy="0"/>
        </a:xfrm>
      </p:grpSpPr>
      <p:sp>
        <p:nvSpPr>
          <p:cNvPr id="65" name="Google Shape;65;p3"/>
          <p:cNvSpPr txBox="1"/>
          <p:nvPr>
            <p:ph type="title"/>
          </p:nvPr>
        </p:nvSpPr>
        <p:spPr>
          <a:xfrm>
            <a:off x="838200" y="1828800"/>
            <a:ext cx="10542224" cy="258896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US" sz="4400"/>
              <a:t>HIV Situation in Kenya</a:t>
            </a:r>
            <a:br>
              <a:rPr lang="en-US" sz="4400"/>
            </a:br>
            <a:endParaRPr lang="en-US" sz="4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69" name="Shape 69"/>
        <p:cNvGrpSpPr/>
        <p:nvPr/>
      </p:nvGrpSpPr>
      <p:grpSpPr>
        <a:xfrm>
          <a:off x="0" y="0"/>
          <a:ext cx="0" cy="0"/>
          <a:chOff x="0" y="0"/>
          <a:chExt cx="0" cy="0"/>
        </a:xfrm>
      </p:grpSpPr>
      <p:pic>
        <p:nvPicPr>
          <p:cNvPr id="70" name="Google Shape;70;p49"/>
          <p:cNvPicPr preferRelativeResize="0"/>
          <p:nvPr/>
        </p:nvPicPr>
        <p:blipFill rotWithShape="1">
          <a:blip r:embed="rId1"/>
          <a:srcRect/>
          <a:stretch>
            <a:fillRect/>
          </a:stretch>
        </p:blipFill>
        <p:spPr>
          <a:xfrm>
            <a:off x="1665288" y="511175"/>
            <a:ext cx="9955212" cy="6054725"/>
          </a:xfrm>
          <a:prstGeom prst="rect">
            <a:avLst/>
          </a:prstGeom>
          <a:noFill/>
          <a:ln>
            <a:noFill/>
          </a:ln>
        </p:spPr>
      </p:pic>
      <p:sp>
        <p:nvSpPr>
          <p:cNvPr id="71" name="Google Shape;71;p49"/>
          <p:cNvSpPr txBox="1"/>
          <p:nvPr/>
        </p:nvSpPr>
        <p:spPr>
          <a:xfrm>
            <a:off x="0" y="6600825"/>
            <a:ext cx="6096000" cy="2460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panose="020B0604020202020204"/>
              <a:buNone/>
            </a:pPr>
            <a:r>
              <a:rPr lang="en-US" sz="1000" b="1" i="1" u="none" strike="noStrike" cap="none">
                <a:solidFill>
                  <a:srgbClr val="000000"/>
                </a:solidFill>
                <a:latin typeface="Overlock" panose="02000506030000020004"/>
                <a:ea typeface="Overlock" panose="02000506030000020004"/>
                <a:cs typeface="Overlock" panose="02000506030000020004"/>
                <a:sym typeface="Overlock" panose="02000506030000020004"/>
              </a:rPr>
              <a:t>Source:</a:t>
            </a:r>
            <a:r>
              <a:rPr lang="en-US" sz="1000" b="0" i="1" u="none" strike="noStrike" cap="none">
                <a:solidFill>
                  <a:srgbClr val="000000"/>
                </a:solidFill>
                <a:latin typeface="Overlock" panose="02000506030000020004"/>
                <a:ea typeface="Overlock" panose="02000506030000020004"/>
                <a:cs typeface="Overlock" panose="02000506030000020004"/>
                <a:sym typeface="Overlock" panose="02000506030000020004"/>
              </a:rPr>
              <a:t> HIV Estimates 2025</a:t>
            </a:r>
            <a:endParaRPr sz="1000" b="0" i="0" u="none" strike="noStrike" cap="none">
              <a:solidFill>
                <a:srgbClr val="000000"/>
              </a:solidFill>
              <a:latin typeface="Overlock" panose="02000506030000020004"/>
              <a:ea typeface="Overlock" panose="02000506030000020004"/>
              <a:cs typeface="Overlock" panose="02000506030000020004"/>
              <a:sym typeface="Overlock" panose="02000506030000020004"/>
            </a:endParaRPr>
          </a:p>
        </p:txBody>
      </p:sp>
      <p:grpSp>
        <p:nvGrpSpPr>
          <p:cNvPr id="72" name="Google Shape;72;p49"/>
          <p:cNvGrpSpPr/>
          <p:nvPr/>
        </p:nvGrpSpPr>
        <p:grpSpPr>
          <a:xfrm>
            <a:off x="142875" y="2516188"/>
            <a:ext cx="1622425" cy="936625"/>
            <a:chOff x="134302" y="1423480"/>
            <a:chExt cx="1208722" cy="767538"/>
          </a:xfrm>
        </p:grpSpPr>
        <p:sp>
          <p:nvSpPr>
            <p:cNvPr id="73" name="Google Shape;73;p49"/>
            <p:cNvSpPr/>
            <p:nvPr/>
          </p:nvSpPr>
          <p:spPr>
            <a:xfrm>
              <a:off x="134302" y="1423480"/>
              <a:ext cx="1208722" cy="767538"/>
            </a:xfrm>
            <a:prstGeom prst="roundRect">
              <a:avLst>
                <a:gd name="adj" fmla="val 10000"/>
              </a:avLst>
            </a:prstGeom>
            <a:solidFill>
              <a:schemeClr val="lt1">
                <a:alpha val="90196"/>
              </a:schemeClr>
            </a:solidFill>
            <a:ln w="25400" cap="flat" cmpd="sng">
              <a:solidFill>
                <a:srgbClr val="599B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Overlock" panose="02000506030000020004"/>
                <a:ea typeface="Overlock" panose="02000506030000020004"/>
                <a:cs typeface="Overlock" panose="02000506030000020004"/>
                <a:sym typeface="Overlock" panose="02000506030000020004"/>
              </a:endParaRPr>
            </a:p>
          </p:txBody>
        </p:sp>
        <p:sp>
          <p:nvSpPr>
            <p:cNvPr id="74" name="Google Shape;74;p49"/>
            <p:cNvSpPr txBox="1"/>
            <p:nvPr/>
          </p:nvSpPr>
          <p:spPr>
            <a:xfrm>
              <a:off x="156782" y="1445960"/>
              <a:ext cx="1163762" cy="722578"/>
            </a:xfrm>
            <a:prstGeom prst="rect">
              <a:avLst/>
            </a:prstGeom>
            <a:noFill/>
            <a:ln>
              <a:noFill/>
            </a:ln>
          </p:spPr>
          <p:txBody>
            <a:bodyPr spcFirstLastPara="1" wrap="square" lIns="41900" tIns="41900" rIns="41900" bIns="41900" anchor="ctr" anchorCtr="0">
              <a:noAutofit/>
            </a:bodyPr>
            <a:lstStyle/>
            <a:p>
              <a:pPr marL="0" marR="0" lvl="0" indent="0" algn="ctr" rtl="0">
                <a:lnSpc>
                  <a:spcPct val="90000"/>
                </a:lnSpc>
                <a:spcBef>
                  <a:spcPts val="0"/>
                </a:spcBef>
                <a:spcAft>
                  <a:spcPts val="0"/>
                </a:spcAft>
                <a:buClr>
                  <a:schemeClr val="dk1"/>
                </a:buClr>
                <a:buSzPts val="1100"/>
                <a:buFont typeface="Arial" panose="020B0604020202020204"/>
                <a:buNone/>
              </a:pPr>
              <a:r>
                <a:rPr lang="en-US" sz="1100" b="0" i="0" u="none" strike="noStrike" cap="none">
                  <a:solidFill>
                    <a:schemeClr val="dk1"/>
                  </a:solidFill>
                  <a:latin typeface="Overlock" panose="02000506030000020004"/>
                  <a:ea typeface="Overlock" panose="02000506030000020004"/>
                  <a:cs typeface="Overlock" panose="02000506030000020004"/>
                  <a:sym typeface="Overlock" panose="02000506030000020004"/>
                </a:rPr>
                <a:t>60% (800,009) of people living with are aged 30-54  years</a:t>
              </a:r>
              <a:endParaRPr lang="en-US" sz="1100" b="0" i="0" u="none" strike="noStrike" cap="none">
                <a:solidFill>
                  <a:schemeClr val="dk1"/>
                </a:solidFill>
                <a:latin typeface="Overlock" panose="02000506030000020004"/>
                <a:ea typeface="Overlock" panose="02000506030000020004"/>
                <a:cs typeface="Overlock" panose="02000506030000020004"/>
                <a:sym typeface="Overlock" panose="02000506030000020004"/>
              </a:endParaRPr>
            </a:p>
          </p:txBody>
        </p:sp>
      </p:grpSp>
      <p:grpSp>
        <p:nvGrpSpPr>
          <p:cNvPr id="75" name="Google Shape;75;p49"/>
          <p:cNvGrpSpPr/>
          <p:nvPr/>
        </p:nvGrpSpPr>
        <p:grpSpPr>
          <a:xfrm>
            <a:off x="142875" y="3665538"/>
            <a:ext cx="1622425" cy="858837"/>
            <a:chOff x="134302" y="1423480"/>
            <a:chExt cx="1208722" cy="767538"/>
          </a:xfrm>
        </p:grpSpPr>
        <p:sp>
          <p:nvSpPr>
            <p:cNvPr id="76" name="Google Shape;76;p49"/>
            <p:cNvSpPr/>
            <p:nvPr/>
          </p:nvSpPr>
          <p:spPr>
            <a:xfrm>
              <a:off x="134302" y="1423480"/>
              <a:ext cx="1208722" cy="767538"/>
            </a:xfrm>
            <a:prstGeom prst="roundRect">
              <a:avLst>
                <a:gd name="adj" fmla="val 10000"/>
              </a:avLst>
            </a:prstGeom>
            <a:solidFill>
              <a:schemeClr val="lt1">
                <a:alpha val="90196"/>
              </a:schemeClr>
            </a:solidFill>
            <a:ln w="25400" cap="flat" cmpd="sng">
              <a:solidFill>
                <a:srgbClr val="599BD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Overlock" panose="02000506030000020004"/>
                <a:ea typeface="Overlock" panose="02000506030000020004"/>
                <a:cs typeface="Overlock" panose="02000506030000020004"/>
                <a:sym typeface="Overlock" panose="02000506030000020004"/>
              </a:endParaRPr>
            </a:p>
          </p:txBody>
        </p:sp>
        <p:sp>
          <p:nvSpPr>
            <p:cNvPr id="77" name="Google Shape;77;p49"/>
            <p:cNvSpPr txBox="1"/>
            <p:nvPr/>
          </p:nvSpPr>
          <p:spPr>
            <a:xfrm>
              <a:off x="156782" y="1445960"/>
              <a:ext cx="1163762" cy="722578"/>
            </a:xfrm>
            <a:prstGeom prst="rect">
              <a:avLst/>
            </a:prstGeom>
            <a:noFill/>
            <a:ln>
              <a:noFill/>
            </a:ln>
          </p:spPr>
          <p:txBody>
            <a:bodyPr spcFirstLastPara="1" wrap="square" lIns="41900" tIns="41900" rIns="41900" bIns="41900" anchor="ctr" anchorCtr="0">
              <a:no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en-US" sz="1100" b="0" i="0" u="none" strike="noStrike" cap="none">
                  <a:solidFill>
                    <a:schemeClr val="dk1"/>
                  </a:solidFill>
                  <a:latin typeface="Overlock" panose="02000506030000020004"/>
                  <a:ea typeface="Overlock" panose="02000506030000020004"/>
                  <a:cs typeface="Overlock" panose="02000506030000020004"/>
                  <a:sym typeface="Overlock" panose="02000506030000020004"/>
                </a:rPr>
                <a:t>Females account for 65% (867,530) of all people living with HIV </a:t>
              </a:r>
              <a:endParaRPr lang="en-US" sz="1100" b="0" i="0" u="none" strike="noStrike" cap="none">
                <a:solidFill>
                  <a:schemeClr val="dk1"/>
                </a:solidFill>
                <a:latin typeface="Overlock" panose="02000506030000020004"/>
                <a:ea typeface="Overlock" panose="02000506030000020004"/>
                <a:cs typeface="Overlock" panose="02000506030000020004"/>
                <a:sym typeface="Overlock" panose="02000506030000020004"/>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81" name="Shape 81"/>
        <p:cNvGrpSpPr/>
        <p:nvPr/>
      </p:nvGrpSpPr>
      <p:grpSpPr>
        <a:xfrm>
          <a:off x="0" y="0"/>
          <a:ext cx="0" cy="0"/>
          <a:chOff x="0" y="0"/>
          <a:chExt cx="0" cy="0"/>
        </a:xfrm>
      </p:grpSpPr>
      <p:sp>
        <p:nvSpPr>
          <p:cNvPr id="82" name="Google Shape;82;p5"/>
          <p:cNvSpPr txBox="1"/>
          <p:nvPr>
            <p:ph type="title"/>
          </p:nvPr>
        </p:nvSpPr>
        <p:spPr>
          <a:xfrm>
            <a:off x="2152650" y="932262"/>
            <a:ext cx="7886700" cy="45252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SzPct val="58000"/>
              <a:buNone/>
            </a:pPr>
            <a:r>
              <a:rPr lang="en-US" sz="2700">
                <a:solidFill>
                  <a:srgbClr val="2E75B5"/>
                </a:solidFill>
              </a:rPr>
              <a:t>Kenya 95-95-95 Cascade , December 2025</a:t>
            </a:r>
            <a:endParaRPr sz="2700">
              <a:solidFill>
                <a:srgbClr val="FF0000"/>
              </a:solidFill>
            </a:endParaRPr>
          </a:p>
        </p:txBody>
      </p:sp>
      <p:graphicFrame>
        <p:nvGraphicFramePr>
          <p:cNvPr id="83" name="Google Shape;83;p5"/>
          <p:cNvGraphicFramePr/>
          <p:nvPr/>
        </p:nvGraphicFramePr>
        <p:xfrm>
          <a:off x="2152650" y="1514901"/>
          <a:ext cx="8451660" cy="4410837"/>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sp>
        <p:nvSpPr>
          <p:cNvPr id="88" name="Google Shape;88;p50"/>
          <p:cNvSpPr txBox="1"/>
          <p:nvPr>
            <p:ph type="title"/>
          </p:nvPr>
        </p:nvSpPr>
        <p:spPr>
          <a:xfrm>
            <a:off x="2911637" y="511792"/>
            <a:ext cx="7246620" cy="60959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US" sz="2800" b="1">
                <a:solidFill>
                  <a:srgbClr val="2F5496"/>
                </a:solidFill>
              </a:rPr>
              <a:t>Adults cascade</a:t>
            </a:r>
            <a:endParaRPr sz="2800" b="1">
              <a:solidFill>
                <a:srgbClr val="2F5496"/>
              </a:solidFill>
            </a:endParaRPr>
          </a:p>
        </p:txBody>
      </p:sp>
      <p:graphicFrame>
        <p:nvGraphicFramePr>
          <p:cNvPr id="89" name="Google Shape;89;p50"/>
          <p:cNvGraphicFramePr/>
          <p:nvPr/>
        </p:nvGraphicFramePr>
        <p:xfrm>
          <a:off x="2115404" y="1569493"/>
          <a:ext cx="7519916" cy="4121623"/>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93" name="Shape 93"/>
        <p:cNvGrpSpPr/>
        <p:nvPr/>
      </p:nvGrpSpPr>
      <p:grpSpPr>
        <a:xfrm>
          <a:off x="0" y="0"/>
          <a:ext cx="0" cy="0"/>
          <a:chOff x="0" y="0"/>
          <a:chExt cx="0" cy="0"/>
        </a:xfrm>
      </p:grpSpPr>
      <p:sp>
        <p:nvSpPr>
          <p:cNvPr id="94" name="Google Shape;94;p7"/>
          <p:cNvSpPr txBox="1"/>
          <p:nvPr>
            <p:ph type="title"/>
          </p:nvPr>
        </p:nvSpPr>
        <p:spPr>
          <a:xfrm>
            <a:off x="2911637" y="511792"/>
            <a:ext cx="7246620" cy="60959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US" sz="2800" b="1">
                <a:solidFill>
                  <a:srgbClr val="2F5496"/>
                </a:solidFill>
              </a:rPr>
              <a:t>Young Adults cascades 15-24- </a:t>
            </a:r>
            <a:endParaRPr sz="2800" b="1">
              <a:solidFill>
                <a:srgbClr val="2F5496"/>
              </a:solidFill>
            </a:endParaRPr>
          </a:p>
        </p:txBody>
      </p:sp>
      <p:graphicFrame>
        <p:nvGraphicFramePr>
          <p:cNvPr id="95" name="Google Shape;95;p7"/>
          <p:cNvGraphicFramePr/>
          <p:nvPr/>
        </p:nvGraphicFramePr>
        <p:xfrm>
          <a:off x="2210937" y="1651380"/>
          <a:ext cx="8106770" cy="4394579"/>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6"/>
          <p:cNvSpPr txBox="1"/>
          <p:nvPr>
            <p:ph type="title"/>
          </p:nvPr>
        </p:nvSpPr>
        <p:spPr>
          <a:xfrm>
            <a:off x="2362200" y="941071"/>
            <a:ext cx="7330440" cy="64008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US" sz="3200" b="1">
                <a:solidFill>
                  <a:srgbClr val="2F5496"/>
                </a:solidFill>
              </a:rPr>
              <a:t>Adolescent cascade 10-19 </a:t>
            </a:r>
            <a:endParaRPr sz="3200">
              <a:solidFill>
                <a:srgbClr val="2F5496"/>
              </a:solidFill>
            </a:endParaRPr>
          </a:p>
        </p:txBody>
      </p:sp>
      <p:graphicFrame>
        <p:nvGraphicFramePr>
          <p:cNvPr id="101" name="Google Shape;101;p6"/>
          <p:cNvGraphicFramePr/>
          <p:nvPr/>
        </p:nvGraphicFramePr>
        <p:xfrm>
          <a:off x="2908907" y="1676686"/>
          <a:ext cx="6237026" cy="3987136"/>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5" name="Shape 105"/>
        <p:cNvGrpSpPr/>
        <p:nvPr/>
      </p:nvGrpSpPr>
      <p:grpSpPr>
        <a:xfrm>
          <a:off x="0" y="0"/>
          <a:ext cx="0" cy="0"/>
          <a:chOff x="0" y="0"/>
          <a:chExt cx="0" cy="0"/>
        </a:xfrm>
      </p:grpSpPr>
      <p:graphicFrame>
        <p:nvGraphicFramePr>
          <p:cNvPr id="106" name="Google Shape;106;p51"/>
          <p:cNvGraphicFramePr/>
          <p:nvPr/>
        </p:nvGraphicFramePr>
        <p:xfrm>
          <a:off x="1869743" y="1026993"/>
          <a:ext cx="8789158" cy="4804013"/>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10" name="Shape 110"/>
        <p:cNvGrpSpPr/>
        <p:nvPr/>
      </p:nvGrpSpPr>
      <p:grpSpPr>
        <a:xfrm>
          <a:off x="0" y="0"/>
          <a:ext cx="0" cy="0"/>
          <a:chOff x="0" y="0"/>
          <a:chExt cx="0" cy="0"/>
        </a:xfrm>
      </p:grpSpPr>
      <p:sp>
        <p:nvSpPr>
          <p:cNvPr id="111" name="Google Shape;111;p8"/>
          <p:cNvSpPr txBox="1"/>
          <p:nvPr>
            <p:ph type="body" idx="1"/>
          </p:nvPr>
        </p:nvSpPr>
        <p:spPr>
          <a:xfrm>
            <a:off x="2275646" y="1194148"/>
            <a:ext cx="8784836" cy="435488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Font typeface="Arial" panose="020B0604020202020204"/>
              <a:buAutoNum type="arabicPeriod"/>
            </a:pPr>
            <a:r>
              <a:rPr lang="en-US" sz="2800"/>
              <a:t>HIV situation in Kenya</a:t>
            </a:r>
            <a:endParaRPr lang="en-US" sz="2800"/>
          </a:p>
          <a:p>
            <a:pPr marL="342900" lvl="0" indent="-342900" algn="l" rtl="0">
              <a:lnSpc>
                <a:spcPct val="90000"/>
              </a:lnSpc>
              <a:spcBef>
                <a:spcPts val="750"/>
              </a:spcBef>
              <a:spcAft>
                <a:spcPts val="0"/>
              </a:spcAft>
              <a:buClr>
                <a:schemeClr val="accent5"/>
              </a:buClr>
              <a:buSzPts val="2800"/>
              <a:buFont typeface="Arial" panose="020B0604020202020204"/>
              <a:buAutoNum type="arabicPeriod"/>
            </a:pPr>
            <a:r>
              <a:rPr lang="en-US" sz="2800">
                <a:solidFill>
                  <a:schemeClr val="accent5"/>
                </a:solidFill>
              </a:rPr>
              <a:t>Basic Facts on HIV and AIDS</a:t>
            </a:r>
            <a:r>
              <a:rPr lang="en-US" sz="2800"/>
              <a:t>.</a:t>
            </a:r>
            <a:endParaRPr lang="en-US" sz="2800"/>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Kenya HIV Prevention and Treatment Guidelines, 2022</a:t>
            </a:r>
            <a:endParaRPr lang="en-US" sz="2800"/>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Standard Package of Care of HIV infected people</a:t>
            </a:r>
            <a:endParaRPr sz="2800" b="1">
              <a:solidFill>
                <a:schemeClr val="accent1"/>
              </a:solidFill>
            </a:endParaRPr>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HIV and NCD </a:t>
            </a:r>
            <a:endParaRPr lang="en-US" sz="2800"/>
          </a:p>
          <a:p>
            <a:pPr marL="342900" lvl="0" indent="-228600" algn="l" rtl="0">
              <a:lnSpc>
                <a:spcPct val="90000"/>
              </a:lnSpc>
              <a:spcBef>
                <a:spcPts val="750"/>
              </a:spcBef>
              <a:spcAft>
                <a:spcPts val="0"/>
              </a:spcAft>
              <a:buClr>
                <a:schemeClr val="dk1"/>
              </a:buClr>
              <a:buSzPts val="1800"/>
              <a:buFont typeface="Arial" panose="020B0604020202020204"/>
              <a:buNone/>
            </a:pPr>
          </a:p>
          <a:p>
            <a:pPr marL="342900" lvl="0" indent="-228600" algn="l" rtl="0">
              <a:lnSpc>
                <a:spcPct val="90000"/>
              </a:lnSpc>
              <a:spcBef>
                <a:spcPts val="750"/>
              </a:spcBef>
              <a:spcAft>
                <a:spcPts val="0"/>
              </a:spcAft>
              <a:buClr>
                <a:schemeClr val="dk1"/>
              </a:buClr>
              <a:buSzPts val="1800"/>
              <a:buFont typeface="Arial" panose="020B0604020202020204"/>
              <a:buNone/>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sp>
        <p:nvSpPr>
          <p:cNvPr id="119" name="Google Shape;119;p9"/>
          <p:cNvSpPr txBox="1"/>
          <p:nvPr>
            <p:ph type="sldNum" idx="12"/>
          </p:nvPr>
        </p:nvSpPr>
        <p:spPr>
          <a:xfrm>
            <a:off x="110067" y="6492876"/>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SzPts val="900"/>
              <a:buNone/>
            </a:pPr>
            <a:fld id="{00000000-1234-1234-1234-123412341234}" type="slidenum">
              <a:rPr lang="en-US" sz="900" b="1" i="0" u="none" strike="noStrike" cap="none">
                <a:solidFill>
                  <a:schemeClr val="dk1"/>
                </a:solidFill>
                <a:latin typeface="EB Garamond"/>
                <a:ea typeface="EB Garamond"/>
                <a:cs typeface="EB Garamond"/>
                <a:sym typeface="EB Garamond"/>
              </a:rPr>
            </a:fld>
            <a:endParaRPr sz="900" b="1" i="0" u="none" strike="noStrike" cap="none">
              <a:solidFill>
                <a:schemeClr val="dk1"/>
              </a:solidFill>
              <a:latin typeface="EB Garamond"/>
              <a:ea typeface="EB Garamond"/>
              <a:cs typeface="EB Garamond"/>
              <a:sym typeface="EB Garamond"/>
            </a:endParaRPr>
          </a:p>
        </p:txBody>
      </p:sp>
      <p:sp>
        <p:nvSpPr>
          <p:cNvPr id="120" name="Google Shape;120;p9"/>
          <p:cNvSpPr txBox="1"/>
          <p:nvPr>
            <p:ph type="title"/>
          </p:nvPr>
        </p:nvSpPr>
        <p:spPr>
          <a:xfrm>
            <a:off x="2741169" y="220262"/>
            <a:ext cx="6955657" cy="77472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2400">
                <a:solidFill>
                  <a:srgbClr val="2E75B5"/>
                </a:solidFill>
              </a:rPr>
              <a:t>What does HIV stand for?</a:t>
            </a:r>
            <a:endParaRPr lang="en-US" sz="2400">
              <a:solidFill>
                <a:srgbClr val="2E75B5"/>
              </a:solidFill>
            </a:endParaRPr>
          </a:p>
        </p:txBody>
      </p:sp>
      <p:sp>
        <p:nvSpPr>
          <p:cNvPr id="121" name="Google Shape;121;p9"/>
          <p:cNvSpPr txBox="1"/>
          <p:nvPr>
            <p:ph type="body" idx="1"/>
          </p:nvPr>
        </p:nvSpPr>
        <p:spPr>
          <a:xfrm>
            <a:off x="2398645" y="1152940"/>
            <a:ext cx="7640707" cy="296186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4800" b="1" u="sng"/>
              <a:t>H</a:t>
            </a:r>
            <a:r>
              <a:rPr lang="en-US" b="1"/>
              <a:t>uman:  </a:t>
            </a:r>
            <a:r>
              <a:rPr lang="en-US"/>
              <a:t>Infecting human beings</a:t>
            </a:r>
            <a:endParaRPr lang="en-US"/>
          </a:p>
          <a:p>
            <a:pPr marL="0" lvl="0" indent="0" algn="l" rtl="0">
              <a:lnSpc>
                <a:spcPct val="90000"/>
              </a:lnSpc>
              <a:spcBef>
                <a:spcPts val="750"/>
              </a:spcBef>
              <a:spcAft>
                <a:spcPts val="0"/>
              </a:spcAft>
              <a:buClr>
                <a:schemeClr val="dk1"/>
              </a:buClr>
              <a:buSzPts val="2400"/>
              <a:buNone/>
            </a:pPr>
            <a:r>
              <a:rPr lang="en-US" sz="4800" b="1" u="sng"/>
              <a:t>I</a:t>
            </a:r>
            <a:r>
              <a:rPr lang="en-US" b="1"/>
              <a:t>mmunodeficiency:  </a:t>
            </a:r>
            <a:r>
              <a:rPr lang="en-US"/>
              <a:t>Decrease or weakness in the body’s ability to fight off infections and illnesses</a:t>
            </a:r>
            <a:endParaRPr lang="en-US"/>
          </a:p>
          <a:p>
            <a:pPr marL="0" lvl="0" indent="0" algn="l" rtl="0">
              <a:lnSpc>
                <a:spcPct val="90000"/>
              </a:lnSpc>
              <a:spcBef>
                <a:spcPts val="750"/>
              </a:spcBef>
              <a:spcAft>
                <a:spcPts val="0"/>
              </a:spcAft>
              <a:buClr>
                <a:schemeClr val="dk1"/>
              </a:buClr>
              <a:buSzPts val="2400"/>
              <a:buNone/>
            </a:pPr>
            <a:r>
              <a:rPr lang="en-US" sz="4800" b="1" u="sng"/>
              <a:t>V</a:t>
            </a:r>
            <a:r>
              <a:rPr lang="en-US" b="1"/>
              <a:t>irus:  </a:t>
            </a:r>
            <a:r>
              <a:rPr lang="en-US"/>
              <a:t>A pathogen having the ability to replicate only inside a living cell</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4000" i="0">
                <a:solidFill>
                  <a:srgbClr val="3B3835"/>
                </a:solidFill>
              </a:rPr>
              <a:t>What is HIV?</a:t>
            </a:r>
            <a:endParaRPr sz="4000"/>
          </a:p>
        </p:txBody>
      </p:sp>
      <p:sp>
        <p:nvSpPr>
          <p:cNvPr id="127" name="Google Shape;127;p10"/>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rgbClr val="3B3835"/>
              </a:buClr>
              <a:buSzPts val="4000"/>
              <a:buChar char="•"/>
            </a:pPr>
            <a:r>
              <a:rPr lang="en-US" sz="4000">
                <a:solidFill>
                  <a:srgbClr val="3B3835"/>
                </a:solidFill>
                <a:latin typeface="Arial" panose="020B0604020202020204"/>
                <a:ea typeface="Arial" panose="020B0604020202020204"/>
                <a:cs typeface="Arial" panose="020B0604020202020204"/>
                <a:sym typeface="Arial" panose="020B0604020202020204"/>
              </a:rPr>
              <a:t>A</a:t>
            </a:r>
            <a:r>
              <a:rPr lang="en-US" sz="4000" b="0" i="0">
                <a:solidFill>
                  <a:srgbClr val="3B3835"/>
                </a:solidFill>
                <a:latin typeface="Arial" panose="020B0604020202020204"/>
                <a:ea typeface="Arial" panose="020B0604020202020204"/>
                <a:cs typeface="Arial" panose="020B0604020202020204"/>
                <a:sym typeface="Arial" panose="020B0604020202020204"/>
              </a:rPr>
              <a:t>n </a:t>
            </a:r>
            <a:r>
              <a:rPr lang="en-US" sz="4000" b="0" i="0">
                <a:latin typeface="Arial" panose="020B0604020202020204"/>
                <a:ea typeface="Arial" panose="020B0604020202020204"/>
                <a:cs typeface="Arial" panose="020B0604020202020204"/>
                <a:sym typeface="Arial" panose="020B0604020202020204"/>
              </a:rPr>
              <a:t>RNA ( Ribonucleic acid) based </a:t>
            </a:r>
            <a:r>
              <a:rPr lang="en-US" sz="4000" b="0" i="0">
                <a:solidFill>
                  <a:srgbClr val="3B3835"/>
                </a:solidFill>
                <a:latin typeface="Arial" panose="020B0604020202020204"/>
                <a:ea typeface="Arial" panose="020B0604020202020204"/>
                <a:cs typeface="Arial" panose="020B0604020202020204"/>
                <a:sym typeface="Arial" panose="020B0604020202020204"/>
              </a:rPr>
              <a:t>virus that causes AIDS </a:t>
            </a:r>
            <a:endParaRPr lang="en-US" sz="40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4000"/>
              <a:buChar char="•"/>
            </a:pPr>
            <a:r>
              <a:rPr lang="en-US" sz="4000" b="0" i="0">
                <a:solidFill>
                  <a:srgbClr val="3B3835"/>
                </a:solidFill>
                <a:latin typeface="Arial" panose="020B0604020202020204"/>
                <a:ea typeface="Arial" panose="020B0604020202020204"/>
                <a:cs typeface="Arial" panose="020B0604020202020204"/>
                <a:sym typeface="Arial" panose="020B0604020202020204"/>
              </a:rPr>
              <a:t>Attacks the Immune System</a:t>
            </a:r>
            <a:endParaRPr lang="en-US" sz="40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4000"/>
              <a:buChar char="•"/>
            </a:pPr>
            <a:r>
              <a:rPr lang="en-US" sz="4000" b="0" i="0">
                <a:solidFill>
                  <a:srgbClr val="3B3835"/>
                </a:solidFill>
                <a:latin typeface="Arial" panose="020B0604020202020204"/>
                <a:ea typeface="Arial" panose="020B0604020202020204"/>
                <a:cs typeface="Arial" panose="020B0604020202020204"/>
                <a:sym typeface="Arial" panose="020B0604020202020204"/>
              </a:rPr>
              <a:t>Mother to Child transmission of HIV is the  Most common way babies contract HIV from the mother during pregnancy, birth or breastfeeding</a:t>
            </a:r>
            <a:endParaRPr lang="en-US" sz="40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4000"/>
              <a:buChar char="•"/>
            </a:pPr>
            <a:r>
              <a:rPr lang="en-US" sz="4000" b="0" i="0">
                <a:solidFill>
                  <a:srgbClr val="3B3835"/>
                </a:solidFill>
                <a:latin typeface="Arial" panose="020B0604020202020204"/>
                <a:ea typeface="Arial" panose="020B0604020202020204"/>
                <a:cs typeface="Arial" panose="020B0604020202020204"/>
                <a:sym typeface="Arial" panose="020B0604020202020204"/>
              </a:rPr>
              <a:t>The virus compromises the body’s ability to handle disease and causes AIDS</a:t>
            </a:r>
            <a:r>
              <a:rPr lang="en-US" b="0" i="0">
                <a:solidFill>
                  <a:srgbClr val="3B3835"/>
                </a:solidFill>
                <a:latin typeface="Arial" panose="020B0604020202020204"/>
                <a:ea typeface="Arial" panose="020B0604020202020204"/>
                <a:cs typeface="Arial" panose="020B0604020202020204"/>
                <a:sym typeface="Arial" panose="020B0604020202020204"/>
              </a:rPr>
              <a:t>.</a:t>
            </a:r>
            <a:endParaRPr>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32" name="Shape 132"/>
        <p:cNvGrpSpPr/>
        <p:nvPr/>
      </p:nvGrpSpPr>
      <p:grpSpPr>
        <a:xfrm>
          <a:off x="0" y="0"/>
          <a:ext cx="0" cy="0"/>
          <a:chOff x="0" y="0"/>
          <a:chExt cx="0" cy="0"/>
        </a:xfrm>
      </p:grpSpPr>
      <p:sp>
        <p:nvSpPr>
          <p:cNvPr id="133" name="Google Shape;133;p11"/>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3200" i="0">
                <a:solidFill>
                  <a:srgbClr val="3B3835"/>
                </a:solidFill>
              </a:rPr>
              <a:t>What does HIV look like? </a:t>
            </a:r>
            <a:endParaRPr sz="3200"/>
          </a:p>
        </p:txBody>
      </p:sp>
      <p:pic>
        <p:nvPicPr>
          <p:cNvPr id="134" name="Google Shape;134;p11"/>
          <p:cNvPicPr preferRelativeResize="0"/>
          <p:nvPr>
            <p:ph type="body" idx="1"/>
          </p:nvPr>
        </p:nvPicPr>
        <p:blipFill rotWithShape="1">
          <a:blip r:embed="rId1"/>
          <a:srcRect/>
          <a:stretch>
            <a:fillRect/>
          </a:stretch>
        </p:blipFill>
        <p:spPr>
          <a:xfrm>
            <a:off x="2226137" y="801463"/>
            <a:ext cx="6659895" cy="52550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38" name="Shape 138"/>
        <p:cNvGrpSpPr/>
        <p:nvPr/>
      </p:nvGrpSpPr>
      <p:grpSpPr>
        <a:xfrm>
          <a:off x="0" y="0"/>
          <a:ext cx="0" cy="0"/>
          <a:chOff x="0" y="0"/>
          <a:chExt cx="0" cy="0"/>
        </a:xfrm>
      </p:grpSpPr>
      <p:sp>
        <p:nvSpPr>
          <p:cNvPr id="139" name="Google Shape;139;p12"/>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400"/>
              <a:buNone/>
            </a:pPr>
            <a:r>
              <a:rPr lang="en-US" sz="4000" i="0">
                <a:solidFill>
                  <a:srgbClr val="3B3835"/>
                </a:solidFill>
              </a:rPr>
              <a:t>Two Key Parts of the Immune System</a:t>
            </a:r>
            <a:endParaRPr sz="4000"/>
          </a:p>
        </p:txBody>
      </p:sp>
      <p:sp>
        <p:nvSpPr>
          <p:cNvPr id="140" name="Google Shape;140;p12"/>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rmAutofit/>
          </a:bodyPr>
          <a:lstStyle/>
          <a:p>
            <a:pPr marL="171450" lvl="0" indent="-171450" algn="l" rtl="0">
              <a:lnSpc>
                <a:spcPct val="90000"/>
              </a:lnSpc>
              <a:spcBef>
                <a:spcPts val="0"/>
              </a:spcBef>
              <a:spcAft>
                <a:spcPts val="0"/>
              </a:spcAft>
              <a:buClr>
                <a:srgbClr val="3B3835"/>
              </a:buClr>
              <a:buSzPts val="3600"/>
              <a:buChar char="•"/>
            </a:pPr>
            <a:r>
              <a:rPr lang="en-US" sz="3600" b="1" i="0">
                <a:solidFill>
                  <a:srgbClr val="3B3835"/>
                </a:solidFill>
                <a:latin typeface="Arial" panose="020B0604020202020204"/>
                <a:ea typeface="Arial" panose="020B0604020202020204"/>
                <a:cs typeface="Arial" panose="020B0604020202020204"/>
                <a:sym typeface="Arial" panose="020B0604020202020204"/>
              </a:rPr>
              <a:t>T4 or CD4 Cell:</a:t>
            </a:r>
            <a:endParaRPr lang="en-US" sz="3600" b="1" i="0">
              <a:solidFill>
                <a:srgbClr val="3B3835"/>
              </a:solidFill>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750"/>
              </a:spcBef>
              <a:spcAft>
                <a:spcPts val="0"/>
              </a:spcAft>
              <a:buClr>
                <a:schemeClr val="dk1"/>
              </a:buClr>
              <a:buSzPts val="3600"/>
              <a:buNone/>
            </a:pPr>
            <a:endParaRPr sz="3600" b="1" i="0">
              <a:solidFill>
                <a:srgbClr val="3B3835"/>
              </a:solidFill>
              <a:latin typeface="Arial" panose="020B0604020202020204"/>
              <a:ea typeface="Arial" panose="020B0604020202020204"/>
              <a:cs typeface="Arial" panose="020B0604020202020204"/>
              <a:sym typeface="Arial" panose="020B0604020202020204"/>
            </a:endParaRPr>
          </a:p>
          <a:p>
            <a:pPr marL="514350" lvl="1" indent="-228600" algn="l" rtl="0">
              <a:lnSpc>
                <a:spcPct val="90000"/>
              </a:lnSpc>
              <a:spcBef>
                <a:spcPts val="375"/>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T4 cell are particularly important in the adaptive immune system. These cells help suppress or regulate immune responses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342900" lvl="1" indent="0" algn="l" rtl="0">
              <a:lnSpc>
                <a:spcPct val="90000"/>
              </a:lnSpc>
              <a:spcBef>
                <a:spcPts val="375"/>
              </a:spcBef>
              <a:spcAft>
                <a:spcPts val="0"/>
              </a:spcAft>
              <a:buClr>
                <a:schemeClr val="dk1"/>
              </a:buClr>
              <a:buSzPts val="3600"/>
              <a:buNone/>
            </a:pPr>
            <a:endParaRPr sz="36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 </a:t>
            </a:r>
            <a:r>
              <a:rPr lang="en-US" sz="3600" b="1" i="0">
                <a:solidFill>
                  <a:srgbClr val="3B3835"/>
                </a:solidFill>
                <a:latin typeface="Arial" panose="020B0604020202020204"/>
                <a:ea typeface="Arial" panose="020B0604020202020204"/>
                <a:cs typeface="Arial" panose="020B0604020202020204"/>
                <a:sym typeface="Arial" panose="020B0604020202020204"/>
              </a:rPr>
              <a:t>Antibodies </a:t>
            </a:r>
            <a:endParaRPr sz="3600" b="1">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13"/>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400"/>
              <a:buNone/>
            </a:pPr>
            <a:r>
              <a:rPr lang="en-US" sz="4000" i="0">
                <a:solidFill>
                  <a:srgbClr val="3B3835"/>
                </a:solidFill>
              </a:rPr>
              <a:t>HIV Transmission Requires:</a:t>
            </a:r>
            <a:endParaRPr sz="4000"/>
          </a:p>
        </p:txBody>
      </p:sp>
      <p:sp>
        <p:nvSpPr>
          <p:cNvPr id="146" name="Google Shape;146;p13"/>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None/>
            </a:pPr>
            <a:endParaRPr sz="3600" b="0" i="0"/>
          </a:p>
          <a:p>
            <a:pPr marL="514350" lvl="0" indent="-514350" algn="l" rtl="0">
              <a:lnSpc>
                <a:spcPct val="90000"/>
              </a:lnSpc>
              <a:spcBef>
                <a:spcPts val="750"/>
              </a:spcBef>
              <a:spcAft>
                <a:spcPts val="0"/>
              </a:spcAft>
              <a:buClr>
                <a:schemeClr val="dk1"/>
              </a:buClr>
              <a:buSzPts val="3600"/>
              <a:buFont typeface="Arial" panose="020B0604020202020204"/>
              <a:buAutoNum type="arabicPeriod"/>
            </a:pPr>
            <a:r>
              <a:rPr lang="en-US" sz="3600" b="0" i="0">
                <a:latin typeface="Arial" panose="020B0604020202020204"/>
                <a:ea typeface="Arial" panose="020B0604020202020204"/>
                <a:cs typeface="Arial" panose="020B0604020202020204"/>
                <a:sym typeface="Arial" panose="020B0604020202020204"/>
              </a:rPr>
              <a:t>Infected body fluid</a:t>
            </a:r>
            <a:endParaRPr lang="en-US" sz="3600" b="0" i="0">
              <a:latin typeface="Arial" panose="020B0604020202020204"/>
              <a:ea typeface="Arial" panose="020B0604020202020204"/>
              <a:cs typeface="Arial" panose="020B0604020202020204"/>
              <a:sym typeface="Arial" panose="020B0604020202020204"/>
            </a:endParaRPr>
          </a:p>
          <a:p>
            <a:pPr marL="514350" lvl="0" indent="-514350" algn="l" rtl="0">
              <a:lnSpc>
                <a:spcPct val="90000"/>
              </a:lnSpc>
              <a:spcBef>
                <a:spcPts val="750"/>
              </a:spcBef>
              <a:spcAft>
                <a:spcPts val="0"/>
              </a:spcAft>
              <a:buClr>
                <a:schemeClr val="dk1"/>
              </a:buClr>
              <a:buSzPts val="3600"/>
              <a:buFont typeface="Arial" panose="020B0604020202020204"/>
              <a:buAutoNum type="arabicPeriod"/>
            </a:pPr>
            <a:r>
              <a:rPr lang="en-US" sz="3600" b="0" i="0">
                <a:latin typeface="Arial" panose="020B0604020202020204"/>
                <a:ea typeface="Arial" panose="020B0604020202020204"/>
                <a:cs typeface="Arial" panose="020B0604020202020204"/>
                <a:sym typeface="Arial" panose="020B0604020202020204"/>
              </a:rPr>
              <a:t>Entry into body</a:t>
            </a:r>
            <a:endParaRPr sz="36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50" name="Shape 150"/>
        <p:cNvGrpSpPr/>
        <p:nvPr/>
      </p:nvGrpSpPr>
      <p:grpSpPr>
        <a:xfrm>
          <a:off x="0" y="0"/>
          <a:ext cx="0" cy="0"/>
          <a:chOff x="0" y="0"/>
          <a:chExt cx="0" cy="0"/>
        </a:xfrm>
      </p:grpSpPr>
      <p:sp>
        <p:nvSpPr>
          <p:cNvPr id="151" name="Google Shape;151;p14"/>
          <p:cNvSpPr txBox="1"/>
          <p:nvPr>
            <p:ph type="title"/>
          </p:nvPr>
        </p:nvSpPr>
        <p:spPr>
          <a:xfrm>
            <a:off x="1102785" y="112714"/>
            <a:ext cx="9764183" cy="53657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4000"/>
              <a:t>Human Body Fluids</a:t>
            </a:r>
            <a:endParaRPr lang="en-US" sz="4000"/>
          </a:p>
        </p:txBody>
      </p:sp>
      <p:sp>
        <p:nvSpPr>
          <p:cNvPr id="152" name="Google Shape;152;p14"/>
          <p:cNvSpPr txBox="1"/>
          <p:nvPr>
            <p:ph type="body" idx="1"/>
          </p:nvPr>
        </p:nvSpPr>
        <p:spPr>
          <a:xfrm>
            <a:off x="1103245" y="1272209"/>
            <a:ext cx="4916556" cy="4904754"/>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rgbClr val="3B3835"/>
              </a:buClr>
              <a:buSzPts val="3600"/>
              <a:buChar char="•"/>
            </a:pPr>
            <a:r>
              <a:rPr lang="en-US" sz="3600" b="1" i="0">
                <a:solidFill>
                  <a:srgbClr val="3B3835"/>
                </a:solidFill>
                <a:latin typeface="Arial" panose="020B0604020202020204"/>
                <a:ea typeface="Arial" panose="020B0604020202020204"/>
                <a:cs typeface="Arial" panose="020B0604020202020204"/>
                <a:sym typeface="Arial" panose="020B0604020202020204"/>
              </a:rPr>
              <a:t>Four Fluids, if infected, </a:t>
            </a:r>
            <a:r>
              <a:rPr lang="en-US" sz="3600" b="1" i="0">
                <a:solidFill>
                  <a:srgbClr val="FF0000"/>
                </a:solidFill>
                <a:latin typeface="Arial" panose="020B0604020202020204"/>
                <a:ea typeface="Arial" panose="020B0604020202020204"/>
                <a:cs typeface="Arial" panose="020B0604020202020204"/>
                <a:sym typeface="Arial" panose="020B0604020202020204"/>
              </a:rPr>
              <a:t>can</a:t>
            </a:r>
            <a:r>
              <a:rPr lang="en-US" sz="3600" b="1" i="0">
                <a:solidFill>
                  <a:srgbClr val="3B3835"/>
                </a:solidFill>
                <a:latin typeface="Arial" panose="020B0604020202020204"/>
                <a:ea typeface="Arial" panose="020B0604020202020204"/>
                <a:cs typeface="Arial" panose="020B0604020202020204"/>
                <a:sym typeface="Arial" panose="020B0604020202020204"/>
              </a:rPr>
              <a:t> transmit HIV</a:t>
            </a:r>
            <a:endParaRPr lang="en-US" sz="3600" b="1" i="0">
              <a:solidFill>
                <a:srgbClr val="3B3835"/>
              </a:solidFill>
              <a:latin typeface="Arial" panose="020B0604020202020204"/>
              <a:ea typeface="Arial" panose="020B0604020202020204"/>
              <a:cs typeface="Arial" panose="020B0604020202020204"/>
              <a:sym typeface="Arial" panose="020B0604020202020204"/>
            </a:endParaRPr>
          </a:p>
          <a:p>
            <a:pPr marL="514350" lvl="1" indent="-228600" algn="l" rtl="0">
              <a:lnSpc>
                <a:spcPct val="90000"/>
              </a:lnSpc>
              <a:spcBef>
                <a:spcPts val="375"/>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Blood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1" indent="-228600" algn="l" rtl="0">
              <a:lnSpc>
                <a:spcPct val="90000"/>
              </a:lnSpc>
              <a:spcBef>
                <a:spcPts val="375"/>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Semen</a:t>
            </a:r>
            <a:endParaRPr sz="3600">
              <a:solidFill>
                <a:srgbClr val="3B3835"/>
              </a:solidFill>
              <a:latin typeface="Arial" panose="020B0604020202020204"/>
              <a:ea typeface="Arial" panose="020B0604020202020204"/>
              <a:cs typeface="Arial" panose="020B0604020202020204"/>
              <a:sym typeface="Arial" panose="020B0604020202020204"/>
            </a:endParaRPr>
          </a:p>
          <a:p>
            <a:pPr marL="514350" lvl="1" indent="-228600" algn="l" rtl="0">
              <a:lnSpc>
                <a:spcPct val="90000"/>
              </a:lnSpc>
              <a:spcBef>
                <a:spcPts val="375"/>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Vaginal Secretions </a:t>
            </a:r>
            <a:endParaRPr sz="3600">
              <a:solidFill>
                <a:srgbClr val="3B3835"/>
              </a:solidFill>
              <a:latin typeface="Arial" panose="020B0604020202020204"/>
              <a:ea typeface="Arial" panose="020B0604020202020204"/>
              <a:cs typeface="Arial" panose="020B0604020202020204"/>
              <a:sym typeface="Arial" panose="020B0604020202020204"/>
            </a:endParaRPr>
          </a:p>
          <a:p>
            <a:pPr marL="514350" lvl="1" indent="-228600" algn="l" rtl="0">
              <a:lnSpc>
                <a:spcPct val="90000"/>
              </a:lnSpc>
              <a:spcBef>
                <a:spcPts val="375"/>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Breast Milk</a:t>
            </a:r>
            <a:endParaRPr sz="3600">
              <a:solidFill>
                <a:srgbClr val="3B3835"/>
              </a:solidFill>
              <a:latin typeface="Arial" panose="020B0604020202020204"/>
              <a:ea typeface="Arial" panose="020B0604020202020204"/>
              <a:cs typeface="Arial" panose="020B0604020202020204"/>
              <a:sym typeface="Arial" panose="020B0604020202020204"/>
            </a:endParaRPr>
          </a:p>
          <a:p>
            <a:pPr marL="171450" lvl="0" indent="-57150" algn="l" rtl="0">
              <a:lnSpc>
                <a:spcPct val="90000"/>
              </a:lnSpc>
              <a:spcBef>
                <a:spcPts val="750"/>
              </a:spcBef>
              <a:spcAft>
                <a:spcPts val="0"/>
              </a:spcAft>
              <a:buClr>
                <a:schemeClr val="dk1"/>
              </a:buClr>
              <a:buSzPts val="1800"/>
              <a:buNone/>
            </a:pPr>
          </a:p>
        </p:txBody>
      </p:sp>
      <p:sp>
        <p:nvSpPr>
          <p:cNvPr id="153" name="Google Shape;153;p14"/>
          <p:cNvSpPr txBox="1"/>
          <p:nvPr>
            <p:ph type="body" idx="2"/>
          </p:nvPr>
        </p:nvSpPr>
        <p:spPr>
          <a:xfrm>
            <a:off x="6172202" y="1272209"/>
            <a:ext cx="4694583" cy="490475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3B3835"/>
              </a:buClr>
              <a:buSzPts val="3600"/>
              <a:buNone/>
            </a:pPr>
            <a:r>
              <a:rPr lang="en-US" sz="3600" b="1" i="0">
                <a:solidFill>
                  <a:srgbClr val="3B3835"/>
                </a:solidFill>
                <a:latin typeface="Arial" panose="020B0604020202020204"/>
                <a:ea typeface="Arial" panose="020B0604020202020204"/>
                <a:cs typeface="Arial" panose="020B0604020202020204"/>
                <a:sym typeface="Arial" panose="020B0604020202020204"/>
              </a:rPr>
              <a:t>Four Fluids that</a:t>
            </a:r>
            <a:r>
              <a:rPr lang="en-US" sz="3600" b="1" i="0">
                <a:solidFill>
                  <a:srgbClr val="FF0000"/>
                </a:solidFill>
                <a:latin typeface="Arial" panose="020B0604020202020204"/>
                <a:ea typeface="Arial" panose="020B0604020202020204"/>
                <a:cs typeface="Arial" panose="020B0604020202020204"/>
                <a:sym typeface="Arial" panose="020B0604020202020204"/>
              </a:rPr>
              <a:t> can’t </a:t>
            </a:r>
            <a:r>
              <a:rPr lang="en-US" sz="3600" b="1" i="0">
                <a:solidFill>
                  <a:srgbClr val="3B3835"/>
                </a:solidFill>
                <a:latin typeface="Arial" panose="020B0604020202020204"/>
                <a:ea typeface="Arial" panose="020B0604020202020204"/>
                <a:cs typeface="Arial" panose="020B0604020202020204"/>
                <a:sym typeface="Arial" panose="020B0604020202020204"/>
              </a:rPr>
              <a:t>transmit HIV</a:t>
            </a:r>
            <a:endParaRPr lang="en-US" sz="3600" b="1" i="0">
              <a:solidFill>
                <a:srgbClr val="3B3835"/>
              </a:solidFill>
              <a:latin typeface="Arial" panose="020B0604020202020204"/>
              <a:ea typeface="Arial" panose="020B0604020202020204"/>
              <a:cs typeface="Arial" panose="020B0604020202020204"/>
              <a:sym typeface="Arial" panose="020B0604020202020204"/>
            </a:endParaRPr>
          </a:p>
          <a:p>
            <a:pPr marL="514350" lvl="1" indent="-228600" algn="l" rtl="0">
              <a:lnSpc>
                <a:spcPct val="90000"/>
              </a:lnSpc>
              <a:spcBef>
                <a:spcPts val="375"/>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Saliva</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1" indent="-228600" algn="l" rtl="0">
              <a:lnSpc>
                <a:spcPct val="90000"/>
              </a:lnSpc>
              <a:spcBef>
                <a:spcPts val="375"/>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Urine</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1" indent="-228600" algn="l" rtl="0">
              <a:lnSpc>
                <a:spcPct val="90000"/>
              </a:lnSpc>
              <a:spcBef>
                <a:spcPts val="375"/>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Sweat</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1" indent="-228600" algn="l" rtl="0">
              <a:lnSpc>
                <a:spcPct val="90000"/>
              </a:lnSpc>
              <a:spcBef>
                <a:spcPts val="375"/>
              </a:spcBef>
              <a:spcAft>
                <a:spcPts val="0"/>
              </a:spcAft>
              <a:buClr>
                <a:srgbClr val="3B3835"/>
              </a:buClr>
              <a:buSzPts val="3600"/>
              <a:buChar char="•"/>
            </a:pPr>
            <a:r>
              <a:rPr lang="en-US" sz="3600">
                <a:solidFill>
                  <a:srgbClr val="3B3835"/>
                </a:solidFill>
                <a:latin typeface="Arial" panose="020B0604020202020204"/>
                <a:ea typeface="Arial" panose="020B0604020202020204"/>
                <a:cs typeface="Arial" panose="020B0604020202020204"/>
                <a:sym typeface="Arial" panose="020B0604020202020204"/>
              </a:rPr>
              <a:t>T</a:t>
            </a:r>
            <a:r>
              <a:rPr lang="en-US" sz="3600" b="0" i="0">
                <a:solidFill>
                  <a:srgbClr val="3B3835"/>
                </a:solidFill>
                <a:latin typeface="Arial" panose="020B0604020202020204"/>
                <a:ea typeface="Arial" panose="020B0604020202020204"/>
                <a:cs typeface="Arial" panose="020B0604020202020204"/>
                <a:sym typeface="Arial" panose="020B0604020202020204"/>
              </a:rPr>
              <a:t>ears</a:t>
            </a:r>
            <a:endParaRPr sz="3600">
              <a:latin typeface="Arial" panose="020B0604020202020204"/>
              <a:ea typeface="Arial" panose="020B0604020202020204"/>
              <a:cs typeface="Arial" panose="020B0604020202020204"/>
              <a:sym typeface="Arial" panose="020B0604020202020204"/>
            </a:endParaRPr>
          </a:p>
          <a:p>
            <a:pPr marL="171450" lvl="0" indent="-57150" algn="l" rtl="0">
              <a:lnSpc>
                <a:spcPct val="90000"/>
              </a:lnSpc>
              <a:spcBef>
                <a:spcPts val="750"/>
              </a:spcBef>
              <a:spcAft>
                <a:spcPts val="0"/>
              </a:spcAft>
              <a:buClr>
                <a:schemeClr val="dk1"/>
              </a:buClr>
              <a:buSzPts val="1800"/>
              <a:buNone/>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57" name="Shape 157"/>
        <p:cNvGrpSpPr/>
        <p:nvPr/>
      </p:nvGrpSpPr>
      <p:grpSpPr>
        <a:xfrm>
          <a:off x="0" y="0"/>
          <a:ext cx="0" cy="0"/>
          <a:chOff x="0" y="0"/>
          <a:chExt cx="0" cy="0"/>
        </a:xfrm>
      </p:grpSpPr>
      <p:sp>
        <p:nvSpPr>
          <p:cNvPr id="158" name="Google Shape;158;p15"/>
          <p:cNvSpPr txBox="1"/>
          <p:nvPr>
            <p:ph type="title"/>
          </p:nvPr>
        </p:nvSpPr>
        <p:spPr>
          <a:xfrm>
            <a:off x="1433111" y="273686"/>
            <a:ext cx="10515600" cy="64071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br>
              <a:rPr lang="en-US" sz="4000"/>
            </a:br>
            <a:r>
              <a:rPr lang="en-US" sz="4000"/>
              <a:t>Risk factors To HIV infection</a:t>
            </a:r>
            <a:br>
              <a:rPr lang="en-US" sz="4000"/>
            </a:br>
            <a:endParaRPr sz="4000"/>
          </a:p>
        </p:txBody>
      </p:sp>
      <p:sp>
        <p:nvSpPr>
          <p:cNvPr id="159" name="Google Shape;159;p15"/>
          <p:cNvSpPr txBox="1"/>
          <p:nvPr>
            <p:ph type="body" idx="1"/>
          </p:nvPr>
        </p:nvSpPr>
        <p:spPr>
          <a:xfrm>
            <a:off x="838200" y="914401"/>
            <a:ext cx="10515600" cy="5262562"/>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chemeClr val="dk1"/>
              </a:buClr>
              <a:buSzPts val="3200"/>
              <a:buChar char="•"/>
            </a:pPr>
            <a:r>
              <a:rPr lang="en-US" sz="3200">
                <a:latin typeface="Arial" panose="020B0604020202020204"/>
                <a:ea typeface="Arial" panose="020B0604020202020204"/>
                <a:cs typeface="Arial" panose="020B0604020202020204"/>
                <a:sym typeface="Arial" panose="020B0604020202020204"/>
              </a:rPr>
              <a:t>Understanding HIV risk factors is the gateway to implementation of prevention interventions </a:t>
            </a:r>
            <a:endParaRPr lang="en-US" sz="3200">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chemeClr val="dk1"/>
              </a:buClr>
              <a:buSzPts val="3200"/>
              <a:buChar char="•"/>
            </a:pPr>
            <a:r>
              <a:rPr lang="en-US" sz="3200">
                <a:latin typeface="Arial" panose="020B0604020202020204"/>
                <a:ea typeface="Arial" panose="020B0604020202020204"/>
                <a:cs typeface="Arial" panose="020B0604020202020204"/>
                <a:sym typeface="Arial" panose="020B0604020202020204"/>
              </a:rPr>
              <a:t>Some of the circumstances that put individuals at risk of contracting HIV include;</a:t>
            </a:r>
            <a:endParaRPr lang="en-US" sz="3200">
              <a:latin typeface="Arial" panose="020B0604020202020204"/>
              <a:ea typeface="Arial" panose="020B0604020202020204"/>
              <a:cs typeface="Arial" panose="020B0604020202020204"/>
              <a:sym typeface="Arial" panose="020B0604020202020204"/>
            </a:endParaRPr>
          </a:p>
          <a:p>
            <a:pPr marL="514350" lvl="1" indent="-171450" algn="l" rtl="0">
              <a:lnSpc>
                <a:spcPct val="100000"/>
              </a:lnSpc>
              <a:spcBef>
                <a:spcPts val="375"/>
              </a:spcBef>
              <a:spcAft>
                <a:spcPts val="0"/>
              </a:spcAft>
              <a:buClr>
                <a:schemeClr val="dk1"/>
              </a:buClr>
              <a:buSzPts val="2400"/>
              <a:buChar char="•"/>
            </a:pPr>
            <a:r>
              <a:rPr lang="en-US" sz="2400">
                <a:latin typeface="Arial" panose="020B0604020202020204"/>
                <a:ea typeface="Arial" panose="020B0604020202020204"/>
                <a:cs typeface="Arial" panose="020B0604020202020204"/>
                <a:sym typeface="Arial" panose="020B0604020202020204"/>
              </a:rPr>
              <a:t>Unprotected sex (anal or vaginal)</a:t>
            </a:r>
            <a:endParaRPr lang="en-US" sz="2400">
              <a:latin typeface="Arial" panose="020B0604020202020204"/>
              <a:ea typeface="Arial" panose="020B0604020202020204"/>
              <a:cs typeface="Arial" panose="020B0604020202020204"/>
              <a:sym typeface="Arial" panose="020B0604020202020204"/>
            </a:endParaRPr>
          </a:p>
          <a:p>
            <a:pPr marL="514350" lvl="1" indent="-171450" algn="l" rtl="0">
              <a:lnSpc>
                <a:spcPct val="100000"/>
              </a:lnSpc>
              <a:spcBef>
                <a:spcPts val="375"/>
              </a:spcBef>
              <a:spcAft>
                <a:spcPts val="0"/>
              </a:spcAft>
              <a:buClr>
                <a:schemeClr val="dk1"/>
              </a:buClr>
              <a:buSzPts val="2400"/>
              <a:buChar char="•"/>
            </a:pPr>
            <a:r>
              <a:rPr lang="en-US" sz="2400">
                <a:latin typeface="Arial" panose="020B0604020202020204"/>
                <a:ea typeface="Arial" panose="020B0604020202020204"/>
                <a:cs typeface="Arial" panose="020B0604020202020204"/>
                <a:sym typeface="Arial" panose="020B0604020202020204"/>
              </a:rPr>
              <a:t>Presence of  STI i.e. syphilis, herpes, Chlamydia, gonorrhea, bacterial vaginosis </a:t>
            </a:r>
            <a:endParaRPr lang="en-US" sz="2400">
              <a:latin typeface="Arial" panose="020B0604020202020204"/>
              <a:ea typeface="Arial" panose="020B0604020202020204"/>
              <a:cs typeface="Arial" panose="020B0604020202020204"/>
              <a:sym typeface="Arial" panose="020B0604020202020204"/>
            </a:endParaRPr>
          </a:p>
          <a:p>
            <a:pPr marL="514350" lvl="1" indent="-171450" algn="l" rtl="0">
              <a:lnSpc>
                <a:spcPct val="100000"/>
              </a:lnSpc>
              <a:spcBef>
                <a:spcPts val="375"/>
              </a:spcBef>
              <a:spcAft>
                <a:spcPts val="0"/>
              </a:spcAft>
              <a:buClr>
                <a:schemeClr val="dk1"/>
              </a:buClr>
              <a:buSzPts val="2400"/>
              <a:buChar char="•"/>
            </a:pPr>
            <a:r>
              <a:rPr lang="en-US" sz="2400">
                <a:latin typeface="Arial" panose="020B0604020202020204"/>
                <a:ea typeface="Arial" panose="020B0604020202020204"/>
                <a:cs typeface="Arial" panose="020B0604020202020204"/>
                <a:sym typeface="Arial" panose="020B0604020202020204"/>
              </a:rPr>
              <a:t>Sharing IV drug equipment and solutions</a:t>
            </a:r>
            <a:endParaRPr lang="en-US" sz="2400">
              <a:latin typeface="Arial" panose="020B0604020202020204"/>
              <a:ea typeface="Arial" panose="020B0604020202020204"/>
              <a:cs typeface="Arial" panose="020B0604020202020204"/>
              <a:sym typeface="Arial" panose="020B0604020202020204"/>
            </a:endParaRPr>
          </a:p>
          <a:p>
            <a:pPr marL="514350" lvl="1" indent="-171450" algn="l" rtl="0">
              <a:lnSpc>
                <a:spcPct val="100000"/>
              </a:lnSpc>
              <a:spcBef>
                <a:spcPts val="375"/>
              </a:spcBef>
              <a:spcAft>
                <a:spcPts val="0"/>
              </a:spcAft>
              <a:buClr>
                <a:schemeClr val="dk1"/>
              </a:buClr>
              <a:buSzPts val="2400"/>
              <a:buChar char="•"/>
            </a:pPr>
            <a:r>
              <a:rPr lang="en-US" sz="2400">
                <a:latin typeface="Arial" panose="020B0604020202020204"/>
                <a:ea typeface="Arial" panose="020B0604020202020204"/>
                <a:cs typeface="Arial" panose="020B0604020202020204"/>
                <a:sym typeface="Arial" panose="020B0604020202020204"/>
              </a:rPr>
              <a:t>Receiving unsafe injections, blood transfusions, tissue transplantation, medical procedures that involve unsterile cutting or piercing</a:t>
            </a:r>
            <a:endParaRPr lang="en-US" sz="2400">
              <a:latin typeface="Arial" panose="020B0604020202020204"/>
              <a:ea typeface="Arial" panose="020B0604020202020204"/>
              <a:cs typeface="Arial" panose="020B0604020202020204"/>
              <a:sym typeface="Arial" panose="020B0604020202020204"/>
            </a:endParaRPr>
          </a:p>
          <a:p>
            <a:pPr marL="514350" lvl="1" indent="-171450" algn="l" rtl="0">
              <a:lnSpc>
                <a:spcPct val="100000"/>
              </a:lnSpc>
              <a:spcBef>
                <a:spcPts val="375"/>
              </a:spcBef>
              <a:spcAft>
                <a:spcPts val="0"/>
              </a:spcAft>
              <a:buClr>
                <a:schemeClr val="dk1"/>
              </a:buClr>
              <a:buSzPts val="2400"/>
              <a:buChar char="•"/>
            </a:pPr>
            <a:r>
              <a:rPr lang="en-US" sz="2400">
                <a:latin typeface="Arial" panose="020B0604020202020204"/>
                <a:ea typeface="Arial" panose="020B0604020202020204"/>
                <a:cs typeface="Arial" panose="020B0604020202020204"/>
                <a:sym typeface="Arial" panose="020B0604020202020204"/>
              </a:rPr>
              <a:t>Accidental needle stick injuries – Health care workers </a:t>
            </a:r>
            <a:endParaRPr lang="en-US" sz="2400">
              <a:latin typeface="Arial" panose="020B0604020202020204"/>
              <a:ea typeface="Arial" panose="020B0604020202020204"/>
              <a:cs typeface="Arial" panose="020B0604020202020204"/>
              <a:sym typeface="Arial" panose="020B0604020202020204"/>
            </a:endParaRPr>
          </a:p>
          <a:p>
            <a:pPr marL="514350" lvl="1" indent="-171450" algn="l" rtl="0">
              <a:lnSpc>
                <a:spcPct val="100000"/>
              </a:lnSpc>
              <a:spcBef>
                <a:spcPts val="375"/>
              </a:spcBef>
              <a:spcAft>
                <a:spcPts val="0"/>
              </a:spcAft>
              <a:buClr>
                <a:schemeClr val="dk1"/>
              </a:buClr>
              <a:buSzPts val="2400"/>
              <a:buChar char="•"/>
            </a:pPr>
            <a:r>
              <a:rPr lang="en-US" sz="2400">
                <a:latin typeface="Arial" panose="020B0604020202020204"/>
                <a:ea typeface="Arial" panose="020B0604020202020204"/>
                <a:cs typeface="Arial" panose="020B0604020202020204"/>
                <a:sym typeface="Arial" panose="020B0604020202020204"/>
              </a:rPr>
              <a:t>HIV positive mother to child at pregnancy, birth, breastfeeding</a:t>
            </a:r>
            <a:endParaRPr lang="en-US" sz="2400">
              <a:latin typeface="Arial" panose="020B0604020202020204"/>
              <a:ea typeface="Arial" panose="020B0604020202020204"/>
              <a:cs typeface="Arial" panose="020B0604020202020204"/>
              <a:sym typeface="Arial" panose="020B0604020202020204"/>
            </a:endParaRPr>
          </a:p>
          <a:p>
            <a:pPr marL="171450" lvl="0" indent="-57150" algn="l" rtl="0">
              <a:lnSpc>
                <a:spcPct val="90000"/>
              </a:lnSpc>
              <a:spcBef>
                <a:spcPts val="750"/>
              </a:spcBef>
              <a:spcAft>
                <a:spcPts val="0"/>
              </a:spcAft>
              <a:buClr>
                <a:schemeClr val="dk1"/>
              </a:buClr>
              <a:buSzPts val="1800"/>
              <a:buNone/>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63" name="Shape 163"/>
        <p:cNvGrpSpPr/>
        <p:nvPr/>
      </p:nvGrpSpPr>
      <p:grpSpPr>
        <a:xfrm>
          <a:off x="0" y="0"/>
          <a:ext cx="0" cy="0"/>
          <a:chOff x="0" y="0"/>
          <a:chExt cx="0" cy="0"/>
        </a:xfrm>
      </p:grpSpPr>
      <p:sp>
        <p:nvSpPr>
          <p:cNvPr id="164" name="Google Shape;164;p16"/>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4000" i="0">
                <a:solidFill>
                  <a:srgbClr val="3B3835"/>
                </a:solidFill>
              </a:rPr>
              <a:t>How Does HIV get into a T Cell?</a:t>
            </a:r>
            <a:endParaRPr sz="4000"/>
          </a:p>
        </p:txBody>
      </p:sp>
      <p:sp>
        <p:nvSpPr>
          <p:cNvPr id="165" name="Google Shape;165;p16"/>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rgbClr val="3B3835"/>
              </a:buClr>
              <a:buSzPts val="3600"/>
              <a:buFont typeface="Arial" panose="020B0604020202020204"/>
              <a:buAutoNum type="arabicPeriod"/>
            </a:pPr>
            <a:r>
              <a:rPr lang="en-US" sz="3600" b="0" i="0">
                <a:solidFill>
                  <a:srgbClr val="3B3835"/>
                </a:solidFill>
                <a:latin typeface="Arial" panose="020B0604020202020204"/>
                <a:ea typeface="Arial" panose="020B0604020202020204"/>
                <a:cs typeface="Arial" panose="020B0604020202020204"/>
                <a:sym typeface="Arial" panose="020B0604020202020204"/>
              </a:rPr>
              <a:t> HIV attaches to infection fighting T4 cell</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0" indent="-514350" algn="l" rtl="0">
              <a:lnSpc>
                <a:spcPct val="90000"/>
              </a:lnSpc>
              <a:spcBef>
                <a:spcPts val="750"/>
              </a:spcBef>
              <a:spcAft>
                <a:spcPts val="0"/>
              </a:spcAft>
              <a:buClr>
                <a:srgbClr val="3B3835"/>
              </a:buClr>
              <a:buSzPts val="3600"/>
              <a:buFont typeface="Arial" panose="020B0604020202020204"/>
              <a:buAutoNum type="arabicPeriod"/>
            </a:pPr>
            <a:r>
              <a:rPr lang="en-US" sz="3600" b="0" i="0">
                <a:solidFill>
                  <a:srgbClr val="3B3835"/>
                </a:solidFill>
                <a:latin typeface="Arial" panose="020B0604020202020204"/>
                <a:ea typeface="Arial" panose="020B0604020202020204"/>
                <a:cs typeface="Arial" panose="020B0604020202020204"/>
                <a:sym typeface="Arial" panose="020B0604020202020204"/>
              </a:rPr>
              <a:t> Locks on to two entry areas of the T4 cell at once. (Keys in lock)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0" indent="-514350" algn="l" rtl="0">
              <a:lnSpc>
                <a:spcPct val="90000"/>
              </a:lnSpc>
              <a:spcBef>
                <a:spcPts val="750"/>
              </a:spcBef>
              <a:spcAft>
                <a:spcPts val="0"/>
              </a:spcAft>
              <a:buClr>
                <a:srgbClr val="3B3835"/>
              </a:buClr>
              <a:buSzPts val="3600"/>
              <a:buFont typeface="Arial" panose="020B0604020202020204"/>
              <a:buAutoNum type="arabicPeriod"/>
            </a:pPr>
            <a:r>
              <a:rPr lang="en-US" sz="3600" b="0" i="0">
                <a:solidFill>
                  <a:srgbClr val="3B3835"/>
                </a:solidFill>
                <a:latin typeface="Arial" panose="020B0604020202020204"/>
                <a:ea typeface="Arial" panose="020B0604020202020204"/>
                <a:cs typeface="Arial" panose="020B0604020202020204"/>
                <a:sym typeface="Arial" panose="020B0604020202020204"/>
              </a:rPr>
              <a:t>Tricks T4 cell to allow Virus RNA to enter</a:t>
            </a:r>
            <a:endParaRPr sz="36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sp>
        <p:nvSpPr>
          <p:cNvPr id="170" name="Google Shape;170;p17"/>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4000" i="0">
                <a:solidFill>
                  <a:srgbClr val="3B3835"/>
                </a:solidFill>
              </a:rPr>
              <a:t>What Does HIV do inside a T Cell?</a:t>
            </a:r>
            <a:endParaRPr sz="4000"/>
          </a:p>
        </p:txBody>
      </p:sp>
      <p:sp>
        <p:nvSpPr>
          <p:cNvPr id="171" name="Google Shape;171;p17"/>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rgbClr val="3B3835"/>
              </a:buClr>
              <a:buSzPts val="3600"/>
              <a:buFont typeface="Arial" panose="020B0604020202020204"/>
              <a:buAutoNum type="arabicPeriod"/>
            </a:pPr>
            <a:r>
              <a:rPr lang="en-US" sz="3600" b="0" i="0">
                <a:solidFill>
                  <a:srgbClr val="3B3835"/>
                </a:solidFill>
                <a:latin typeface="Arial" panose="020B0604020202020204"/>
                <a:ea typeface="Arial" panose="020B0604020202020204"/>
                <a:cs typeface="Arial" panose="020B0604020202020204"/>
                <a:sym typeface="Arial" panose="020B0604020202020204"/>
              </a:rPr>
              <a:t>Virus’s RNA changes into DNA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0" indent="-514350" algn="l" rtl="0">
              <a:lnSpc>
                <a:spcPct val="90000"/>
              </a:lnSpc>
              <a:spcBef>
                <a:spcPts val="750"/>
              </a:spcBef>
              <a:spcAft>
                <a:spcPts val="0"/>
              </a:spcAft>
              <a:buClr>
                <a:srgbClr val="3B3835"/>
              </a:buClr>
              <a:buSzPts val="3600"/>
              <a:buFont typeface="Arial" panose="020B0604020202020204"/>
              <a:buAutoNum type="arabicPeriod"/>
            </a:pPr>
            <a:r>
              <a:rPr lang="en-US" sz="3600" b="0" i="0">
                <a:solidFill>
                  <a:srgbClr val="3B3835"/>
                </a:solidFill>
                <a:latin typeface="Arial" panose="020B0604020202020204"/>
                <a:ea typeface="Arial" panose="020B0604020202020204"/>
                <a:cs typeface="Arial" panose="020B0604020202020204"/>
                <a:sym typeface="Arial" panose="020B0604020202020204"/>
              </a:rPr>
              <a:t>Enters Cell nucleus &amp; becomes part of Host’s DNA!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0" indent="-514350" algn="l" rtl="0">
              <a:lnSpc>
                <a:spcPct val="90000"/>
              </a:lnSpc>
              <a:spcBef>
                <a:spcPts val="750"/>
              </a:spcBef>
              <a:spcAft>
                <a:spcPts val="0"/>
              </a:spcAft>
              <a:buClr>
                <a:srgbClr val="3B3835"/>
              </a:buClr>
              <a:buSzPts val="3600"/>
              <a:buFont typeface="Arial" panose="020B0604020202020204"/>
              <a:buAutoNum type="arabicPeriod"/>
            </a:pPr>
            <a:r>
              <a:rPr lang="en-US" sz="3600" b="0" i="0">
                <a:solidFill>
                  <a:srgbClr val="3B3835"/>
                </a:solidFill>
                <a:latin typeface="Arial" panose="020B0604020202020204"/>
                <a:ea typeface="Arial" panose="020B0604020202020204"/>
                <a:cs typeface="Arial" panose="020B0604020202020204"/>
                <a:sym typeface="Arial" panose="020B0604020202020204"/>
              </a:rPr>
              <a:t>Programs T cell to produce virus in abundance</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0" indent="-514350" algn="l" rtl="0">
              <a:lnSpc>
                <a:spcPct val="90000"/>
              </a:lnSpc>
              <a:spcBef>
                <a:spcPts val="750"/>
              </a:spcBef>
              <a:spcAft>
                <a:spcPts val="0"/>
              </a:spcAft>
              <a:buClr>
                <a:srgbClr val="3B3835"/>
              </a:buClr>
              <a:buSzPts val="3600"/>
              <a:buFont typeface="Arial" panose="020B0604020202020204"/>
              <a:buAutoNum type="arabicPeriod"/>
            </a:pPr>
            <a:r>
              <a:rPr lang="en-US" sz="3600" b="0" i="0">
                <a:solidFill>
                  <a:srgbClr val="3B3835"/>
                </a:solidFill>
                <a:latin typeface="Arial" panose="020B0604020202020204"/>
                <a:ea typeface="Arial" panose="020B0604020202020204"/>
                <a:cs typeface="Arial" panose="020B0604020202020204"/>
                <a:sym typeface="Arial" panose="020B0604020202020204"/>
              </a:rPr>
              <a:t>New viruses bud off Host T cell, killing T cell, &amp; enters bloodstream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0" indent="-514350" algn="l" rtl="0">
              <a:lnSpc>
                <a:spcPct val="90000"/>
              </a:lnSpc>
              <a:spcBef>
                <a:spcPts val="750"/>
              </a:spcBef>
              <a:spcAft>
                <a:spcPts val="0"/>
              </a:spcAft>
              <a:buClr>
                <a:srgbClr val="3B3835"/>
              </a:buClr>
              <a:buSzPts val="3600"/>
              <a:buFont typeface="Arial" panose="020B0604020202020204"/>
              <a:buAutoNum type="arabicPeriod"/>
            </a:pPr>
            <a:r>
              <a:rPr lang="en-US" sz="3600" b="0" i="0">
                <a:solidFill>
                  <a:srgbClr val="3B3835"/>
                </a:solidFill>
                <a:latin typeface="Arial" panose="020B0604020202020204"/>
                <a:ea typeface="Arial" panose="020B0604020202020204"/>
                <a:cs typeface="Arial" panose="020B0604020202020204"/>
                <a:sym typeface="Arial" panose="020B0604020202020204"/>
              </a:rPr>
              <a:t>New HIV viruses infect more T cells</a:t>
            </a:r>
            <a:endParaRPr sz="36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75" name="Shape 175"/>
        <p:cNvGrpSpPr/>
        <p:nvPr/>
      </p:nvGrpSpPr>
      <p:grpSpPr>
        <a:xfrm>
          <a:off x="0" y="0"/>
          <a:ext cx="0" cy="0"/>
          <a:chOff x="0" y="0"/>
          <a:chExt cx="0" cy="0"/>
        </a:xfrm>
      </p:grpSpPr>
      <p:sp>
        <p:nvSpPr>
          <p:cNvPr id="176" name="Google Shape;176;p18"/>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400"/>
              <a:buNone/>
            </a:pPr>
            <a:r>
              <a:rPr lang="en-US" sz="4000" i="0">
                <a:solidFill>
                  <a:srgbClr val="3B3835"/>
                </a:solidFill>
              </a:rPr>
              <a:t>What is the “Window Period?”</a:t>
            </a:r>
            <a:endParaRPr sz="4000"/>
          </a:p>
        </p:txBody>
      </p:sp>
      <p:sp>
        <p:nvSpPr>
          <p:cNvPr id="177" name="Google Shape;177;p18"/>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rmAutofit/>
          </a:bodyPr>
          <a:lstStyle/>
          <a:p>
            <a:pPr marL="171450" lvl="0" indent="-171450" algn="l" rtl="0">
              <a:lnSpc>
                <a:spcPct val="90000"/>
              </a:lnSpc>
              <a:spcBef>
                <a:spcPts val="0"/>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The time period between a person’s exposure &amp; actual infection with HIV and until antibodies are detectable in the body.</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 After three months there are usually enough antibodies to show on an AIDS test.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Nearly all people (99%) develop antibodies by THREE months.</a:t>
            </a:r>
            <a:endParaRPr sz="36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81" name="Shape 181"/>
        <p:cNvGrpSpPr/>
        <p:nvPr/>
      </p:nvGrpSpPr>
      <p:grpSpPr>
        <a:xfrm>
          <a:off x="0" y="0"/>
          <a:ext cx="0" cy="0"/>
          <a:chOff x="0" y="0"/>
          <a:chExt cx="0" cy="0"/>
        </a:xfrm>
      </p:grpSpPr>
      <p:sp>
        <p:nvSpPr>
          <p:cNvPr id="182" name="Google Shape;182;p19"/>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4000" i="0">
                <a:solidFill>
                  <a:srgbClr val="3B3835"/>
                </a:solidFill>
              </a:rPr>
              <a:t>HIV and the Immune System </a:t>
            </a:r>
            <a:endParaRPr sz="4000"/>
          </a:p>
        </p:txBody>
      </p:sp>
      <p:sp>
        <p:nvSpPr>
          <p:cNvPr id="183" name="Google Shape;183;p19"/>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rmAutofit/>
          </a:bodyPr>
          <a:lstStyle/>
          <a:p>
            <a:pPr marL="171450" lvl="0" indent="-171450" algn="l" rtl="0">
              <a:lnSpc>
                <a:spcPct val="90000"/>
              </a:lnSpc>
              <a:spcBef>
                <a:spcPts val="0"/>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A person can be HIV infected and not have AIDS if the person’s immune system is intact.</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 Often this period is from 8-10 years. Has no symptoms, person is a carrier. </a:t>
            </a:r>
            <a:endParaRPr sz="360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After this period, the immune system begins to lose the fight. At this point the person has AIDS </a:t>
            </a:r>
            <a:endParaRPr sz="36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87" name="Shape 187"/>
        <p:cNvGrpSpPr/>
        <p:nvPr/>
      </p:nvGrpSpPr>
      <p:grpSpPr>
        <a:xfrm>
          <a:off x="0" y="0"/>
          <a:ext cx="0" cy="0"/>
          <a:chOff x="0" y="0"/>
          <a:chExt cx="0" cy="0"/>
        </a:xfrm>
      </p:grpSpPr>
      <p:sp>
        <p:nvSpPr>
          <p:cNvPr id="188" name="Google Shape;188;p20"/>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4000" i="0">
                <a:solidFill>
                  <a:srgbClr val="3B3835"/>
                </a:solidFill>
              </a:rPr>
              <a:t>What does AIDS stand for?</a:t>
            </a:r>
            <a:endParaRPr sz="4000"/>
          </a:p>
        </p:txBody>
      </p:sp>
      <p:sp>
        <p:nvSpPr>
          <p:cNvPr id="189" name="Google Shape;189;p20"/>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rmAutofit/>
          </a:bodyPr>
          <a:lstStyle/>
          <a:p>
            <a:pPr marL="171450" lvl="0" indent="-171450" algn="l" rtl="0">
              <a:lnSpc>
                <a:spcPct val="90000"/>
              </a:lnSpc>
              <a:spcBef>
                <a:spcPts val="0"/>
              </a:spcBef>
              <a:spcAft>
                <a:spcPts val="0"/>
              </a:spcAft>
              <a:buClr>
                <a:srgbClr val="FF0000"/>
              </a:buClr>
              <a:buSzPts val="3600"/>
              <a:buChar char="•"/>
            </a:pPr>
            <a:r>
              <a:rPr lang="en-US" sz="3600" b="0" i="0">
                <a:solidFill>
                  <a:srgbClr val="FF0000"/>
                </a:solidFill>
                <a:latin typeface="Arial" panose="020B0604020202020204"/>
                <a:ea typeface="Arial" panose="020B0604020202020204"/>
                <a:cs typeface="Arial" panose="020B0604020202020204"/>
                <a:sym typeface="Arial" panose="020B0604020202020204"/>
              </a:rPr>
              <a:t>A. </a:t>
            </a:r>
            <a:r>
              <a:rPr lang="en-US" sz="3600" b="0" i="0">
                <a:solidFill>
                  <a:srgbClr val="3B3835"/>
                </a:solidFill>
                <a:latin typeface="Arial" panose="020B0604020202020204"/>
                <a:ea typeface="Arial" panose="020B0604020202020204"/>
                <a:cs typeface="Arial" panose="020B0604020202020204"/>
                <a:sym typeface="Arial" panose="020B0604020202020204"/>
              </a:rPr>
              <a:t>Acquired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FF0000"/>
              </a:buClr>
              <a:buSzPts val="3600"/>
              <a:buChar char="•"/>
            </a:pPr>
            <a:r>
              <a:rPr lang="en-US" sz="3600" b="0" i="0">
                <a:solidFill>
                  <a:srgbClr val="FF0000"/>
                </a:solidFill>
                <a:latin typeface="Arial" panose="020B0604020202020204"/>
                <a:ea typeface="Arial" panose="020B0604020202020204"/>
                <a:cs typeface="Arial" panose="020B0604020202020204"/>
                <a:sym typeface="Arial" panose="020B0604020202020204"/>
              </a:rPr>
              <a:t>I. </a:t>
            </a:r>
            <a:r>
              <a:rPr lang="en-US" sz="3600" b="0" i="0">
                <a:solidFill>
                  <a:srgbClr val="3B3835"/>
                </a:solidFill>
                <a:latin typeface="Arial" panose="020B0604020202020204"/>
                <a:ea typeface="Arial" panose="020B0604020202020204"/>
                <a:cs typeface="Arial" panose="020B0604020202020204"/>
                <a:sym typeface="Arial" panose="020B0604020202020204"/>
              </a:rPr>
              <a:t>Immune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FF0000"/>
              </a:buClr>
              <a:buSzPts val="3600"/>
              <a:buChar char="•"/>
            </a:pPr>
            <a:r>
              <a:rPr lang="en-US" sz="3600" b="0" i="0">
                <a:solidFill>
                  <a:srgbClr val="FF0000"/>
                </a:solidFill>
                <a:latin typeface="Arial" panose="020B0604020202020204"/>
                <a:ea typeface="Arial" panose="020B0604020202020204"/>
                <a:cs typeface="Arial" panose="020B0604020202020204"/>
                <a:sym typeface="Arial" panose="020B0604020202020204"/>
              </a:rPr>
              <a:t>D. </a:t>
            </a:r>
            <a:r>
              <a:rPr lang="en-US" sz="3600" b="0" i="0">
                <a:solidFill>
                  <a:srgbClr val="3B3835"/>
                </a:solidFill>
                <a:latin typeface="Arial" panose="020B0604020202020204"/>
                <a:ea typeface="Arial" panose="020B0604020202020204"/>
                <a:cs typeface="Arial" panose="020B0604020202020204"/>
                <a:sym typeface="Arial" panose="020B0604020202020204"/>
              </a:rPr>
              <a:t>Deficiency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FF0000"/>
              </a:buClr>
              <a:buSzPts val="3600"/>
              <a:buChar char="•"/>
            </a:pPr>
            <a:r>
              <a:rPr lang="en-US" sz="3600" b="0" i="0">
                <a:solidFill>
                  <a:srgbClr val="FF0000"/>
                </a:solidFill>
                <a:latin typeface="Arial" panose="020B0604020202020204"/>
                <a:ea typeface="Arial" panose="020B0604020202020204"/>
                <a:cs typeface="Arial" panose="020B0604020202020204"/>
                <a:sym typeface="Arial" panose="020B0604020202020204"/>
              </a:rPr>
              <a:t>S. </a:t>
            </a:r>
            <a:r>
              <a:rPr lang="en-US" sz="3600" b="0" i="0">
                <a:solidFill>
                  <a:srgbClr val="3B3835"/>
                </a:solidFill>
                <a:latin typeface="Arial" panose="020B0604020202020204"/>
                <a:ea typeface="Arial" panose="020B0604020202020204"/>
                <a:cs typeface="Arial" panose="020B0604020202020204"/>
                <a:sym typeface="Arial" panose="020B0604020202020204"/>
              </a:rPr>
              <a:t>Syndrome</a:t>
            </a:r>
            <a:endParaRPr sz="36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93" name="Shape 193"/>
        <p:cNvGrpSpPr/>
        <p:nvPr/>
      </p:nvGrpSpPr>
      <p:grpSpPr>
        <a:xfrm>
          <a:off x="0" y="0"/>
          <a:ext cx="0" cy="0"/>
          <a:chOff x="0" y="0"/>
          <a:chExt cx="0" cy="0"/>
        </a:xfrm>
      </p:grpSpPr>
      <p:sp>
        <p:nvSpPr>
          <p:cNvPr id="194" name="Google Shape;194;p21"/>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4000" i="0">
                <a:solidFill>
                  <a:srgbClr val="3B3835"/>
                </a:solidFill>
              </a:rPr>
              <a:t>WHAT IS AIDS ?</a:t>
            </a:r>
            <a:endParaRPr sz="4000"/>
          </a:p>
        </p:txBody>
      </p:sp>
      <p:sp>
        <p:nvSpPr>
          <p:cNvPr id="195" name="Google Shape;195;p21"/>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The Late stage of HIV infection</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 A group of symptoms &amp; signs of disease that occur together.</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Severe immune system breakdown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1" indent="-228600" algn="l" rtl="0">
              <a:lnSpc>
                <a:spcPct val="90000"/>
              </a:lnSpc>
              <a:spcBef>
                <a:spcPts val="375"/>
              </a:spcBef>
              <a:spcAft>
                <a:spcPts val="0"/>
              </a:spcAft>
              <a:buClr>
                <a:srgbClr val="3B3835"/>
              </a:buClr>
              <a:buSzPts val="3600"/>
              <a:buChar char="•"/>
            </a:pPr>
            <a:r>
              <a:rPr lang="en-US" sz="3600" b="0" i="0">
                <a:solidFill>
                  <a:srgbClr val="3B3835"/>
                </a:solidFill>
                <a:latin typeface="Arial" panose="020B0604020202020204"/>
                <a:ea typeface="Arial" panose="020B0604020202020204"/>
                <a:cs typeface="Arial" panose="020B0604020202020204"/>
                <a:sym typeface="Arial" panose="020B0604020202020204"/>
              </a:rPr>
              <a:t> Less than 200 T cells (or CD4 cells). Normal 1000 </a:t>
            </a:r>
            <a:endParaRPr lang="en-US" sz="3600" b="0" i="0">
              <a:solidFill>
                <a:srgbClr val="3B3835"/>
              </a:solidFill>
              <a:latin typeface="Arial" panose="020B0604020202020204"/>
              <a:ea typeface="Arial" panose="020B0604020202020204"/>
              <a:cs typeface="Arial" panose="020B0604020202020204"/>
              <a:sym typeface="Arial" panose="020B0604020202020204"/>
            </a:endParaRPr>
          </a:p>
          <a:p>
            <a:pPr marL="514350" lvl="1" indent="-76200" algn="l" rtl="0">
              <a:lnSpc>
                <a:spcPct val="90000"/>
              </a:lnSpc>
              <a:spcBef>
                <a:spcPts val="375"/>
              </a:spcBef>
              <a:spcAft>
                <a:spcPts val="0"/>
              </a:spcAft>
              <a:buClr>
                <a:schemeClr val="dk1"/>
              </a:buClr>
              <a:buSzPts val="1500"/>
              <a:buNone/>
            </a:p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99" name="Shape 199"/>
        <p:cNvGrpSpPr/>
        <p:nvPr/>
      </p:nvGrpSpPr>
      <p:grpSpPr>
        <a:xfrm>
          <a:off x="0" y="0"/>
          <a:ext cx="0" cy="0"/>
          <a:chOff x="0" y="0"/>
          <a:chExt cx="0" cy="0"/>
        </a:xfrm>
      </p:grpSpPr>
      <p:pic>
        <p:nvPicPr>
          <p:cNvPr id="200" name="Google Shape;200;p22"/>
          <p:cNvPicPr preferRelativeResize="0"/>
          <p:nvPr/>
        </p:nvPicPr>
        <p:blipFill rotWithShape="1">
          <a:blip r:embed="rId1"/>
          <a:srcRect/>
          <a:stretch>
            <a:fillRect/>
          </a:stretch>
        </p:blipFill>
        <p:spPr>
          <a:xfrm>
            <a:off x="539577" y="365124"/>
            <a:ext cx="11283818" cy="606039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05" name="Shape 205"/>
        <p:cNvGrpSpPr/>
        <p:nvPr/>
      </p:nvGrpSpPr>
      <p:grpSpPr>
        <a:xfrm>
          <a:off x="0" y="0"/>
          <a:ext cx="0" cy="0"/>
          <a:chOff x="0" y="0"/>
          <a:chExt cx="0" cy="0"/>
        </a:xfrm>
      </p:grpSpPr>
      <p:sp>
        <p:nvSpPr>
          <p:cNvPr id="206" name="Google Shape;206;p23"/>
          <p:cNvSpPr txBox="1"/>
          <p:nvPr>
            <p:ph type="title"/>
          </p:nvPr>
        </p:nvSpPr>
        <p:spPr>
          <a:xfrm>
            <a:off x="838200" y="165100"/>
            <a:ext cx="10515600" cy="72072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US" sz="4000"/>
              <a:t>Understanding HIV</a:t>
            </a:r>
            <a:endParaRPr lang="en-US" sz="4000"/>
          </a:p>
        </p:txBody>
      </p:sp>
      <p:pic>
        <p:nvPicPr>
          <p:cNvPr id="207" name="Google Shape;207;p23"/>
          <p:cNvPicPr preferRelativeResize="0"/>
          <p:nvPr/>
        </p:nvPicPr>
        <p:blipFill rotWithShape="1">
          <a:blip r:embed="rId1"/>
          <a:srcRect/>
          <a:stretch>
            <a:fillRect/>
          </a:stretch>
        </p:blipFill>
        <p:spPr>
          <a:xfrm>
            <a:off x="1371600" y="885825"/>
            <a:ext cx="9982200" cy="5057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11" name="Shape 211"/>
        <p:cNvGrpSpPr/>
        <p:nvPr/>
      </p:nvGrpSpPr>
      <p:grpSpPr>
        <a:xfrm>
          <a:off x="0" y="0"/>
          <a:ext cx="0" cy="0"/>
          <a:chOff x="0" y="0"/>
          <a:chExt cx="0" cy="0"/>
        </a:xfrm>
      </p:grpSpPr>
      <p:sp>
        <p:nvSpPr>
          <p:cNvPr id="212" name="Google Shape;212;p24"/>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4000" i="0">
                <a:solidFill>
                  <a:srgbClr val="3B3835"/>
                </a:solidFill>
              </a:rPr>
              <a:t>What happens to someone with full blown AIDS?</a:t>
            </a:r>
            <a:endParaRPr sz="4000"/>
          </a:p>
        </p:txBody>
      </p:sp>
      <p:sp>
        <p:nvSpPr>
          <p:cNvPr id="213" name="Google Shape;213;p24"/>
          <p:cNvSpPr txBox="1"/>
          <p:nvPr>
            <p:ph type="body" idx="1"/>
          </p:nvPr>
        </p:nvSpPr>
        <p:spPr>
          <a:xfrm>
            <a:off x="685800" y="826265"/>
            <a:ext cx="11117179" cy="4263093"/>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rgbClr val="3B3835"/>
              </a:buClr>
              <a:buSzPts val="3200"/>
              <a:buChar char="•"/>
            </a:pPr>
            <a:r>
              <a:rPr lang="en-US" sz="3200" b="0" i="0">
                <a:solidFill>
                  <a:srgbClr val="3B3835"/>
                </a:solidFill>
                <a:latin typeface="Arial" panose="020B0604020202020204"/>
                <a:ea typeface="Arial" panose="020B0604020202020204"/>
                <a:cs typeface="Arial" panose="020B0604020202020204"/>
                <a:sym typeface="Arial" panose="020B0604020202020204"/>
              </a:rPr>
              <a:t>Immune system breaks down =&gt; frequent Hospitalization </a:t>
            </a:r>
            <a:endParaRPr lang="en-US" sz="3200" b="0" i="0">
              <a:solidFill>
                <a:srgbClr val="3B3835"/>
              </a:solidFill>
              <a:latin typeface="Arial" panose="020B0604020202020204"/>
              <a:ea typeface="Arial" panose="020B0604020202020204"/>
              <a:cs typeface="Arial" panose="020B0604020202020204"/>
              <a:sym typeface="Arial" panose="020B0604020202020204"/>
            </a:endParaRPr>
          </a:p>
          <a:p>
            <a:pPr marL="171450" lvl="0" indent="-171450" algn="l" rtl="0">
              <a:lnSpc>
                <a:spcPct val="90000"/>
              </a:lnSpc>
              <a:spcBef>
                <a:spcPts val="750"/>
              </a:spcBef>
              <a:spcAft>
                <a:spcPts val="0"/>
              </a:spcAft>
              <a:buClr>
                <a:srgbClr val="3B3835"/>
              </a:buClr>
              <a:buSzPts val="3200"/>
              <a:buChar char="•"/>
            </a:pPr>
            <a:r>
              <a:rPr lang="en-US" sz="3200" b="0" i="0">
                <a:solidFill>
                  <a:srgbClr val="3B3835"/>
                </a:solidFill>
                <a:latin typeface="Arial" panose="020B0604020202020204"/>
                <a:ea typeface="Arial" panose="020B0604020202020204"/>
                <a:cs typeface="Arial" panose="020B0604020202020204"/>
                <a:sym typeface="Arial" panose="020B0604020202020204"/>
              </a:rPr>
              <a:t>Cause of death - a variety of normally preventable diseases( Opportunistic Infections) such as;</a:t>
            </a:r>
            <a:endParaRPr lang="en-US" sz="3200" b="0" i="0">
              <a:solidFill>
                <a:srgbClr val="3B3835"/>
              </a:solidFill>
              <a:latin typeface="Arial" panose="020B0604020202020204"/>
              <a:ea typeface="Arial" panose="020B0604020202020204"/>
              <a:cs typeface="Arial" panose="020B0604020202020204"/>
              <a:sym typeface="Arial" panose="020B0604020202020204"/>
            </a:endParaRPr>
          </a:p>
          <a:p>
            <a:pPr marL="514350" lvl="1" indent="-203200" algn="l" rtl="0">
              <a:lnSpc>
                <a:spcPct val="90000"/>
              </a:lnSpc>
              <a:spcBef>
                <a:spcPts val="375"/>
              </a:spcBef>
              <a:spcAft>
                <a:spcPts val="0"/>
              </a:spcAft>
              <a:buClr>
                <a:srgbClr val="3B3835"/>
              </a:buClr>
              <a:buSzPts val="3200"/>
              <a:buChar char="•"/>
            </a:pPr>
            <a:r>
              <a:rPr lang="en-US" sz="3200" b="0" i="0">
                <a:solidFill>
                  <a:srgbClr val="3B3835"/>
                </a:solidFill>
                <a:latin typeface="Arial" panose="020B0604020202020204"/>
                <a:ea typeface="Arial" panose="020B0604020202020204"/>
                <a:cs typeface="Arial" panose="020B0604020202020204"/>
                <a:sym typeface="Arial" panose="020B0604020202020204"/>
              </a:rPr>
              <a:t> Pneumonia </a:t>
            </a:r>
            <a:endParaRPr sz="3200">
              <a:solidFill>
                <a:srgbClr val="3B3835"/>
              </a:solidFill>
              <a:latin typeface="Arial" panose="020B0604020202020204"/>
              <a:ea typeface="Arial" panose="020B0604020202020204"/>
              <a:cs typeface="Arial" panose="020B0604020202020204"/>
              <a:sym typeface="Arial" panose="020B0604020202020204"/>
            </a:endParaRPr>
          </a:p>
          <a:p>
            <a:pPr marL="514350" lvl="1" indent="-203200" algn="l" rtl="0">
              <a:lnSpc>
                <a:spcPct val="90000"/>
              </a:lnSpc>
              <a:spcBef>
                <a:spcPts val="375"/>
              </a:spcBef>
              <a:spcAft>
                <a:spcPts val="0"/>
              </a:spcAft>
              <a:buClr>
                <a:srgbClr val="3B3835"/>
              </a:buClr>
              <a:buSzPts val="3200"/>
              <a:buChar char="•"/>
            </a:pPr>
            <a:r>
              <a:rPr lang="en-US" sz="3200" b="0" i="0">
                <a:solidFill>
                  <a:srgbClr val="3B3835"/>
                </a:solidFill>
                <a:latin typeface="Arial" panose="020B0604020202020204"/>
                <a:ea typeface="Arial" panose="020B0604020202020204"/>
                <a:cs typeface="Arial" panose="020B0604020202020204"/>
                <a:sym typeface="Arial" panose="020B0604020202020204"/>
              </a:rPr>
              <a:t>Toxoplasmosis</a:t>
            </a:r>
            <a:endParaRPr lang="en-US" sz="3200" b="0" i="0">
              <a:solidFill>
                <a:srgbClr val="3B3835"/>
              </a:solidFill>
              <a:latin typeface="Arial" panose="020B0604020202020204"/>
              <a:ea typeface="Arial" panose="020B0604020202020204"/>
              <a:cs typeface="Arial" panose="020B0604020202020204"/>
              <a:sym typeface="Arial" panose="020B0604020202020204"/>
            </a:endParaRPr>
          </a:p>
          <a:p>
            <a:pPr marL="514350" lvl="1" indent="-203200" algn="l" rtl="0">
              <a:lnSpc>
                <a:spcPct val="90000"/>
              </a:lnSpc>
              <a:spcBef>
                <a:spcPts val="375"/>
              </a:spcBef>
              <a:spcAft>
                <a:spcPts val="0"/>
              </a:spcAft>
              <a:buClr>
                <a:srgbClr val="3B3835"/>
              </a:buClr>
              <a:buSzPts val="3200"/>
              <a:buChar char="•"/>
            </a:pPr>
            <a:r>
              <a:rPr lang="en-US" sz="3200" b="0" i="0">
                <a:solidFill>
                  <a:srgbClr val="3B3835"/>
                </a:solidFill>
                <a:latin typeface="Arial" panose="020B0604020202020204"/>
                <a:ea typeface="Arial" panose="020B0604020202020204"/>
                <a:cs typeface="Arial" panose="020B0604020202020204"/>
                <a:sym typeface="Arial" panose="020B0604020202020204"/>
              </a:rPr>
              <a:t>Kaposi’s sarcoma</a:t>
            </a:r>
            <a:endParaRPr lang="en-US" sz="3200" b="0" i="0">
              <a:solidFill>
                <a:srgbClr val="3B3835"/>
              </a:solidFill>
              <a:latin typeface="Arial" panose="020B0604020202020204"/>
              <a:ea typeface="Arial" panose="020B0604020202020204"/>
              <a:cs typeface="Arial" panose="020B0604020202020204"/>
              <a:sym typeface="Arial" panose="020B0604020202020204"/>
            </a:endParaRPr>
          </a:p>
          <a:p>
            <a:pPr marL="514350" lvl="1" indent="-203200" algn="l" rtl="0">
              <a:lnSpc>
                <a:spcPct val="90000"/>
              </a:lnSpc>
              <a:spcBef>
                <a:spcPts val="375"/>
              </a:spcBef>
              <a:spcAft>
                <a:spcPts val="0"/>
              </a:spcAft>
              <a:buClr>
                <a:srgbClr val="3B3835"/>
              </a:buClr>
              <a:buSzPts val="3200"/>
              <a:buChar char="•"/>
            </a:pPr>
            <a:r>
              <a:rPr lang="en-US" sz="3200" b="0" i="0">
                <a:solidFill>
                  <a:srgbClr val="3B3835"/>
                </a:solidFill>
                <a:latin typeface="Arial" panose="020B0604020202020204"/>
                <a:ea typeface="Arial" panose="020B0604020202020204"/>
                <a:cs typeface="Arial" panose="020B0604020202020204"/>
                <a:sym typeface="Arial" panose="020B0604020202020204"/>
              </a:rPr>
              <a:t> Mycobacterium Avium complex</a:t>
            </a:r>
            <a:endParaRPr lang="en-US" sz="3200" b="0" i="0">
              <a:solidFill>
                <a:srgbClr val="3B3835"/>
              </a:solidFill>
              <a:latin typeface="Arial" panose="020B0604020202020204"/>
              <a:ea typeface="Arial" panose="020B0604020202020204"/>
              <a:cs typeface="Arial" panose="020B0604020202020204"/>
              <a:sym typeface="Arial" panose="020B0604020202020204"/>
            </a:endParaRPr>
          </a:p>
          <a:p>
            <a:pPr marL="514350" lvl="1" indent="-203200" algn="l" rtl="0">
              <a:lnSpc>
                <a:spcPct val="90000"/>
              </a:lnSpc>
              <a:spcBef>
                <a:spcPts val="375"/>
              </a:spcBef>
              <a:spcAft>
                <a:spcPts val="0"/>
              </a:spcAft>
              <a:buClr>
                <a:srgbClr val="3B3835"/>
              </a:buClr>
              <a:buSzPts val="3200"/>
              <a:buChar char="•"/>
            </a:pPr>
            <a:r>
              <a:rPr lang="en-US" sz="3200" b="0" i="0">
                <a:solidFill>
                  <a:srgbClr val="3B3835"/>
                </a:solidFill>
                <a:latin typeface="Arial" panose="020B0604020202020204"/>
                <a:ea typeface="Arial" panose="020B0604020202020204"/>
                <a:cs typeface="Arial" panose="020B0604020202020204"/>
                <a:sym typeface="Arial" panose="020B0604020202020204"/>
              </a:rPr>
              <a:t> Invasive cervical cancer</a:t>
            </a:r>
            <a:endParaRPr lang="en-US" sz="3200" b="0" i="0">
              <a:solidFill>
                <a:srgbClr val="3B3835"/>
              </a:solidFill>
              <a:latin typeface="Arial" panose="020B0604020202020204"/>
              <a:ea typeface="Arial" panose="020B0604020202020204"/>
              <a:cs typeface="Arial" panose="020B0604020202020204"/>
              <a:sym typeface="Arial" panose="020B0604020202020204"/>
            </a:endParaRPr>
          </a:p>
          <a:p>
            <a:pPr marL="514350" lvl="1" indent="-203200" algn="l" rtl="0">
              <a:lnSpc>
                <a:spcPct val="90000"/>
              </a:lnSpc>
              <a:spcBef>
                <a:spcPts val="375"/>
              </a:spcBef>
              <a:spcAft>
                <a:spcPts val="0"/>
              </a:spcAft>
              <a:buClr>
                <a:srgbClr val="3B3835"/>
              </a:buClr>
              <a:buSzPts val="3200"/>
              <a:buChar char="•"/>
            </a:pPr>
            <a:r>
              <a:rPr lang="en-US" sz="3200" b="0" i="0">
                <a:solidFill>
                  <a:srgbClr val="3B3835"/>
                </a:solidFill>
                <a:latin typeface="Arial" panose="020B0604020202020204"/>
                <a:ea typeface="Arial" panose="020B0604020202020204"/>
                <a:cs typeface="Arial" panose="020B0604020202020204"/>
                <a:sym typeface="Arial" panose="020B0604020202020204"/>
              </a:rPr>
              <a:t>A person has AIDS only in the final stages of HIV, after the immune system becomes unable to defend itself against foreign invaders like bacteria, other viruses, and allows the development of certain cancers</a:t>
            </a:r>
            <a:endParaRPr sz="32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17" name="Shape 217"/>
        <p:cNvGrpSpPr/>
        <p:nvPr/>
      </p:nvGrpSpPr>
      <p:grpSpPr>
        <a:xfrm>
          <a:off x="0" y="0"/>
          <a:ext cx="0" cy="0"/>
          <a:chOff x="0" y="0"/>
          <a:chExt cx="0" cy="0"/>
        </a:xfrm>
      </p:grpSpPr>
      <p:sp>
        <p:nvSpPr>
          <p:cNvPr id="218" name="Google Shape;218;p25"/>
          <p:cNvSpPr txBox="1"/>
          <p:nvPr>
            <p:ph type="body" idx="1"/>
          </p:nvPr>
        </p:nvSpPr>
        <p:spPr>
          <a:xfrm>
            <a:off x="2275646" y="1194148"/>
            <a:ext cx="8784836" cy="435488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Font typeface="Arial" panose="020B0604020202020204"/>
              <a:buAutoNum type="arabicPeriod"/>
            </a:pPr>
            <a:r>
              <a:rPr lang="en-US" sz="2800"/>
              <a:t>HIV situation in Kenya</a:t>
            </a:r>
            <a:endParaRPr lang="en-US" sz="2800"/>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Basic Facts on HIV and AIDS.</a:t>
            </a:r>
            <a:endParaRPr lang="en-US" sz="2800"/>
          </a:p>
          <a:p>
            <a:pPr marL="342900" lvl="0" indent="-342900" algn="l" rtl="0">
              <a:lnSpc>
                <a:spcPct val="90000"/>
              </a:lnSpc>
              <a:spcBef>
                <a:spcPts val="750"/>
              </a:spcBef>
              <a:spcAft>
                <a:spcPts val="0"/>
              </a:spcAft>
              <a:buClr>
                <a:schemeClr val="accent5"/>
              </a:buClr>
              <a:buSzPts val="2800"/>
              <a:buFont typeface="Arial" panose="020B0604020202020204"/>
              <a:buAutoNum type="arabicPeriod"/>
            </a:pPr>
            <a:r>
              <a:rPr lang="en-US" sz="2800">
                <a:solidFill>
                  <a:schemeClr val="accent5"/>
                </a:solidFill>
              </a:rPr>
              <a:t>Kenya HIV Prevention and Treatment Guidelines, 2022</a:t>
            </a:r>
            <a:endParaRPr lang="en-US" sz="2800">
              <a:solidFill>
                <a:schemeClr val="accent5"/>
              </a:solidFill>
            </a:endParaRPr>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Standard Package of Care of HIV infected people</a:t>
            </a:r>
            <a:endParaRPr sz="2800" b="1">
              <a:solidFill>
                <a:schemeClr val="accent1"/>
              </a:solidFill>
            </a:endParaRPr>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HIV and NCD </a:t>
            </a:r>
            <a:endParaRPr lang="en-US" sz="2800"/>
          </a:p>
          <a:p>
            <a:pPr marL="342900" lvl="0" indent="-228600" algn="l" rtl="0">
              <a:lnSpc>
                <a:spcPct val="90000"/>
              </a:lnSpc>
              <a:spcBef>
                <a:spcPts val="750"/>
              </a:spcBef>
              <a:spcAft>
                <a:spcPts val="0"/>
              </a:spcAft>
              <a:buClr>
                <a:schemeClr val="dk1"/>
              </a:buClr>
              <a:buSzPts val="1800"/>
              <a:buFont typeface="Arial" panose="020B0604020202020204"/>
              <a:buNone/>
            </a:pPr>
          </a:p>
          <a:p>
            <a:pPr marL="342900" lvl="0" indent="-228600" algn="l" rtl="0">
              <a:lnSpc>
                <a:spcPct val="90000"/>
              </a:lnSpc>
              <a:spcBef>
                <a:spcPts val="750"/>
              </a:spcBef>
              <a:spcAft>
                <a:spcPts val="0"/>
              </a:spcAft>
              <a:buClr>
                <a:schemeClr val="dk1"/>
              </a:buClr>
              <a:buSzPts val="1800"/>
              <a:buFont typeface="Arial" panose="020B0604020202020204"/>
              <a:buNone/>
            </a:p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pic>
        <p:nvPicPr>
          <p:cNvPr id="223" name="Google Shape;223;p26"/>
          <p:cNvPicPr preferRelativeResize="0"/>
          <p:nvPr/>
        </p:nvPicPr>
        <p:blipFill rotWithShape="1">
          <a:blip r:embed="rId1"/>
          <a:srcRect/>
          <a:stretch>
            <a:fillRect/>
          </a:stretch>
        </p:blipFill>
        <p:spPr>
          <a:xfrm>
            <a:off x="3657600" y="608610"/>
            <a:ext cx="3429000" cy="5181600"/>
          </a:xfrm>
          <a:prstGeom prst="rect">
            <a:avLst/>
          </a:prstGeom>
          <a:noFill/>
          <a:ln>
            <a:noFill/>
          </a:ln>
        </p:spPr>
      </p:pic>
      <p:sp>
        <p:nvSpPr>
          <p:cNvPr id="224" name="Google Shape;224;p26"/>
          <p:cNvSpPr txBox="1"/>
          <p:nvPr/>
        </p:nvSpPr>
        <p:spPr>
          <a:xfrm>
            <a:off x="5029200" y="5832764"/>
            <a:ext cx="65532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chemeClr val="dk1"/>
                </a:solidFill>
                <a:latin typeface="EB Garamond"/>
                <a:ea typeface="EB Garamond"/>
                <a:cs typeface="EB Garamond"/>
                <a:sym typeface="EB Garamond"/>
              </a:rPr>
              <a:t>https://app.box.com/s/3ox5vm885qamwloah6sciljvmxcle4oq</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28" name="Shape 228"/>
        <p:cNvGrpSpPr/>
        <p:nvPr/>
      </p:nvGrpSpPr>
      <p:grpSpPr>
        <a:xfrm>
          <a:off x="0" y="0"/>
          <a:ext cx="0" cy="0"/>
          <a:chOff x="0" y="0"/>
          <a:chExt cx="0" cy="0"/>
        </a:xfrm>
      </p:grpSpPr>
      <p:sp>
        <p:nvSpPr>
          <p:cNvPr id="229" name="Google Shape;229;p27"/>
          <p:cNvSpPr txBox="1"/>
          <p:nvPr>
            <p:ph type="body" idx="1"/>
          </p:nvPr>
        </p:nvSpPr>
        <p:spPr>
          <a:xfrm>
            <a:off x="2275646" y="1194148"/>
            <a:ext cx="8784836" cy="435488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Font typeface="Arial" panose="020B0604020202020204"/>
              <a:buAutoNum type="arabicPeriod"/>
            </a:pPr>
            <a:r>
              <a:rPr lang="en-US" sz="2800"/>
              <a:t>HIV situation in Kenya</a:t>
            </a:r>
            <a:endParaRPr lang="en-US" sz="2800"/>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Basic Facts on HIV and AIDS.</a:t>
            </a:r>
            <a:endParaRPr lang="en-US" sz="2800"/>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Kenya HIV Prevention and Treatment Guidelines, 2022</a:t>
            </a:r>
            <a:endParaRPr lang="en-US" sz="2800"/>
          </a:p>
          <a:p>
            <a:pPr marL="342900" lvl="0" indent="-342900" algn="l" rtl="0">
              <a:lnSpc>
                <a:spcPct val="90000"/>
              </a:lnSpc>
              <a:spcBef>
                <a:spcPts val="750"/>
              </a:spcBef>
              <a:spcAft>
                <a:spcPts val="0"/>
              </a:spcAft>
              <a:buClr>
                <a:schemeClr val="accent5"/>
              </a:buClr>
              <a:buSzPts val="2800"/>
              <a:buFont typeface="Arial" panose="020B0604020202020204"/>
              <a:buAutoNum type="arabicPeriod"/>
            </a:pPr>
            <a:r>
              <a:rPr lang="en-US" sz="2800">
                <a:solidFill>
                  <a:schemeClr val="accent5"/>
                </a:solidFill>
              </a:rPr>
              <a:t>Standard Package of Care of HIV infected people</a:t>
            </a:r>
            <a:endParaRPr sz="2800" b="1">
              <a:solidFill>
                <a:schemeClr val="accent5"/>
              </a:solidFill>
            </a:endParaRPr>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HIV and NCD </a:t>
            </a:r>
            <a:endParaRPr lang="en-US" sz="2800"/>
          </a:p>
          <a:p>
            <a:pPr marL="342900" lvl="0" indent="-228600" algn="l" rtl="0">
              <a:lnSpc>
                <a:spcPct val="90000"/>
              </a:lnSpc>
              <a:spcBef>
                <a:spcPts val="750"/>
              </a:spcBef>
              <a:spcAft>
                <a:spcPts val="0"/>
              </a:spcAft>
              <a:buClr>
                <a:schemeClr val="dk1"/>
              </a:buClr>
              <a:buSzPts val="1800"/>
              <a:buFont typeface="Arial" panose="020B0604020202020204"/>
              <a:buNone/>
            </a:pPr>
          </a:p>
          <a:p>
            <a:pPr marL="342900" lvl="0" indent="-228600" algn="l" rtl="0">
              <a:lnSpc>
                <a:spcPct val="90000"/>
              </a:lnSpc>
              <a:spcBef>
                <a:spcPts val="750"/>
              </a:spcBef>
              <a:spcAft>
                <a:spcPts val="0"/>
              </a:spcAft>
              <a:buClr>
                <a:schemeClr val="dk1"/>
              </a:buClr>
              <a:buSzPts val="1800"/>
              <a:buFont typeface="Arial" panose="020B0604020202020204"/>
              <a:buNone/>
            </a:p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33" name="Shape 233"/>
        <p:cNvGrpSpPr/>
        <p:nvPr/>
      </p:nvGrpSpPr>
      <p:grpSpPr>
        <a:xfrm>
          <a:off x="0" y="0"/>
          <a:ext cx="0" cy="0"/>
          <a:chOff x="0" y="0"/>
          <a:chExt cx="0" cy="0"/>
        </a:xfrm>
      </p:grpSpPr>
      <p:sp>
        <p:nvSpPr>
          <p:cNvPr id="234" name="Google Shape;234;p28"/>
          <p:cNvSpPr txBox="1"/>
          <p:nvPr/>
        </p:nvSpPr>
        <p:spPr>
          <a:xfrm>
            <a:off x="2454250" y="1066800"/>
            <a:ext cx="7427595" cy="3614290"/>
          </a:xfrm>
          <a:prstGeom prst="rect">
            <a:avLst/>
          </a:prstGeom>
          <a:noFill/>
          <a:ln>
            <a:noFill/>
          </a:ln>
        </p:spPr>
        <p:txBody>
          <a:bodyPr spcFirstLastPara="1" wrap="square" lIns="0" tIns="53800" rIns="0" bIns="0" anchor="t" anchorCtr="0">
            <a:spAutoFit/>
          </a:bodyPr>
          <a:lstStyle/>
          <a:p>
            <a:pPr marL="9525" marR="0" lvl="0" indent="0" algn="l" rtl="0">
              <a:lnSpc>
                <a:spcPct val="100000"/>
              </a:lnSpc>
              <a:spcBef>
                <a:spcPts val="0"/>
              </a:spcBef>
              <a:spcAft>
                <a:spcPts val="0"/>
              </a:spcAft>
              <a:buClr>
                <a:srgbClr val="000000"/>
              </a:buClr>
              <a:buSzPts val="2100"/>
              <a:buFont typeface="Arial" panose="020B0604020202020204"/>
              <a:buNone/>
            </a:pPr>
            <a:r>
              <a:rPr lang="en-US" sz="2100" b="1" i="0" u="none" strike="noStrike" cap="none">
                <a:solidFill>
                  <a:schemeClr val="dk1"/>
                </a:solidFill>
                <a:latin typeface="Calibri" panose="020F0502020204030204"/>
                <a:ea typeface="Calibri" panose="020F0502020204030204"/>
                <a:cs typeface="Calibri" panose="020F0502020204030204"/>
                <a:sym typeface="Calibri" panose="020F0502020204030204"/>
              </a:rPr>
              <a:t>8 Components</a:t>
            </a:r>
            <a:endParaRPr sz="2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551180" marR="0" lvl="0" indent="-338455" algn="l" rtl="0">
              <a:lnSpc>
                <a:spcPct val="100000"/>
              </a:lnSpc>
              <a:spcBef>
                <a:spcPts val="350"/>
              </a:spcBef>
              <a:spcAft>
                <a:spcPts val="0"/>
              </a:spcAft>
              <a:buClr>
                <a:schemeClr val="dk1"/>
              </a:buClr>
              <a:buSzPts val="2100"/>
              <a:buFont typeface="Arial" panose="020B0604020202020204"/>
              <a:buChar char="•"/>
            </a:pPr>
            <a:r>
              <a:rPr lang="en-US" sz="2100" b="0" i="0" u="none" strike="noStrike" cap="none">
                <a:solidFill>
                  <a:schemeClr val="dk1"/>
                </a:solidFill>
                <a:latin typeface="Calibri" panose="020F0502020204030204"/>
                <a:ea typeface="Calibri" panose="020F0502020204030204"/>
                <a:cs typeface="Calibri" panose="020F0502020204030204"/>
                <a:sym typeface="Calibri" panose="020F0502020204030204"/>
              </a:rPr>
              <a:t>Antiretroviral therapy</a:t>
            </a:r>
            <a:endParaRPr sz="2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551180" marR="939800" lvl="0" indent="-338455" algn="l" rtl="0">
              <a:lnSpc>
                <a:spcPct val="108000"/>
              </a:lnSpc>
              <a:spcBef>
                <a:spcPts val="640"/>
              </a:spcBef>
              <a:spcAft>
                <a:spcPts val="0"/>
              </a:spcAft>
              <a:buClr>
                <a:schemeClr val="dk1"/>
              </a:buClr>
              <a:buSzPts val="2100"/>
              <a:buFont typeface="Arial" panose="020B0604020202020204"/>
              <a:buChar char="•"/>
            </a:pPr>
            <a:r>
              <a:rPr lang="en-US" sz="2100" b="0" i="0" u="none" strike="noStrike" cap="none">
                <a:solidFill>
                  <a:schemeClr val="dk1"/>
                </a:solidFill>
                <a:latin typeface="Calibri" panose="020F0502020204030204"/>
                <a:ea typeface="Calibri" panose="020F0502020204030204"/>
                <a:cs typeface="Calibri" panose="020F0502020204030204"/>
                <a:sym typeface="Calibri" panose="020F0502020204030204"/>
              </a:rPr>
              <a:t>Positive Health, Dignity and Prevention, GBV/IPV &amp; HIV  Education and Counseling</a:t>
            </a:r>
            <a:endParaRPr sz="2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551180" marR="0" lvl="0" indent="-338455" algn="l" rtl="0">
              <a:lnSpc>
                <a:spcPct val="100000"/>
              </a:lnSpc>
              <a:spcBef>
                <a:spcPts val="310"/>
              </a:spcBef>
              <a:spcAft>
                <a:spcPts val="0"/>
              </a:spcAft>
              <a:buClr>
                <a:schemeClr val="dk1"/>
              </a:buClr>
              <a:buSzPts val="2100"/>
              <a:buFont typeface="Arial" panose="020B0604020202020204"/>
              <a:buChar char="•"/>
            </a:pPr>
            <a:r>
              <a:rPr lang="en-US" sz="2100" b="0" i="0" u="none" strike="noStrike" cap="none">
                <a:solidFill>
                  <a:schemeClr val="dk1"/>
                </a:solidFill>
                <a:latin typeface="Calibri" panose="020F0502020204030204"/>
                <a:ea typeface="Calibri" panose="020F0502020204030204"/>
                <a:cs typeface="Calibri" panose="020F0502020204030204"/>
                <a:sym typeface="Calibri" panose="020F0502020204030204"/>
              </a:rPr>
              <a:t>Screening for and prevention of specific OIs</a:t>
            </a:r>
            <a:endParaRPr sz="2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551180" marR="0" lvl="0" indent="-338455" algn="l" rtl="0">
              <a:lnSpc>
                <a:spcPct val="100000"/>
              </a:lnSpc>
              <a:spcBef>
                <a:spcPts val="355"/>
              </a:spcBef>
              <a:spcAft>
                <a:spcPts val="0"/>
              </a:spcAft>
              <a:buClr>
                <a:schemeClr val="dk1"/>
              </a:buClr>
              <a:buSzPts val="2100"/>
              <a:buFont typeface="Arial" panose="020B0604020202020204"/>
              <a:buChar char="•"/>
            </a:pPr>
            <a:r>
              <a:rPr lang="en-US" sz="2100" b="0" i="0" u="none" strike="noStrike" cap="none">
                <a:solidFill>
                  <a:schemeClr val="dk1"/>
                </a:solidFill>
                <a:latin typeface="Calibri" panose="020F0502020204030204"/>
                <a:ea typeface="Calibri" panose="020F0502020204030204"/>
                <a:cs typeface="Calibri" panose="020F0502020204030204"/>
                <a:sym typeface="Calibri" panose="020F0502020204030204"/>
              </a:rPr>
              <a:t>Reproductive heath services</a:t>
            </a:r>
            <a:endParaRPr sz="2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551180" marR="0" lvl="0" indent="-338455" algn="l" rtl="0">
              <a:lnSpc>
                <a:spcPct val="100000"/>
              </a:lnSpc>
              <a:spcBef>
                <a:spcPts val="350"/>
              </a:spcBef>
              <a:spcAft>
                <a:spcPts val="0"/>
              </a:spcAft>
              <a:buClr>
                <a:schemeClr val="dk1"/>
              </a:buClr>
              <a:buSzPts val="2100"/>
              <a:buFont typeface="Arial" panose="020B0604020202020204"/>
              <a:buChar char="•"/>
            </a:pPr>
            <a:r>
              <a:rPr lang="en-US" sz="2100" b="0" i="0" u="none" strike="noStrike" cap="none">
                <a:solidFill>
                  <a:schemeClr val="dk1"/>
                </a:solidFill>
                <a:latin typeface="Calibri" panose="020F0502020204030204"/>
                <a:ea typeface="Calibri" panose="020F0502020204030204"/>
                <a:cs typeface="Calibri" panose="020F0502020204030204"/>
                <a:sym typeface="Calibri" panose="020F0502020204030204"/>
              </a:rPr>
              <a:t>Screening for and Management of Non-communicable Diseases</a:t>
            </a:r>
            <a:endParaRPr sz="2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551180" marR="0" lvl="0" indent="-338455" algn="l" rtl="0">
              <a:lnSpc>
                <a:spcPct val="100000"/>
              </a:lnSpc>
              <a:spcBef>
                <a:spcPts val="340"/>
              </a:spcBef>
              <a:spcAft>
                <a:spcPts val="0"/>
              </a:spcAft>
              <a:buClr>
                <a:schemeClr val="dk1"/>
              </a:buClr>
              <a:buSzPts val="2100"/>
              <a:buFont typeface="Arial" panose="020B0604020202020204"/>
              <a:buChar char="•"/>
            </a:pPr>
            <a:r>
              <a:rPr lang="en-US" sz="2100" b="0" i="0" u="none" strike="noStrike" cap="none">
                <a:solidFill>
                  <a:schemeClr val="dk1"/>
                </a:solidFill>
                <a:latin typeface="Calibri" panose="020F0502020204030204"/>
                <a:ea typeface="Calibri" panose="020F0502020204030204"/>
                <a:cs typeface="Calibri" panose="020F0502020204030204"/>
                <a:sym typeface="Calibri" panose="020F0502020204030204"/>
              </a:rPr>
              <a:t>Mental health Screening and Management</a:t>
            </a:r>
            <a:endParaRPr sz="2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551180" marR="0" lvl="0" indent="-338455" algn="l" rtl="0">
              <a:lnSpc>
                <a:spcPct val="100000"/>
              </a:lnSpc>
              <a:spcBef>
                <a:spcPts val="355"/>
              </a:spcBef>
              <a:spcAft>
                <a:spcPts val="0"/>
              </a:spcAft>
              <a:buClr>
                <a:schemeClr val="dk1"/>
              </a:buClr>
              <a:buSzPts val="2100"/>
              <a:buFont typeface="Arial" panose="020B0604020202020204"/>
              <a:buChar char="•"/>
            </a:pPr>
            <a:r>
              <a:rPr lang="en-US" sz="2100" b="0" i="0" u="none" strike="noStrike" cap="none">
                <a:solidFill>
                  <a:schemeClr val="dk1"/>
                </a:solidFill>
                <a:latin typeface="Calibri" panose="020F0502020204030204"/>
                <a:ea typeface="Calibri" panose="020F0502020204030204"/>
                <a:cs typeface="Calibri" panose="020F0502020204030204"/>
                <a:sym typeface="Calibri" panose="020F0502020204030204"/>
              </a:rPr>
              <a:t>Nutrition services</a:t>
            </a:r>
            <a:endParaRPr sz="2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551180" marR="0" lvl="0" indent="-338455" algn="l" rtl="0">
              <a:lnSpc>
                <a:spcPct val="100000"/>
              </a:lnSpc>
              <a:spcBef>
                <a:spcPts val="355"/>
              </a:spcBef>
              <a:spcAft>
                <a:spcPts val="0"/>
              </a:spcAft>
              <a:buClr>
                <a:schemeClr val="dk1"/>
              </a:buClr>
              <a:buSzPts val="2100"/>
              <a:buFont typeface="Arial" panose="020B0604020202020204"/>
              <a:buChar char="•"/>
            </a:pPr>
            <a:r>
              <a:rPr lang="en-US" sz="2100" b="0" i="0" u="none" strike="noStrike" cap="none">
                <a:solidFill>
                  <a:schemeClr val="dk1"/>
                </a:solidFill>
                <a:latin typeface="Calibri" panose="020F0502020204030204"/>
                <a:ea typeface="Calibri" panose="020F0502020204030204"/>
                <a:cs typeface="Calibri" panose="020F0502020204030204"/>
                <a:sym typeface="Calibri" panose="020F0502020204030204"/>
              </a:rPr>
              <a:t>Prevention of other infections</a:t>
            </a:r>
            <a:endParaRPr sz="21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5" name="Google Shape;235;p28"/>
          <p:cNvSpPr txBox="1"/>
          <p:nvPr/>
        </p:nvSpPr>
        <p:spPr>
          <a:xfrm>
            <a:off x="10521316" y="5771313"/>
            <a:ext cx="87629" cy="113493"/>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Clr>
                <a:srgbClr val="000000"/>
              </a:buClr>
              <a:buSzPts val="675"/>
              <a:buFont typeface="Arial" panose="020B0604020202020204"/>
              <a:buNone/>
            </a:pPr>
            <a:r>
              <a:rPr lang="en-US" sz="675"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11</a:t>
            </a:r>
            <a:endParaRPr sz="67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6" name="Google Shape;236;p28"/>
          <p:cNvSpPr txBox="1"/>
          <p:nvPr>
            <p:ph type="title"/>
          </p:nvPr>
        </p:nvSpPr>
        <p:spPr>
          <a:xfrm>
            <a:off x="2454249" y="376410"/>
            <a:ext cx="5593948" cy="378469"/>
          </a:xfrm>
          <a:prstGeom prst="rect">
            <a:avLst/>
          </a:prstGeom>
          <a:noFill/>
          <a:ln>
            <a:noFill/>
          </a:ln>
        </p:spPr>
        <p:txBody>
          <a:bodyPr spcFirstLastPara="1" wrap="square" lIns="0" tIns="9025" rIns="0" bIns="0" anchor="ctr" anchorCtr="0">
            <a:spAutoFit/>
          </a:bodyPr>
          <a:lstStyle/>
          <a:p>
            <a:pPr marL="9525" lvl="0" indent="0" algn="l" rtl="0">
              <a:lnSpc>
                <a:spcPct val="100000"/>
              </a:lnSpc>
              <a:spcBef>
                <a:spcPts val="0"/>
              </a:spcBef>
              <a:spcAft>
                <a:spcPts val="0"/>
              </a:spcAft>
              <a:buSzPts val="1400"/>
              <a:buNone/>
            </a:pPr>
            <a:r>
              <a:rPr lang="en-US" sz="2400">
                <a:solidFill>
                  <a:srgbClr val="2E75B5"/>
                </a:solidFill>
              </a:rPr>
              <a:t>Standard Package of Care for PLHIV</a:t>
            </a:r>
            <a:endParaRPr lang="en-US" sz="2400">
              <a:solidFill>
                <a:srgbClr val="2E75B5"/>
              </a:solidFill>
            </a:endParaRPr>
          </a:p>
        </p:txBody>
      </p:sp>
      <p:sp>
        <p:nvSpPr>
          <p:cNvPr id="237" name="Google Shape;237;p28"/>
          <p:cNvSpPr/>
          <p:nvPr/>
        </p:nvSpPr>
        <p:spPr>
          <a:xfrm>
            <a:off x="2918564" y="3206663"/>
            <a:ext cx="6926894" cy="378469"/>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EB Garamond"/>
              <a:ea typeface="EB Garamond"/>
              <a:cs typeface="EB Garamond"/>
              <a:sym typeface="EB Garamon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242" name="Shape 242"/>
        <p:cNvGrpSpPr/>
        <p:nvPr/>
      </p:nvGrpSpPr>
      <p:grpSpPr>
        <a:xfrm>
          <a:off x="0" y="0"/>
          <a:ext cx="0" cy="0"/>
          <a:chOff x="0" y="0"/>
          <a:chExt cx="0" cy="0"/>
        </a:xfrm>
      </p:grpSpPr>
      <p:sp>
        <p:nvSpPr>
          <p:cNvPr id="243" name="Google Shape;243;p29"/>
          <p:cNvSpPr txBox="1"/>
          <p:nvPr>
            <p:ph type="title"/>
          </p:nvPr>
        </p:nvSpPr>
        <p:spPr>
          <a:xfrm>
            <a:off x="2209800" y="535096"/>
            <a:ext cx="7315200" cy="378469"/>
          </a:xfrm>
          <a:prstGeom prst="rect">
            <a:avLst/>
          </a:prstGeom>
          <a:noFill/>
          <a:ln>
            <a:noFill/>
          </a:ln>
        </p:spPr>
        <p:txBody>
          <a:bodyPr spcFirstLastPara="1" wrap="square" lIns="0" tIns="9025" rIns="0" bIns="0" anchor="ctr" anchorCtr="0">
            <a:spAutoFit/>
          </a:bodyPr>
          <a:lstStyle/>
          <a:p>
            <a:pPr marL="9525" marR="3810" lvl="0" indent="887095" algn="l" rtl="0">
              <a:lnSpc>
                <a:spcPct val="100000"/>
              </a:lnSpc>
              <a:spcBef>
                <a:spcPts val="0"/>
              </a:spcBef>
              <a:spcAft>
                <a:spcPts val="0"/>
              </a:spcAft>
              <a:buSzPts val="1400"/>
              <a:buNone/>
            </a:pPr>
            <a:r>
              <a:rPr lang="en-US" sz="2400">
                <a:solidFill>
                  <a:srgbClr val="2E75B5"/>
                </a:solidFill>
              </a:rPr>
              <a:t>ART in Infants, Children, Adolescents, and Adults</a:t>
            </a:r>
            <a:endParaRPr lang="en-US" sz="2400">
              <a:solidFill>
                <a:srgbClr val="2E75B5"/>
              </a:solidFill>
            </a:endParaRPr>
          </a:p>
        </p:txBody>
      </p:sp>
      <p:graphicFrame>
        <p:nvGraphicFramePr>
          <p:cNvPr id="244" name="Google Shape;244;p29"/>
          <p:cNvGraphicFramePr/>
          <p:nvPr/>
        </p:nvGraphicFramePr>
        <p:xfrm>
          <a:off x="2362200" y="1722040"/>
          <a:ext cx="7962025" cy="3733775"/>
        </p:xfrm>
        <a:graphic>
          <a:graphicData uri="http://schemas.openxmlformats.org/drawingml/2006/table">
            <a:tbl>
              <a:tblPr firstRow="1" bandRow="1">
                <a:noFill/>
                <a:tableStyleId>{CF69868B-0C89-4585-B3F8-C5E539B57ABF}</a:tableStyleId>
              </a:tblPr>
              <a:tblGrid>
                <a:gridCol w="1245300"/>
                <a:gridCol w="1789850"/>
                <a:gridCol w="2011200"/>
                <a:gridCol w="2915675"/>
              </a:tblGrid>
              <a:tr h="881175">
                <a:tc>
                  <a:txBody>
                    <a:bodyPr/>
                    <a:lstStyle/>
                    <a:p>
                      <a:pPr marL="93345"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Age</a:t>
                      </a:r>
                      <a:endParaRPr sz="1800" u="none" strike="noStrike" cap="none">
                        <a:latin typeface="EB Garamond"/>
                        <a:ea typeface="EB Garamond"/>
                        <a:cs typeface="EB Garamond"/>
                        <a:sym typeface="EB Garamond"/>
                      </a:endParaRPr>
                    </a:p>
                  </a:txBody>
                  <a:tcPr marL="0" marR="0" marT="6200" marB="0">
                    <a:lnL w="12700" cap="flat" cmpd="sng">
                      <a:solidFill>
                        <a:srgbClr val="6FAC46"/>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6FAC46"/>
                      </a:solidFill>
                      <a:prstDash val="solid"/>
                      <a:round/>
                      <a:headEnd type="none" w="sm" len="sm"/>
                      <a:tailEnd type="none" w="sm" len="sm"/>
                    </a:lnB>
                    <a:solidFill>
                      <a:srgbClr val="BCD6ED"/>
                    </a:solidFill>
                  </a:tcPr>
                </a:tc>
                <a:tc>
                  <a:txBody>
                    <a:bodyPr/>
                    <a:lstStyle/>
                    <a:p>
                      <a:pPr marL="93980"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Weight</a:t>
                      </a:r>
                      <a:endParaRPr sz="1800" u="none" strike="noStrike" cap="none">
                        <a:latin typeface="EB Garamond"/>
                        <a:ea typeface="EB Garamond"/>
                        <a:cs typeface="EB Garamond"/>
                        <a:sym typeface="EB Garamond"/>
                      </a:endParaRPr>
                    </a:p>
                  </a:txBody>
                  <a:tcPr marL="0" marR="0" marT="620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6FAC46"/>
                      </a:solidFill>
                      <a:prstDash val="solid"/>
                      <a:round/>
                      <a:headEnd type="none" w="sm" len="sm"/>
                      <a:tailEnd type="none" w="sm" len="sm"/>
                    </a:lnB>
                    <a:solidFill>
                      <a:srgbClr val="BCD6ED"/>
                    </a:solidFill>
                  </a:tcPr>
                </a:tc>
                <a:tc>
                  <a:txBody>
                    <a:bodyPr/>
                    <a:lstStyle/>
                    <a:p>
                      <a:pPr marL="93980"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Preferred Regimen</a:t>
                      </a:r>
                      <a:endParaRPr sz="1800" u="none" strike="noStrike" cap="none">
                        <a:latin typeface="EB Garamond"/>
                        <a:ea typeface="EB Garamond"/>
                        <a:cs typeface="EB Garamond"/>
                        <a:sym typeface="EB Garamond"/>
                      </a:endParaRPr>
                    </a:p>
                    <a:p>
                      <a:pPr marL="93980" marR="0" lvl="0" indent="0" algn="l" rtl="0">
                        <a:lnSpc>
                          <a:spcPct val="100000"/>
                        </a:lnSpc>
                        <a:spcBef>
                          <a:spcPts val="73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(1</a:t>
                      </a:r>
                      <a:r>
                        <a:rPr lang="en-US" sz="1800" b="1" u="none" strike="noStrike" cap="none" baseline="30000">
                          <a:latin typeface="EB Garamond"/>
                          <a:ea typeface="EB Garamond"/>
                          <a:cs typeface="EB Garamond"/>
                          <a:sym typeface="EB Garamond"/>
                        </a:rPr>
                        <a:t>st </a:t>
                      </a:r>
                      <a:r>
                        <a:rPr lang="en-US" sz="1800" b="1" u="none" strike="noStrike" cap="none">
                          <a:latin typeface="EB Garamond"/>
                          <a:ea typeface="EB Garamond"/>
                          <a:cs typeface="EB Garamond"/>
                          <a:sym typeface="EB Garamond"/>
                        </a:rPr>
                        <a:t>Line ART)</a:t>
                      </a:r>
                      <a:endParaRPr sz="1800" u="none" strike="noStrike" cap="none">
                        <a:latin typeface="EB Garamond"/>
                        <a:ea typeface="EB Garamond"/>
                        <a:cs typeface="EB Garamond"/>
                        <a:sym typeface="EB Garamond"/>
                      </a:endParaRPr>
                    </a:p>
                  </a:txBody>
                  <a:tcPr marL="0" marR="0" marT="6200"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6FAC46"/>
                      </a:solidFill>
                      <a:prstDash val="solid"/>
                      <a:round/>
                      <a:headEnd type="none" w="sm" len="sm"/>
                      <a:tailEnd type="none" w="sm" len="sm"/>
                    </a:lnB>
                    <a:solidFill>
                      <a:srgbClr val="BCD6ED"/>
                    </a:solidFill>
                  </a:tcPr>
                </a:tc>
                <a:tc>
                  <a:txBody>
                    <a:bodyPr/>
                    <a:lstStyle/>
                    <a:p>
                      <a:pPr marL="127635"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Dosing (Correct weight-based dosing</a:t>
                      </a:r>
                      <a:endParaRPr sz="1800" u="none" strike="noStrike" cap="none">
                        <a:latin typeface="EB Garamond"/>
                        <a:ea typeface="EB Garamond"/>
                        <a:cs typeface="EB Garamond"/>
                        <a:sym typeface="EB Garamond"/>
                      </a:endParaRPr>
                    </a:p>
                    <a:p>
                      <a:pPr marL="127635" marR="0" lvl="0" indent="0" algn="l" rtl="0">
                        <a:lnSpc>
                          <a:spcPct val="100000"/>
                        </a:lnSpc>
                        <a:spcBef>
                          <a:spcPts val="325"/>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must be confirmed at every visit)</a:t>
                      </a:r>
                      <a:endParaRPr sz="1800" u="none" strike="noStrike" cap="none">
                        <a:latin typeface="EB Garamond"/>
                        <a:ea typeface="EB Garamond"/>
                        <a:cs typeface="EB Garamond"/>
                        <a:sym typeface="EB Garamond"/>
                      </a:endParaRPr>
                    </a:p>
                  </a:txBody>
                  <a:tcPr marL="0" marR="0" marT="620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6FAC46"/>
                      </a:solidFill>
                      <a:prstDash val="solid"/>
                      <a:round/>
                      <a:headEnd type="none" w="sm" len="sm"/>
                      <a:tailEnd type="none" w="sm" len="sm"/>
                    </a:lnB>
                    <a:solidFill>
                      <a:srgbClr val="BCD6ED"/>
                    </a:solidFill>
                  </a:tcPr>
                </a:tc>
              </a:tr>
              <a:tr h="606450">
                <a:tc>
                  <a:txBody>
                    <a:bodyPr/>
                    <a:lstStyle/>
                    <a:p>
                      <a:pPr marL="10858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Birth to 4</a:t>
                      </a:r>
                      <a:endParaRPr sz="1400" u="none" strike="noStrike" cap="none"/>
                    </a:p>
                    <a:p>
                      <a:pPr marL="108585" marR="0" lvl="0" indent="0" algn="l" rtl="0">
                        <a:lnSpc>
                          <a:spcPct val="100000"/>
                        </a:lnSpc>
                        <a:spcBef>
                          <a:spcPts val="325"/>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weeks</a:t>
                      </a:r>
                      <a:endParaRPr sz="1800" u="none" strike="noStrike" cap="none">
                        <a:latin typeface="EB Garamond"/>
                        <a:ea typeface="EB Garamond"/>
                        <a:cs typeface="EB Garamond"/>
                        <a:sym typeface="EB Garamond"/>
                      </a:endParaRPr>
                    </a:p>
                  </a:txBody>
                  <a:tcPr marL="0" marR="0" marT="6200" marB="0">
                    <a:lnL w="12700" cap="flat" cmpd="sng">
                      <a:solidFill>
                        <a:srgbClr val="6FAC46"/>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1092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Any</a:t>
                      </a:r>
                      <a:endParaRPr sz="1800" u="none" strike="noStrike" cap="none">
                        <a:latin typeface="EB Garamond"/>
                        <a:ea typeface="EB Garamond"/>
                        <a:cs typeface="EB Garamond"/>
                        <a:sym typeface="EB Garamond"/>
                      </a:endParaRPr>
                    </a:p>
                  </a:txBody>
                  <a:tcPr marL="0" marR="0" marT="14430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1092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AZT + 3TC + NVP</a:t>
                      </a:r>
                      <a:endParaRPr sz="1800" u="none" strike="noStrike" cap="none" baseline="30000">
                        <a:latin typeface="EB Garamond"/>
                        <a:ea typeface="EB Garamond"/>
                        <a:cs typeface="EB Garamond"/>
                        <a:sym typeface="EB Garamond"/>
                      </a:endParaRPr>
                    </a:p>
                  </a:txBody>
                  <a:tcPr marL="0" marR="0" marT="144300"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12763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Weight-based dosing</a:t>
                      </a:r>
                      <a:endParaRPr sz="1800" u="none" strike="noStrike" cap="none">
                        <a:latin typeface="EB Garamond"/>
                        <a:ea typeface="EB Garamond"/>
                        <a:cs typeface="EB Garamond"/>
                        <a:sym typeface="EB Garamond"/>
                      </a:endParaRPr>
                    </a:p>
                  </a:txBody>
                  <a:tcPr marL="0" marR="0" marT="14430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r>
              <a:tr h="564675">
                <a:tc rowSpan="2">
                  <a:txBody>
                    <a:bodyPr/>
                    <a:lstStyle/>
                    <a:p>
                      <a:pPr marL="6604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&gt; 4 weeks to &lt;</a:t>
                      </a:r>
                      <a:endParaRPr sz="1800" u="none" strike="noStrike" cap="none">
                        <a:latin typeface="EB Garamond"/>
                        <a:ea typeface="EB Garamond"/>
                        <a:cs typeface="EB Garamond"/>
                        <a:sym typeface="EB Garamond"/>
                      </a:endParaRPr>
                    </a:p>
                    <a:p>
                      <a:pPr marL="66040" marR="0" lvl="0" indent="0" algn="l" rtl="0">
                        <a:lnSpc>
                          <a:spcPct val="100000"/>
                        </a:lnSpc>
                        <a:spcBef>
                          <a:spcPts val="325"/>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15 years</a:t>
                      </a:r>
                      <a:endParaRPr sz="1800" u="none" strike="noStrike" cap="none">
                        <a:latin typeface="EB Garamond"/>
                        <a:ea typeface="EB Garamond"/>
                        <a:cs typeface="EB Garamond"/>
                        <a:sym typeface="EB Garamond"/>
                      </a:endParaRPr>
                    </a:p>
                  </a:txBody>
                  <a:tcPr marL="0" marR="0" marT="6200" marB="0">
                    <a:lnL w="12700" cap="flat" cmpd="sng">
                      <a:solidFill>
                        <a:srgbClr val="6FAC46"/>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1092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&lt; 30 kg</a:t>
                      </a:r>
                      <a:endParaRPr sz="1400" u="none" strike="noStrike" cap="none"/>
                    </a:p>
                  </a:txBody>
                  <a:tcPr marL="0" marR="0" marT="130025"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c>
                  <a:txBody>
                    <a:bodyPr/>
                    <a:lstStyle/>
                    <a:p>
                      <a:pPr marL="1092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ABC + 3TC + DTG</a:t>
                      </a:r>
                      <a:endParaRPr sz="1800" u="none" strike="noStrike" cap="none">
                        <a:latin typeface="EB Garamond"/>
                        <a:ea typeface="EB Garamond"/>
                        <a:cs typeface="EB Garamond"/>
                        <a:sym typeface="EB Garamond"/>
                      </a:endParaRPr>
                    </a:p>
                  </a:txBody>
                  <a:tcPr marL="0" marR="0" marT="130025"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c>
                  <a:txBody>
                    <a:bodyPr/>
                    <a:lstStyle/>
                    <a:p>
                      <a:pPr marL="12763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Weight-based dosing</a:t>
                      </a:r>
                      <a:endParaRPr sz="1800" u="none" strike="noStrike" cap="none">
                        <a:latin typeface="EB Garamond"/>
                        <a:ea typeface="EB Garamond"/>
                        <a:cs typeface="EB Garamond"/>
                        <a:sym typeface="EB Garamond"/>
                      </a:endParaRPr>
                    </a:p>
                  </a:txBody>
                  <a:tcPr marL="0" marR="0" marT="130025"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r>
              <a:tr h="787475">
                <a:tc vMerge="1">
                  <a:tcPr/>
                </a:tc>
                <a:tc>
                  <a:txBody>
                    <a:bodyPr/>
                    <a:lstStyle/>
                    <a:p>
                      <a:pPr marL="6667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 30 kg</a:t>
                      </a:r>
                      <a:endParaRPr sz="1800" u="none" strike="noStrike" cap="none">
                        <a:latin typeface="EB Garamond"/>
                        <a:ea typeface="EB Garamond"/>
                        <a:cs typeface="EB Garamond"/>
                        <a:sym typeface="EB Garamond"/>
                      </a:endParaRPr>
                    </a:p>
                  </a:txBody>
                  <a:tcPr marL="0" marR="0" marT="14430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1092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TDF + 3TC + DTG</a:t>
                      </a:r>
                      <a:endParaRPr sz="1800" u="none" strike="noStrike" cap="none">
                        <a:latin typeface="EB Garamond"/>
                        <a:ea typeface="EB Garamond"/>
                        <a:cs typeface="EB Garamond"/>
                        <a:sym typeface="EB Garamond"/>
                      </a:endParaRPr>
                    </a:p>
                  </a:txBody>
                  <a:tcPr marL="0" marR="0" marT="144300"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127635" marR="430530" lvl="0" indent="0" algn="l" rtl="0">
                        <a:lnSpc>
                          <a:spcPct val="138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TDF/3TC/DTG (300/300/50mg): 1 tab  once daily</a:t>
                      </a:r>
                      <a:endParaRPr sz="1800" u="none" strike="noStrike" cap="none">
                        <a:latin typeface="EB Garamond"/>
                        <a:ea typeface="EB Garamond"/>
                        <a:cs typeface="EB Garamond"/>
                        <a:sym typeface="EB Garamond"/>
                      </a:endParaRPr>
                    </a:p>
                  </a:txBody>
                  <a:tcPr marL="0" marR="0" marT="905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r>
              <a:tr h="894000">
                <a:tc>
                  <a:txBody>
                    <a:bodyPr/>
                    <a:lstStyle/>
                    <a:p>
                      <a:pPr marL="6604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 15 years</a:t>
                      </a:r>
                      <a:endParaRPr sz="1800" u="none" strike="noStrike" cap="none">
                        <a:latin typeface="EB Garamond"/>
                        <a:ea typeface="EB Garamond"/>
                        <a:cs typeface="EB Garamond"/>
                        <a:sym typeface="EB Garamond"/>
                      </a:endParaRPr>
                    </a:p>
                  </a:txBody>
                  <a:tcPr marL="0" marR="0" marT="6675" marB="0">
                    <a:lnL w="12700" cap="flat" cmpd="sng">
                      <a:solidFill>
                        <a:srgbClr val="6FAC46"/>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latin typeface="EB Garamond"/>
                        <a:ea typeface="EB Garamond"/>
                        <a:cs typeface="EB Garamond"/>
                        <a:sym typeface="EB Garamond"/>
                      </a:endParaRPr>
                    </a:p>
                    <a:p>
                      <a:pPr marL="6667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Any</a:t>
                      </a:r>
                      <a:endParaRPr sz="1800" u="none" strike="noStrike" cap="none">
                        <a:latin typeface="EB Garamond"/>
                        <a:ea typeface="EB Garamond"/>
                        <a:cs typeface="EB Garamond"/>
                        <a:sym typeface="EB Garamond"/>
                      </a:endParaRPr>
                    </a:p>
                  </a:txBody>
                  <a:tcPr marL="0" marR="0" marT="4775"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latin typeface="EB Garamond"/>
                        <a:ea typeface="EB Garamond"/>
                        <a:cs typeface="EB Garamond"/>
                        <a:sym typeface="EB Garamond"/>
                      </a:endParaRPr>
                    </a:p>
                    <a:p>
                      <a:pPr marL="1092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TDF + 3TC + DTG </a:t>
                      </a:r>
                      <a:endParaRPr sz="1800" u="none" strike="noStrike" cap="none">
                        <a:latin typeface="EB Garamond"/>
                        <a:ea typeface="EB Garamond"/>
                        <a:cs typeface="EB Garamond"/>
                        <a:sym typeface="EB Garamond"/>
                      </a:endParaRPr>
                    </a:p>
                  </a:txBody>
                  <a:tcPr marL="0" marR="0" marT="4775"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c>
                  <a:txBody>
                    <a:bodyPr/>
                    <a:lstStyle/>
                    <a:p>
                      <a:pPr marL="12763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TDF/3TC/DTG (300/300/50mg): 1 tab</a:t>
                      </a:r>
                      <a:endParaRPr sz="1400" u="none" strike="noStrike" cap="none"/>
                    </a:p>
                    <a:p>
                      <a:pPr marL="127635" marR="0" lvl="0" indent="0" algn="l" rtl="0">
                        <a:lnSpc>
                          <a:spcPct val="100000"/>
                        </a:lnSpc>
                        <a:spcBef>
                          <a:spcPts val="325"/>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once daily</a:t>
                      </a:r>
                      <a:endParaRPr sz="1400" u="none" strike="noStrike" cap="none"/>
                    </a:p>
                  </a:txBody>
                  <a:tcPr marL="0" marR="0" marT="149075"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r>
            </a:tbl>
          </a:graphicData>
        </a:graphic>
      </p:graphicFrame>
      <p:sp>
        <p:nvSpPr>
          <p:cNvPr id="245" name="Google Shape;245;p29"/>
          <p:cNvSpPr txBox="1"/>
          <p:nvPr/>
        </p:nvSpPr>
        <p:spPr>
          <a:xfrm>
            <a:off x="2387009" y="1031185"/>
            <a:ext cx="1493044" cy="286617"/>
          </a:xfrm>
          <a:prstGeom prst="rect">
            <a:avLst/>
          </a:prstGeom>
          <a:noFill/>
          <a:ln>
            <a:noFill/>
          </a:ln>
        </p:spPr>
        <p:txBody>
          <a:bodyPr spcFirstLastPara="1" wrap="square" lIns="0" tIns="9525" rIns="0" bIns="0" anchor="t" anchorCtr="0">
            <a:spAutoFit/>
          </a:bodyPr>
          <a:lstStyle/>
          <a:p>
            <a:pPr marL="2794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EB Garamond"/>
                <a:ea typeface="EB Garamond"/>
                <a:cs typeface="EB Garamond"/>
                <a:sym typeface="EB Garamond"/>
              </a:rPr>
              <a:t>1</a:t>
            </a:r>
            <a:r>
              <a:rPr lang="en-US" sz="1800" b="1" i="0" u="none" strike="noStrike" cap="none" baseline="30000">
                <a:solidFill>
                  <a:schemeClr val="dk1"/>
                </a:solidFill>
                <a:latin typeface="EB Garamond"/>
                <a:ea typeface="EB Garamond"/>
                <a:cs typeface="EB Garamond"/>
                <a:sym typeface="EB Garamond"/>
              </a:rPr>
              <a:t>st </a:t>
            </a:r>
            <a:r>
              <a:rPr lang="en-US" sz="1800" b="1" i="0" u="none" strike="noStrike" cap="none">
                <a:solidFill>
                  <a:schemeClr val="dk1"/>
                </a:solidFill>
                <a:latin typeface="EB Garamond"/>
                <a:ea typeface="EB Garamond"/>
                <a:cs typeface="EB Garamond"/>
                <a:sym typeface="EB Garamond"/>
              </a:rPr>
              <a:t>Line ART</a:t>
            </a:r>
            <a:endParaRPr sz="1800" b="0" i="0" u="none" strike="noStrike" cap="none">
              <a:solidFill>
                <a:schemeClr val="dk1"/>
              </a:solidFill>
              <a:latin typeface="EB Garamond"/>
              <a:ea typeface="EB Garamond"/>
              <a:cs typeface="EB Garamond"/>
              <a:sym typeface="EB Garamon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249" name="Shape 249"/>
        <p:cNvGrpSpPr/>
        <p:nvPr/>
      </p:nvGrpSpPr>
      <p:grpSpPr>
        <a:xfrm>
          <a:off x="0" y="0"/>
          <a:ext cx="0" cy="0"/>
          <a:chOff x="0" y="0"/>
          <a:chExt cx="0" cy="0"/>
        </a:xfrm>
      </p:grpSpPr>
      <p:sp>
        <p:nvSpPr>
          <p:cNvPr id="250" name="Google Shape;250;p30"/>
          <p:cNvSpPr txBox="1"/>
          <p:nvPr>
            <p:ph type="title"/>
          </p:nvPr>
        </p:nvSpPr>
        <p:spPr>
          <a:xfrm>
            <a:off x="2438400" y="304057"/>
            <a:ext cx="7086600" cy="378469"/>
          </a:xfrm>
          <a:prstGeom prst="rect">
            <a:avLst/>
          </a:prstGeom>
          <a:noFill/>
          <a:ln>
            <a:noFill/>
          </a:ln>
        </p:spPr>
        <p:txBody>
          <a:bodyPr spcFirstLastPara="1" wrap="square" lIns="0" tIns="9025" rIns="0" bIns="0" anchor="ctr" anchorCtr="0">
            <a:spAutoFit/>
          </a:bodyPr>
          <a:lstStyle/>
          <a:p>
            <a:pPr marL="20320" marR="3810" lvl="0" indent="861695" algn="l" rtl="0">
              <a:lnSpc>
                <a:spcPct val="100000"/>
              </a:lnSpc>
              <a:spcBef>
                <a:spcPts val="0"/>
              </a:spcBef>
              <a:spcAft>
                <a:spcPts val="0"/>
              </a:spcAft>
              <a:buSzPts val="1400"/>
              <a:buNone/>
            </a:pPr>
            <a:r>
              <a:rPr lang="en-US" sz="2400">
                <a:solidFill>
                  <a:srgbClr val="2E75B5"/>
                </a:solidFill>
              </a:rPr>
              <a:t>ART in Infants, Children, Adolescents, and Adults</a:t>
            </a:r>
            <a:endParaRPr sz="2400">
              <a:solidFill>
                <a:srgbClr val="2E75B5"/>
              </a:solidFill>
            </a:endParaRPr>
          </a:p>
        </p:txBody>
      </p:sp>
      <p:sp>
        <p:nvSpPr>
          <p:cNvPr id="251" name="Google Shape;251;p30"/>
          <p:cNvSpPr txBox="1"/>
          <p:nvPr/>
        </p:nvSpPr>
        <p:spPr>
          <a:xfrm>
            <a:off x="3230016" y="5717449"/>
            <a:ext cx="5829300" cy="255359"/>
          </a:xfrm>
          <a:prstGeom prst="rect">
            <a:avLst/>
          </a:prstGeom>
          <a:noFill/>
          <a:ln>
            <a:noFill/>
          </a:ln>
        </p:spPr>
        <p:txBody>
          <a:bodyPr spcFirstLastPara="1" wrap="square" lIns="0" tIns="12850" rIns="0" bIns="0" anchor="t" anchorCtr="0">
            <a:spAutoFit/>
          </a:bodyPr>
          <a:lstStyle/>
          <a:p>
            <a:pPr marL="9525" marR="0" lvl="0" indent="0" algn="l" rtl="0">
              <a:lnSpc>
                <a:spcPct val="100000"/>
              </a:lnSpc>
              <a:spcBef>
                <a:spcPts val="0"/>
              </a:spcBef>
              <a:spcAft>
                <a:spcPts val="0"/>
              </a:spcAft>
              <a:buClr>
                <a:srgbClr val="000000"/>
              </a:buClr>
              <a:buSzPts val="1575"/>
              <a:buFont typeface="Arial" panose="020B0604020202020204"/>
              <a:buNone/>
            </a:pPr>
            <a:r>
              <a:rPr lang="en-US" sz="1575" b="1" i="0" u="none" strike="noStrike" cap="none">
                <a:solidFill>
                  <a:schemeClr val="dk1"/>
                </a:solidFill>
                <a:latin typeface="EB Garamond"/>
                <a:ea typeface="EB Garamond"/>
                <a:cs typeface="EB Garamond"/>
                <a:sym typeface="EB Garamond"/>
              </a:rPr>
              <a:t>DRT Based 2nd Line Switch from 1st Line DTG Based Regimens</a:t>
            </a:r>
            <a:endParaRPr sz="2080" b="0" i="0" u="none" strike="noStrike" cap="none" baseline="-25000">
              <a:solidFill>
                <a:schemeClr val="dk1"/>
              </a:solidFill>
              <a:latin typeface="EB Garamond"/>
              <a:ea typeface="EB Garamond"/>
              <a:cs typeface="EB Garamond"/>
              <a:sym typeface="EB Garamond"/>
            </a:endParaRPr>
          </a:p>
        </p:txBody>
      </p:sp>
      <p:graphicFrame>
        <p:nvGraphicFramePr>
          <p:cNvPr id="252" name="Google Shape;252;p30"/>
          <p:cNvGraphicFramePr/>
          <p:nvPr/>
        </p:nvGraphicFramePr>
        <p:xfrm>
          <a:off x="2209801" y="1467635"/>
          <a:ext cx="8305800" cy="3895600"/>
        </p:xfrm>
        <a:graphic>
          <a:graphicData uri="http://schemas.openxmlformats.org/drawingml/2006/table">
            <a:tbl>
              <a:tblPr firstRow="1" bandRow="1">
                <a:noFill/>
                <a:tableStyleId>{CF69868B-0C89-4585-B3F8-C5E539B57ABF}</a:tableStyleId>
              </a:tblPr>
              <a:tblGrid>
                <a:gridCol w="1608825"/>
                <a:gridCol w="3115000"/>
                <a:gridCol w="3581975"/>
              </a:tblGrid>
              <a:tr h="215575">
                <a:tc>
                  <a:txBody>
                    <a:bodyPr/>
                    <a:lstStyle/>
                    <a:p>
                      <a:pPr marL="68580" marR="0" lvl="0" indent="0" algn="l" rtl="0">
                        <a:lnSpc>
                          <a:spcPct val="100000"/>
                        </a:lnSpc>
                        <a:spcBef>
                          <a:spcPts val="0"/>
                        </a:spcBef>
                        <a:spcAft>
                          <a:spcPts val="0"/>
                        </a:spcAft>
                        <a:buClr>
                          <a:srgbClr val="000000"/>
                        </a:buClr>
                        <a:buSzPts val="1400"/>
                        <a:buFont typeface="Arial" panose="020B0604020202020204"/>
                        <a:buNone/>
                      </a:pPr>
                      <a:r>
                        <a:rPr lang="en-US" sz="1400" b="1" u="none" strike="noStrike" cap="none">
                          <a:latin typeface="Times New Roman" panose="02020603050405020304"/>
                          <a:ea typeface="Times New Roman" panose="02020603050405020304"/>
                          <a:cs typeface="Times New Roman" panose="02020603050405020304"/>
                          <a:sym typeface="Times New Roman" panose="02020603050405020304"/>
                        </a:rPr>
                        <a:t>Weight/Scenario</a:t>
                      </a:r>
                      <a:endParaRPr sz="14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0" marR="0" marT="5725" marB="0">
                    <a:lnL w="12700" cap="flat" cmpd="sng">
                      <a:solidFill>
                        <a:srgbClr val="6FAC46"/>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6FAC46"/>
                      </a:solidFill>
                      <a:prstDash val="solid"/>
                      <a:round/>
                      <a:headEnd type="none" w="sm" len="sm"/>
                      <a:tailEnd type="none" w="sm" len="sm"/>
                    </a:lnB>
                    <a:solidFill>
                      <a:srgbClr val="BCD6ED"/>
                    </a:solidFill>
                  </a:tcPr>
                </a:tc>
                <a:tc>
                  <a:txBody>
                    <a:bodyPr/>
                    <a:lstStyle/>
                    <a:p>
                      <a:pPr marL="126365" marR="0" lvl="0" indent="0" algn="l" rtl="0">
                        <a:lnSpc>
                          <a:spcPct val="100000"/>
                        </a:lnSpc>
                        <a:spcBef>
                          <a:spcPts val="0"/>
                        </a:spcBef>
                        <a:spcAft>
                          <a:spcPts val="0"/>
                        </a:spcAft>
                        <a:buClr>
                          <a:srgbClr val="000000"/>
                        </a:buClr>
                        <a:buSzPts val="1400"/>
                        <a:buFont typeface="Arial" panose="020B0604020202020204"/>
                        <a:buNone/>
                      </a:pPr>
                      <a:r>
                        <a:rPr lang="en-US" sz="1400" b="1" u="none" strike="noStrike" cap="none">
                          <a:latin typeface="Times New Roman" panose="02020603050405020304"/>
                          <a:ea typeface="Times New Roman" panose="02020603050405020304"/>
                          <a:cs typeface="Times New Roman" panose="02020603050405020304"/>
                          <a:sym typeface="Times New Roman" panose="02020603050405020304"/>
                        </a:rPr>
                        <a:t>First-line ART</a:t>
                      </a:r>
                      <a:endParaRPr sz="14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0" marR="0" marT="5725"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6FAC46"/>
                      </a:solidFill>
                      <a:prstDash val="solid"/>
                      <a:round/>
                      <a:headEnd type="none" w="sm" len="sm"/>
                      <a:tailEnd type="none" w="sm" len="sm"/>
                    </a:lnB>
                    <a:solidFill>
                      <a:srgbClr val="BCD6ED"/>
                    </a:solidFill>
                  </a:tcPr>
                </a:tc>
                <a:tc>
                  <a:txBody>
                    <a:bodyPr/>
                    <a:lstStyle/>
                    <a:p>
                      <a:pPr marL="96520" marR="0" lvl="0" indent="0" algn="l" rtl="0">
                        <a:lnSpc>
                          <a:spcPct val="100000"/>
                        </a:lnSpc>
                        <a:spcBef>
                          <a:spcPts val="0"/>
                        </a:spcBef>
                        <a:spcAft>
                          <a:spcPts val="0"/>
                        </a:spcAft>
                        <a:buClr>
                          <a:srgbClr val="000000"/>
                        </a:buClr>
                        <a:buSzPts val="1400"/>
                        <a:buFont typeface="Arial" panose="020B0604020202020204"/>
                        <a:buNone/>
                      </a:pPr>
                      <a:r>
                        <a:rPr lang="en-US" sz="1400" b="1" u="none" strike="noStrike" cap="none">
                          <a:latin typeface="Times New Roman" panose="02020603050405020304"/>
                          <a:ea typeface="Times New Roman" panose="02020603050405020304"/>
                          <a:cs typeface="Times New Roman" panose="02020603050405020304"/>
                          <a:sym typeface="Times New Roman" panose="02020603050405020304"/>
                        </a:rPr>
                        <a:t>Second-line ART</a:t>
                      </a:r>
                      <a:endParaRPr sz="14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0" marR="0" marT="5725"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6FAC46"/>
                      </a:solidFill>
                      <a:prstDash val="solid"/>
                      <a:round/>
                      <a:headEnd type="none" w="sm" len="sm"/>
                      <a:tailEnd type="none" w="sm" len="sm"/>
                    </a:lnB>
                    <a:solidFill>
                      <a:srgbClr val="BCD6ED"/>
                    </a:solidFill>
                  </a:tcPr>
                </a:tc>
              </a:tr>
              <a:tr h="633475">
                <a:tc rowSpan="5">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latin typeface="EB Garamond"/>
                        <a:ea typeface="EB Garamond"/>
                        <a:cs typeface="EB Garamond"/>
                        <a:sym typeface="EB Garamond"/>
                      </a:endParaRPr>
                    </a:p>
                    <a:p>
                      <a:pPr marL="68580"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&lt; 30 kg</a:t>
                      </a:r>
                      <a:endParaRPr sz="1800" u="none" strike="noStrike" cap="none">
                        <a:latin typeface="EB Garamond"/>
                        <a:ea typeface="EB Garamond"/>
                        <a:cs typeface="EB Garamond"/>
                        <a:sym typeface="EB Garamond"/>
                      </a:endParaRPr>
                    </a:p>
                  </a:txBody>
                  <a:tcPr marL="0" marR="0" marT="1900" marB="0">
                    <a:lnL w="12700" cap="flat" cmpd="sng">
                      <a:solidFill>
                        <a:srgbClr val="6FAC46"/>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354965"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ABC (or AZT) + 3TC + DTG</a:t>
                      </a:r>
                      <a:endParaRPr sz="1800" u="none" strike="noStrike" cap="none">
                        <a:latin typeface="EB Garamond"/>
                        <a:ea typeface="EB Garamond"/>
                        <a:cs typeface="EB Garamond"/>
                        <a:sym typeface="EB Garamond"/>
                      </a:endParaRPr>
                    </a:p>
                  </a:txBody>
                  <a:tcPr marL="0" marR="0" marT="620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355600"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DRT-based second-line</a:t>
                      </a:r>
                      <a:endParaRPr sz="1800" u="none" strike="noStrike" cap="none">
                        <a:latin typeface="EB Garamond"/>
                        <a:ea typeface="EB Garamond"/>
                        <a:cs typeface="EB Garamond"/>
                        <a:sym typeface="EB Garamond"/>
                      </a:endParaRPr>
                    </a:p>
                    <a:p>
                      <a:pPr marL="355600" marR="0" lvl="0" indent="-287020" algn="l" rtl="0">
                        <a:lnSpc>
                          <a:spcPct val="100000"/>
                        </a:lnSpc>
                        <a:spcBef>
                          <a:spcPts val="73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PI/r</a:t>
                      </a:r>
                      <a:endParaRPr sz="1800" u="none" strike="noStrike" cap="none">
                        <a:latin typeface="EB Garamond"/>
                        <a:ea typeface="EB Garamond"/>
                        <a:cs typeface="EB Garamond"/>
                        <a:sym typeface="EB Garamond"/>
                      </a:endParaRPr>
                    </a:p>
                  </a:txBody>
                  <a:tcPr marL="0" marR="0" marT="6200"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r>
              <a:tr h="603900">
                <a:tc vMerge="1">
                  <a:tcPr/>
                </a:tc>
                <a:tc>
                  <a:txBody>
                    <a:bodyPr/>
                    <a:lstStyle/>
                    <a:p>
                      <a:pPr marL="354965"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ABC + 3TC + LPV/r</a:t>
                      </a:r>
                      <a:endParaRPr sz="1800" u="none" strike="noStrike" cap="none">
                        <a:latin typeface="EB Garamond"/>
                        <a:ea typeface="EB Garamond"/>
                        <a:cs typeface="EB Garamond"/>
                        <a:sym typeface="EB Garamond"/>
                      </a:endParaRPr>
                    </a:p>
                  </a:txBody>
                  <a:tcPr marL="0" marR="0" marT="620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c>
                  <a:txBody>
                    <a:bodyPr/>
                    <a:lstStyle/>
                    <a:p>
                      <a:pPr marL="355600"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Take sample for DRT and change to AZT +3TC + DTG</a:t>
                      </a:r>
                      <a:endParaRPr sz="1800" u="none" strike="noStrike" cap="none">
                        <a:latin typeface="EB Garamond"/>
                        <a:ea typeface="EB Garamond"/>
                        <a:cs typeface="EB Garamond"/>
                        <a:sym typeface="EB Garamond"/>
                      </a:endParaRPr>
                    </a:p>
                  </a:txBody>
                  <a:tcPr marL="0" marR="0" marT="6200"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r>
              <a:tr h="574850">
                <a:tc vMerge="1">
                  <a:tcPr/>
                </a:tc>
                <a:tc>
                  <a:txBody>
                    <a:bodyPr/>
                    <a:lstStyle/>
                    <a:p>
                      <a:pPr marL="354965"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AZT + 3TC + LPV/r</a:t>
                      </a:r>
                      <a:endParaRPr sz="1800" u="none" strike="noStrike" cap="none">
                        <a:latin typeface="EB Garamond"/>
                        <a:ea typeface="EB Garamond"/>
                        <a:cs typeface="EB Garamond"/>
                        <a:sym typeface="EB Garamond"/>
                      </a:endParaRPr>
                    </a:p>
                  </a:txBody>
                  <a:tcPr marL="0" marR="0" marT="620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355600"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Take sample for DRT and change to  ABC +3TC + DTG (DRT based</a:t>
                      </a:r>
                      <a:endParaRPr sz="1800" u="none" strike="noStrike" cap="none">
                        <a:latin typeface="EB Garamond"/>
                        <a:ea typeface="EB Garamond"/>
                        <a:cs typeface="EB Garamond"/>
                        <a:sym typeface="EB Garamond"/>
                      </a:endParaRPr>
                    </a:p>
                  </a:txBody>
                  <a:tcPr marL="0" marR="0" marT="6200"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r>
              <a:tr h="276050">
                <a:tc vMerge="1">
                  <a:tcPr/>
                </a:tc>
                <a:tc>
                  <a:txBody>
                    <a:bodyPr/>
                    <a:lstStyle/>
                    <a:p>
                      <a:pPr marL="354965"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ABC + 3TC + EFV</a:t>
                      </a:r>
                      <a:endParaRPr sz="1800" u="none" strike="noStrike" cap="none">
                        <a:latin typeface="EB Garamond"/>
                        <a:ea typeface="EB Garamond"/>
                        <a:cs typeface="EB Garamond"/>
                        <a:sym typeface="EB Garamond"/>
                      </a:endParaRPr>
                    </a:p>
                  </a:txBody>
                  <a:tcPr marL="0" marR="0" marT="620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c>
                  <a:txBody>
                    <a:bodyPr/>
                    <a:lstStyle/>
                    <a:p>
                      <a:pPr marL="355600"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AZT + 3TC + DTG</a:t>
                      </a:r>
                      <a:endParaRPr sz="1800" u="none" strike="noStrike" cap="none">
                        <a:latin typeface="EB Garamond"/>
                        <a:ea typeface="EB Garamond"/>
                        <a:cs typeface="EB Garamond"/>
                        <a:sym typeface="EB Garamond"/>
                      </a:endParaRPr>
                    </a:p>
                  </a:txBody>
                  <a:tcPr marL="0" marR="0" marT="6200"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r>
              <a:tr h="276050">
                <a:tc vMerge="1">
                  <a:tcPr/>
                </a:tc>
                <a:tc>
                  <a:txBody>
                    <a:bodyPr/>
                    <a:lstStyle/>
                    <a:p>
                      <a:pPr marL="354965"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AZT + 3TC + EFV</a:t>
                      </a:r>
                      <a:endParaRPr sz="1800" u="none" strike="noStrike" cap="none">
                        <a:latin typeface="EB Garamond"/>
                        <a:ea typeface="EB Garamond"/>
                        <a:cs typeface="EB Garamond"/>
                        <a:sym typeface="EB Garamond"/>
                      </a:endParaRPr>
                    </a:p>
                  </a:txBody>
                  <a:tcPr marL="0" marR="0" marT="6200"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355600"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ABC + 3TC + DTG</a:t>
                      </a:r>
                      <a:endParaRPr sz="1800" u="none" strike="noStrike" cap="none">
                        <a:latin typeface="EB Garamond"/>
                        <a:ea typeface="EB Garamond"/>
                        <a:cs typeface="EB Garamond"/>
                        <a:sym typeface="EB Garamond"/>
                      </a:endParaRPr>
                    </a:p>
                  </a:txBody>
                  <a:tcPr marL="0" marR="0" marT="6200"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r>
              <a:tr h="670575">
                <a:tc rowSpan="3">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latin typeface="EB Garamond"/>
                        <a:ea typeface="EB Garamond"/>
                        <a:cs typeface="EB Garamond"/>
                        <a:sym typeface="EB Garamond"/>
                      </a:endParaRPr>
                    </a:p>
                    <a:p>
                      <a:pPr marL="68580" marR="434340" lvl="0" indent="0" algn="l" rtl="0">
                        <a:lnSpc>
                          <a:spcPct val="115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 30 kg or ≥ 15  years old</a:t>
                      </a:r>
                      <a:endParaRPr sz="1800" u="none" strike="noStrike" cap="none">
                        <a:latin typeface="EB Garamond"/>
                        <a:ea typeface="EB Garamond"/>
                        <a:cs typeface="EB Garamond"/>
                        <a:sym typeface="EB Garamond"/>
                      </a:endParaRPr>
                    </a:p>
                  </a:txBody>
                  <a:tcPr marL="0" marR="0" marT="4775" marB="0">
                    <a:lnL w="12700" cap="flat" cmpd="sng">
                      <a:solidFill>
                        <a:srgbClr val="6FAC46"/>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c>
                  <a:txBody>
                    <a:bodyPr/>
                    <a:lstStyle/>
                    <a:p>
                      <a:pPr marL="354965"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TDF (or ABC) + 3TC + DTG (or PI/r)</a:t>
                      </a:r>
                      <a:endParaRPr sz="1800" u="none" strike="noStrike" cap="none">
                        <a:latin typeface="EB Garamond"/>
                        <a:ea typeface="EB Garamond"/>
                        <a:cs typeface="EB Garamond"/>
                        <a:sym typeface="EB Garamond"/>
                      </a:endParaRPr>
                    </a:p>
                  </a:txBody>
                  <a:tcPr marL="0" marR="0" marT="6675"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c>
                  <a:txBody>
                    <a:bodyPr/>
                    <a:lstStyle/>
                    <a:p>
                      <a:pPr marL="355600"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DRT-based second-line</a:t>
                      </a:r>
                      <a:endParaRPr sz="1800" u="none" strike="noStrike" cap="none">
                        <a:latin typeface="EB Garamond"/>
                        <a:ea typeface="EB Garamond"/>
                        <a:cs typeface="EB Garamond"/>
                        <a:sym typeface="EB Garamond"/>
                      </a:endParaRPr>
                    </a:p>
                  </a:txBody>
                  <a:tcPr marL="0" marR="0" marT="6675"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r>
              <a:tr h="368600">
                <a:tc vMerge="1">
                  <a:tcPr/>
                </a:tc>
                <a:tc>
                  <a:txBody>
                    <a:bodyPr/>
                    <a:lstStyle/>
                    <a:p>
                      <a:pPr marL="354965"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TDF (or ABC) + 3TC + EFV</a:t>
                      </a:r>
                      <a:endParaRPr sz="1800" u="none" strike="noStrike" cap="none">
                        <a:latin typeface="EB Garamond"/>
                        <a:ea typeface="EB Garamond"/>
                        <a:cs typeface="EB Garamond"/>
                        <a:sym typeface="EB Garamond"/>
                      </a:endParaRPr>
                    </a:p>
                  </a:txBody>
                  <a:tcPr marL="0" marR="0" marT="6675"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c>
                  <a:txBody>
                    <a:bodyPr/>
                    <a:lstStyle/>
                    <a:p>
                      <a:pPr marL="355600"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TDF + 3TC + DTG</a:t>
                      </a:r>
                      <a:endParaRPr sz="1800" u="none" strike="noStrike" cap="none">
                        <a:latin typeface="EB Garamond"/>
                        <a:ea typeface="EB Garamond"/>
                        <a:cs typeface="EB Garamond"/>
                        <a:sym typeface="EB Garamond"/>
                      </a:endParaRPr>
                    </a:p>
                  </a:txBody>
                  <a:tcPr marL="0" marR="0" marT="6675"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6FAC46"/>
                      </a:solidFill>
                      <a:prstDash val="solid"/>
                      <a:round/>
                      <a:headEnd type="none" w="sm" len="sm"/>
                      <a:tailEnd type="none" w="sm" len="sm"/>
                    </a:lnT>
                    <a:lnB w="12700" cap="flat" cmpd="sng">
                      <a:solidFill>
                        <a:srgbClr val="C55A11"/>
                      </a:solidFill>
                      <a:prstDash val="solid"/>
                      <a:round/>
                      <a:headEnd type="none" w="sm" len="sm"/>
                      <a:tailEnd type="none" w="sm" len="sm"/>
                    </a:lnB>
                  </a:tcPr>
                </a:tc>
              </a:tr>
              <a:tr h="276525">
                <a:tc vMerge="1">
                  <a:tcPr/>
                </a:tc>
                <a:tc>
                  <a:txBody>
                    <a:bodyPr/>
                    <a:lstStyle/>
                    <a:p>
                      <a:pPr marL="354965"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AZT + 3TC + EFV</a:t>
                      </a:r>
                      <a:endParaRPr sz="1800" u="none" strike="noStrike" cap="none">
                        <a:latin typeface="EB Garamond"/>
                        <a:ea typeface="EB Garamond"/>
                        <a:cs typeface="EB Garamond"/>
                        <a:sym typeface="EB Garamond"/>
                      </a:endParaRPr>
                    </a:p>
                  </a:txBody>
                  <a:tcPr marL="0" marR="0" marT="6675" marB="0">
                    <a:lnL w="12700" cap="flat" cmpd="sng">
                      <a:solidFill>
                        <a:srgbClr val="6FAC46"/>
                      </a:solidFill>
                      <a:prstDash val="solid"/>
                      <a:round/>
                      <a:headEnd type="none" w="sm" len="sm"/>
                      <a:tailEnd type="none" w="sm" len="sm"/>
                    </a:lnL>
                    <a:lnR w="12700" cap="flat" cmpd="sng">
                      <a:solidFill>
                        <a:srgbClr val="C55A11"/>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c>
                  <a:txBody>
                    <a:bodyPr/>
                    <a:lstStyle/>
                    <a:p>
                      <a:pPr marL="355600" marR="0" lvl="0" indent="-287020" algn="l" rtl="0">
                        <a:lnSpc>
                          <a:spcPct val="100000"/>
                        </a:lnSpc>
                        <a:spcBef>
                          <a:spcPts val="0"/>
                        </a:spcBef>
                        <a:spcAft>
                          <a:spcPts val="0"/>
                        </a:spcAft>
                        <a:buClr>
                          <a:schemeClr val="dk1"/>
                        </a:buClr>
                        <a:buSzPts val="1800"/>
                        <a:buFont typeface="Arial" panose="020B0604020202020204"/>
                        <a:buChar char="•"/>
                      </a:pPr>
                      <a:r>
                        <a:rPr lang="en-US" sz="1800" u="none" strike="noStrike" cap="none">
                          <a:latin typeface="EB Garamond"/>
                          <a:ea typeface="EB Garamond"/>
                          <a:cs typeface="EB Garamond"/>
                          <a:sym typeface="EB Garamond"/>
                        </a:rPr>
                        <a:t>TDF + 3TC + DTG</a:t>
                      </a:r>
                      <a:endParaRPr sz="1800" u="none" strike="noStrike" cap="none">
                        <a:latin typeface="EB Garamond"/>
                        <a:ea typeface="EB Garamond"/>
                        <a:cs typeface="EB Garamond"/>
                        <a:sym typeface="EB Garamond"/>
                      </a:endParaRPr>
                    </a:p>
                  </a:txBody>
                  <a:tcPr marL="0" marR="0" marT="6675" marB="0">
                    <a:lnL w="12700" cap="flat" cmpd="sng">
                      <a:solidFill>
                        <a:srgbClr val="C55A11"/>
                      </a:solidFill>
                      <a:prstDash val="solid"/>
                      <a:round/>
                      <a:headEnd type="none" w="sm" len="sm"/>
                      <a:tailEnd type="none" w="sm" len="sm"/>
                    </a:lnL>
                    <a:lnR w="12700" cap="flat" cmpd="sng">
                      <a:solidFill>
                        <a:srgbClr val="6FAC46"/>
                      </a:solidFill>
                      <a:prstDash val="solid"/>
                      <a:round/>
                      <a:headEnd type="none" w="sm" len="sm"/>
                      <a:tailEnd type="none" w="sm" len="sm"/>
                    </a:lnR>
                    <a:lnT w="12700" cap="flat" cmpd="sng">
                      <a:solidFill>
                        <a:srgbClr val="C55A11"/>
                      </a:solidFill>
                      <a:prstDash val="solid"/>
                      <a:round/>
                      <a:headEnd type="none" w="sm" len="sm"/>
                      <a:tailEnd type="none" w="sm" len="sm"/>
                    </a:lnT>
                    <a:lnB w="12700" cap="flat" cmpd="sng">
                      <a:solidFill>
                        <a:srgbClr val="6FAC46"/>
                      </a:solidFill>
                      <a:prstDash val="solid"/>
                      <a:round/>
                      <a:headEnd type="none" w="sm" len="sm"/>
                      <a:tailEnd type="none" w="sm" len="sm"/>
                    </a:lnB>
                  </a:tcPr>
                </a:tc>
              </a:tr>
            </a:tbl>
          </a:graphicData>
        </a:graphic>
      </p:graphicFrame>
      <p:sp>
        <p:nvSpPr>
          <p:cNvPr id="253" name="Google Shape;253;p30"/>
          <p:cNvSpPr txBox="1"/>
          <p:nvPr/>
        </p:nvSpPr>
        <p:spPr>
          <a:xfrm>
            <a:off x="2473843" y="872789"/>
            <a:ext cx="1483995" cy="286617"/>
          </a:xfrm>
          <a:prstGeom prst="rect">
            <a:avLst/>
          </a:prstGeom>
          <a:noFill/>
          <a:ln>
            <a:noFill/>
          </a:ln>
        </p:spPr>
        <p:txBody>
          <a:bodyPr spcFirstLastPara="1" wrap="square" lIns="0" tIns="9525" rIns="0" bIns="0" anchor="t" anchorCtr="0">
            <a:spAutoFit/>
          </a:bodyPr>
          <a:lstStyle/>
          <a:p>
            <a:pPr marL="2794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EB Garamond"/>
                <a:ea typeface="EB Garamond"/>
                <a:cs typeface="EB Garamond"/>
                <a:sym typeface="EB Garamond"/>
              </a:rPr>
              <a:t>2</a:t>
            </a:r>
            <a:r>
              <a:rPr lang="en-US" sz="1800" b="1" i="0" u="none" strike="noStrike" cap="none" baseline="30000">
                <a:solidFill>
                  <a:schemeClr val="dk1"/>
                </a:solidFill>
                <a:latin typeface="EB Garamond"/>
                <a:ea typeface="EB Garamond"/>
                <a:cs typeface="EB Garamond"/>
                <a:sym typeface="EB Garamond"/>
              </a:rPr>
              <a:t>nd </a:t>
            </a:r>
            <a:r>
              <a:rPr lang="en-US" sz="1800" b="1" i="0" u="none" strike="noStrike" cap="none">
                <a:solidFill>
                  <a:schemeClr val="dk1"/>
                </a:solidFill>
                <a:latin typeface="EB Garamond"/>
                <a:ea typeface="EB Garamond"/>
                <a:cs typeface="EB Garamond"/>
                <a:sym typeface="EB Garamond"/>
              </a:rPr>
              <a:t>Line ART</a:t>
            </a:r>
            <a:endParaRPr sz="1800" b="0" i="0" u="none" strike="noStrike" cap="none">
              <a:solidFill>
                <a:schemeClr val="dk1"/>
              </a:solidFill>
              <a:latin typeface="EB Garamond"/>
              <a:ea typeface="EB Garamond"/>
              <a:cs typeface="EB Garamond"/>
              <a:sym typeface="EB Garamon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57" name="Shape 257"/>
        <p:cNvGrpSpPr/>
        <p:nvPr/>
      </p:nvGrpSpPr>
      <p:grpSpPr>
        <a:xfrm>
          <a:off x="0" y="0"/>
          <a:ext cx="0" cy="0"/>
          <a:chOff x="0" y="0"/>
          <a:chExt cx="0" cy="0"/>
        </a:xfrm>
      </p:grpSpPr>
      <p:graphicFrame>
        <p:nvGraphicFramePr>
          <p:cNvPr id="258" name="Google Shape;258;p31"/>
          <p:cNvGraphicFramePr/>
          <p:nvPr/>
        </p:nvGraphicFramePr>
        <p:xfrm>
          <a:off x="2501550" y="1828801"/>
          <a:ext cx="7631900" cy="3000000"/>
        </p:xfrm>
        <a:graphic>
          <a:graphicData uri="http://schemas.openxmlformats.org/drawingml/2006/table">
            <a:tbl>
              <a:tblPr firstRow="1" bandRow="1">
                <a:noFill/>
                <a:tableStyleId>{CF69868B-0C89-4585-B3F8-C5E539B57ABF}</a:tableStyleId>
              </a:tblPr>
              <a:tblGrid>
                <a:gridCol w="2776050"/>
                <a:gridCol w="2485075"/>
                <a:gridCol w="2370775"/>
              </a:tblGrid>
              <a:tr h="4174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latin typeface="EB Garamond"/>
                        <a:ea typeface="EB Garamond"/>
                        <a:cs typeface="EB Garamond"/>
                        <a:sym typeface="EB Garamond"/>
                      </a:endParaRPr>
                    </a:p>
                    <a:p>
                      <a:pPr marL="9525"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Population</a:t>
                      </a:r>
                      <a:endParaRPr sz="1800" u="none" strike="noStrike" cap="none">
                        <a:latin typeface="EB Garamond"/>
                        <a:ea typeface="EB Garamond"/>
                        <a:cs typeface="EB Garamond"/>
                        <a:sym typeface="EB Garamond"/>
                      </a:endParaRPr>
                    </a:p>
                  </a:txBody>
                  <a:tcPr marL="0" marR="0" marT="1900" marB="0">
                    <a:lnT w="28575" cap="flat" cmpd="sng">
                      <a:solidFill>
                        <a:srgbClr val="000000"/>
                      </a:solidFill>
                      <a:prstDash val="solid"/>
                      <a:round/>
                      <a:headEnd type="none" w="sm" len="sm"/>
                      <a:tailEnd type="none" w="sm" len="sm"/>
                    </a:lnT>
                    <a:solidFill>
                      <a:srgbClr val="BCD6ED"/>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latin typeface="EB Garamond"/>
                        <a:ea typeface="EB Garamond"/>
                        <a:cs typeface="EB Garamond"/>
                        <a:sym typeface="EB Garamond"/>
                      </a:endParaRPr>
                    </a:p>
                    <a:p>
                      <a:pPr marL="172720"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First VL</a:t>
                      </a:r>
                      <a:endParaRPr sz="1800" u="none" strike="noStrike" cap="none">
                        <a:latin typeface="EB Garamond"/>
                        <a:ea typeface="EB Garamond"/>
                        <a:cs typeface="EB Garamond"/>
                        <a:sym typeface="EB Garamond"/>
                      </a:endParaRPr>
                    </a:p>
                  </a:txBody>
                  <a:tcPr marL="0" marR="0" marT="1900" marB="0">
                    <a:lnT w="28575" cap="flat" cmpd="sng">
                      <a:solidFill>
                        <a:srgbClr val="000000"/>
                      </a:solidFill>
                      <a:prstDash val="solid"/>
                      <a:round/>
                      <a:headEnd type="none" w="sm" len="sm"/>
                      <a:tailEnd type="none" w="sm" len="sm"/>
                    </a:lnT>
                    <a:solidFill>
                      <a:srgbClr val="BCD6ED"/>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latin typeface="EB Garamond"/>
                        <a:ea typeface="EB Garamond"/>
                        <a:cs typeface="EB Garamond"/>
                        <a:sym typeface="EB Garamond"/>
                      </a:endParaRPr>
                    </a:p>
                    <a:p>
                      <a:pPr marL="147955"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Follow Up</a:t>
                      </a:r>
                      <a:endParaRPr sz="1800" u="none" strike="noStrike" cap="none">
                        <a:latin typeface="EB Garamond"/>
                        <a:ea typeface="EB Garamond"/>
                        <a:cs typeface="EB Garamond"/>
                        <a:sym typeface="EB Garamond"/>
                      </a:endParaRPr>
                    </a:p>
                  </a:txBody>
                  <a:tcPr marL="0" marR="0" marT="1900" marB="0">
                    <a:lnT w="28575" cap="flat" cmpd="sng">
                      <a:solidFill>
                        <a:srgbClr val="000000"/>
                      </a:solidFill>
                      <a:prstDash val="solid"/>
                      <a:round/>
                      <a:headEnd type="none" w="sm" len="sm"/>
                      <a:tailEnd type="none" w="sm" len="sm"/>
                    </a:lnT>
                    <a:solidFill>
                      <a:srgbClr val="BCD6ED"/>
                    </a:solidFill>
                  </a:tcPr>
                </a:tc>
              </a:tr>
              <a:tr h="5741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latin typeface="EB Garamond"/>
                        <a:ea typeface="EB Garamond"/>
                        <a:cs typeface="EB Garamond"/>
                        <a:sym typeface="EB Garamond"/>
                      </a:endParaRPr>
                    </a:p>
                    <a:p>
                      <a:pPr marL="9525"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0 - 24 Years </a:t>
                      </a:r>
                      <a:endParaRPr sz="1800" u="none" strike="noStrike" cap="none">
                        <a:latin typeface="EB Garamond"/>
                        <a:ea typeface="EB Garamond"/>
                        <a:cs typeface="EB Garamond"/>
                        <a:sym typeface="EB Garamond"/>
                      </a:endParaRPr>
                    </a:p>
                  </a:txBody>
                  <a:tcPr marL="0" marR="0" marT="1900" marB="0">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latin typeface="EB Garamond"/>
                        <a:ea typeface="EB Garamond"/>
                        <a:cs typeface="EB Garamond"/>
                        <a:sym typeface="EB Garamond"/>
                      </a:endParaRPr>
                    </a:p>
                    <a:p>
                      <a:pPr marL="1727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3 Months after ART Initiation</a:t>
                      </a:r>
                      <a:endParaRPr sz="1800" u="none" strike="noStrike" cap="none">
                        <a:latin typeface="EB Garamond"/>
                        <a:ea typeface="EB Garamond"/>
                        <a:cs typeface="EB Garamond"/>
                        <a:sym typeface="EB Garamond"/>
                      </a:endParaRPr>
                    </a:p>
                  </a:txBody>
                  <a:tcPr marL="0" marR="0" marT="1900" marB="0">
                    <a:solidFill>
                      <a:srgbClr val="FFFFFF"/>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latin typeface="EB Garamond"/>
                        <a:ea typeface="EB Garamond"/>
                        <a:cs typeface="EB Garamond"/>
                        <a:sym typeface="EB Garamond"/>
                      </a:endParaRPr>
                    </a:p>
                    <a:p>
                      <a:pPr marL="14795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6 Monthly</a:t>
                      </a:r>
                      <a:endParaRPr sz="1800" u="none" strike="noStrike" cap="none">
                        <a:latin typeface="EB Garamond"/>
                        <a:ea typeface="EB Garamond"/>
                        <a:cs typeface="EB Garamond"/>
                        <a:sym typeface="EB Garamond"/>
                      </a:endParaRPr>
                    </a:p>
                  </a:txBody>
                  <a:tcPr marL="0" marR="0" marT="1900" marB="0">
                    <a:solidFill>
                      <a:srgbClr val="FFFFFF"/>
                    </a:solidFill>
                  </a:tcPr>
                </a:tc>
              </a:tr>
              <a:tr h="508125">
                <a:tc>
                  <a:txBody>
                    <a:bodyPr/>
                    <a:lstStyle/>
                    <a:p>
                      <a:pPr marL="9525"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25 Years and Older </a:t>
                      </a:r>
                      <a:endParaRPr sz="1800" u="none" strike="noStrike" cap="none">
                        <a:latin typeface="EB Garamond"/>
                        <a:ea typeface="EB Garamond"/>
                        <a:cs typeface="EB Garamond"/>
                        <a:sym typeface="EB Garamond"/>
                      </a:endParaRPr>
                    </a:p>
                  </a:txBody>
                  <a:tcPr marL="0" marR="0" marT="110975" marB="0">
                    <a:solidFill>
                      <a:srgbClr val="FFFFFF"/>
                    </a:solidFill>
                  </a:tcPr>
                </a:tc>
                <a:tc>
                  <a:txBody>
                    <a:bodyPr/>
                    <a:lstStyle/>
                    <a:p>
                      <a:pPr marL="1727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3 Months after ART Initiation</a:t>
                      </a:r>
                      <a:endParaRPr sz="1800" u="none" strike="noStrike" cap="none">
                        <a:latin typeface="EB Garamond"/>
                        <a:ea typeface="EB Garamond"/>
                        <a:cs typeface="EB Garamond"/>
                        <a:sym typeface="EB Garamond"/>
                      </a:endParaRPr>
                    </a:p>
                  </a:txBody>
                  <a:tcPr marL="0" marR="0" marT="110975" marB="0">
                    <a:solidFill>
                      <a:srgbClr val="FFFFFF"/>
                    </a:solidFill>
                  </a:tcPr>
                </a:tc>
                <a:tc>
                  <a:txBody>
                    <a:bodyPr/>
                    <a:lstStyle/>
                    <a:p>
                      <a:pPr marL="14795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At 12 months, then Annually</a:t>
                      </a:r>
                      <a:endParaRPr sz="1800" u="none" strike="noStrike" cap="none">
                        <a:latin typeface="EB Garamond"/>
                        <a:ea typeface="EB Garamond"/>
                        <a:cs typeface="EB Garamond"/>
                        <a:sym typeface="EB Garamond"/>
                      </a:endParaRPr>
                    </a:p>
                  </a:txBody>
                  <a:tcPr marL="0" marR="0" marT="110975" marB="0">
                    <a:solidFill>
                      <a:srgbClr val="FFFFFF"/>
                    </a:solidFill>
                  </a:tcPr>
                </a:tc>
              </a:tr>
              <a:tr h="507975">
                <a:tc>
                  <a:txBody>
                    <a:bodyPr/>
                    <a:lstStyle/>
                    <a:p>
                      <a:pPr marL="9525"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Pregnant &amp; BF Women (New Pos)</a:t>
                      </a:r>
                      <a:endParaRPr sz="1800" u="none" strike="noStrike" cap="none">
                        <a:latin typeface="EB Garamond"/>
                        <a:ea typeface="EB Garamond"/>
                        <a:cs typeface="EB Garamond"/>
                        <a:sym typeface="EB Garamond"/>
                      </a:endParaRPr>
                    </a:p>
                  </a:txBody>
                  <a:tcPr marL="0" marR="0" marT="110975" marB="0">
                    <a:solidFill>
                      <a:srgbClr val="FFFFFF"/>
                    </a:solidFill>
                  </a:tcPr>
                </a:tc>
                <a:tc>
                  <a:txBody>
                    <a:bodyPr/>
                    <a:lstStyle/>
                    <a:p>
                      <a:pPr marL="1727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3 Months after ART Initiation</a:t>
                      </a:r>
                      <a:endParaRPr sz="1800" u="none" strike="noStrike" cap="none">
                        <a:latin typeface="EB Garamond"/>
                        <a:ea typeface="EB Garamond"/>
                        <a:cs typeface="EB Garamond"/>
                        <a:sym typeface="EB Garamond"/>
                      </a:endParaRPr>
                    </a:p>
                  </a:txBody>
                  <a:tcPr marL="0" marR="0" marT="110975" marB="0">
                    <a:solidFill>
                      <a:srgbClr val="FFFFFF"/>
                    </a:solidFill>
                  </a:tcPr>
                </a:tc>
                <a:tc>
                  <a:txBody>
                    <a:bodyPr/>
                    <a:lstStyle/>
                    <a:p>
                      <a:pPr marL="14795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6 Monthly</a:t>
                      </a:r>
                      <a:endParaRPr sz="1800" u="none" strike="noStrike" cap="none">
                        <a:latin typeface="EB Garamond"/>
                        <a:ea typeface="EB Garamond"/>
                        <a:cs typeface="EB Garamond"/>
                        <a:sym typeface="EB Garamond"/>
                      </a:endParaRPr>
                    </a:p>
                  </a:txBody>
                  <a:tcPr marL="0" marR="0" marT="110975" marB="0">
                    <a:solidFill>
                      <a:srgbClr val="FFFFFF"/>
                    </a:solidFill>
                  </a:tcPr>
                </a:tc>
              </a:tr>
              <a:tr h="462925">
                <a:tc>
                  <a:txBody>
                    <a:bodyPr/>
                    <a:lstStyle/>
                    <a:p>
                      <a:pPr marL="9525"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Pregnant &amp; BF Women (On ART)</a:t>
                      </a:r>
                      <a:endParaRPr sz="1800" u="none" strike="noStrike" cap="none">
                        <a:latin typeface="EB Garamond"/>
                        <a:ea typeface="EB Garamond"/>
                        <a:cs typeface="EB Garamond"/>
                        <a:sym typeface="EB Garamond"/>
                      </a:endParaRPr>
                    </a:p>
                  </a:txBody>
                  <a:tcPr marL="0" marR="0" marT="110975" marB="0">
                    <a:solidFill>
                      <a:srgbClr val="FFFFFF"/>
                    </a:solidFill>
                  </a:tcPr>
                </a:tc>
                <a:tc>
                  <a:txBody>
                    <a:bodyPr/>
                    <a:lstStyle/>
                    <a:p>
                      <a:pPr marL="1727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At Baseline (Pg Diagnosis)</a:t>
                      </a:r>
                      <a:endParaRPr sz="1800" u="none" strike="noStrike" cap="none">
                        <a:latin typeface="EB Garamond"/>
                        <a:ea typeface="EB Garamond"/>
                        <a:cs typeface="EB Garamond"/>
                        <a:sym typeface="EB Garamond"/>
                      </a:endParaRPr>
                    </a:p>
                  </a:txBody>
                  <a:tcPr marL="0" marR="0" marT="110975" marB="0">
                    <a:solidFill>
                      <a:srgbClr val="FFFFFF"/>
                    </a:solidFill>
                  </a:tcPr>
                </a:tc>
                <a:tc>
                  <a:txBody>
                    <a:bodyPr/>
                    <a:lstStyle/>
                    <a:p>
                      <a:pPr marL="14795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6 Monthly</a:t>
                      </a:r>
                      <a:endParaRPr sz="1800" u="none" strike="noStrike" cap="none">
                        <a:latin typeface="EB Garamond"/>
                        <a:ea typeface="EB Garamond"/>
                        <a:cs typeface="EB Garamond"/>
                        <a:sym typeface="EB Garamond"/>
                      </a:endParaRPr>
                    </a:p>
                  </a:txBody>
                  <a:tcPr marL="0" marR="0" marT="110975" marB="0">
                    <a:solidFill>
                      <a:srgbClr val="FFFFFF"/>
                    </a:solidFill>
                  </a:tcPr>
                </a:tc>
              </a:tr>
              <a:tr h="305775">
                <a:tc>
                  <a:txBody>
                    <a:bodyPr/>
                    <a:lstStyle/>
                    <a:p>
                      <a:pPr marL="9525" marR="0" lvl="0" indent="0" algn="l" rtl="0">
                        <a:lnSpc>
                          <a:spcPct val="100000"/>
                        </a:lnSpc>
                        <a:spcBef>
                          <a:spcPts val="0"/>
                        </a:spcBef>
                        <a:spcAft>
                          <a:spcPts val="0"/>
                        </a:spcAft>
                        <a:buClr>
                          <a:srgbClr val="000000"/>
                        </a:buClr>
                        <a:buSzPts val="1800"/>
                        <a:buFont typeface="Arial" panose="020B0604020202020204"/>
                        <a:buNone/>
                      </a:pPr>
                      <a:r>
                        <a:rPr lang="en-US" sz="1800" b="1" u="none" strike="noStrike" cap="none">
                          <a:latin typeface="EB Garamond"/>
                          <a:ea typeface="EB Garamond"/>
                          <a:cs typeface="EB Garamond"/>
                          <a:sym typeface="EB Garamond"/>
                        </a:rPr>
                        <a:t>Regimen Switch</a:t>
                      </a:r>
                      <a:endParaRPr sz="1800" u="none" strike="noStrike" cap="none">
                        <a:latin typeface="EB Garamond"/>
                        <a:ea typeface="EB Garamond"/>
                        <a:cs typeface="EB Garamond"/>
                        <a:sym typeface="EB Garamond"/>
                      </a:endParaRPr>
                    </a:p>
                  </a:txBody>
                  <a:tcPr marL="0" marR="0" marT="65725" marB="0">
                    <a:lnB w="28575" cap="flat" cmpd="sng">
                      <a:solidFill>
                        <a:srgbClr val="000000"/>
                      </a:solidFill>
                      <a:prstDash val="solid"/>
                      <a:round/>
                      <a:headEnd type="none" w="sm" len="sm"/>
                      <a:tailEnd type="none" w="sm" len="sm"/>
                    </a:lnB>
                    <a:solidFill>
                      <a:srgbClr val="FFFFFF"/>
                    </a:solidFill>
                  </a:tcPr>
                </a:tc>
                <a:tc>
                  <a:txBody>
                    <a:bodyPr/>
                    <a:lstStyle/>
                    <a:p>
                      <a:pPr marL="172720"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N/A</a:t>
                      </a:r>
                      <a:endParaRPr sz="1800" u="none" strike="noStrike" cap="none">
                        <a:latin typeface="EB Garamond"/>
                        <a:ea typeface="EB Garamond"/>
                        <a:cs typeface="EB Garamond"/>
                        <a:sym typeface="EB Garamond"/>
                      </a:endParaRPr>
                    </a:p>
                  </a:txBody>
                  <a:tcPr marL="0" marR="0" marT="65725" marB="0">
                    <a:lnB w="28575" cap="flat" cmpd="sng">
                      <a:solidFill>
                        <a:srgbClr val="000000"/>
                      </a:solidFill>
                      <a:prstDash val="solid"/>
                      <a:round/>
                      <a:headEnd type="none" w="sm" len="sm"/>
                      <a:tailEnd type="none" w="sm" len="sm"/>
                    </a:lnB>
                    <a:solidFill>
                      <a:srgbClr val="FFFFFF"/>
                    </a:solidFill>
                  </a:tcPr>
                </a:tc>
                <a:tc>
                  <a:txBody>
                    <a:bodyPr/>
                    <a:lstStyle/>
                    <a:p>
                      <a:pPr marL="147955" marR="0" lvl="0" indent="0" algn="l" rtl="0">
                        <a:lnSpc>
                          <a:spcPct val="100000"/>
                        </a:lnSpc>
                        <a:spcBef>
                          <a:spcPts val="0"/>
                        </a:spcBef>
                        <a:spcAft>
                          <a:spcPts val="0"/>
                        </a:spcAft>
                        <a:buClr>
                          <a:srgbClr val="000000"/>
                        </a:buClr>
                        <a:buSzPts val="1800"/>
                        <a:buFont typeface="Arial" panose="020B0604020202020204"/>
                        <a:buNone/>
                      </a:pPr>
                      <a:r>
                        <a:rPr lang="en-US" sz="1800" u="none" strike="noStrike" cap="none">
                          <a:latin typeface="EB Garamond"/>
                          <a:ea typeface="EB Garamond"/>
                          <a:cs typeface="EB Garamond"/>
                          <a:sym typeface="EB Garamond"/>
                        </a:rPr>
                        <a:t>3 Months after Switch</a:t>
                      </a:r>
                      <a:endParaRPr sz="1800" u="none" strike="noStrike" cap="none">
                        <a:latin typeface="EB Garamond"/>
                        <a:ea typeface="EB Garamond"/>
                        <a:cs typeface="EB Garamond"/>
                        <a:sym typeface="EB Garamond"/>
                      </a:endParaRPr>
                    </a:p>
                  </a:txBody>
                  <a:tcPr marL="0" marR="0" marT="65725" marB="0">
                    <a:lnB w="28575" cap="flat" cmpd="sng">
                      <a:solidFill>
                        <a:srgbClr val="000000"/>
                      </a:solidFill>
                      <a:prstDash val="solid"/>
                      <a:round/>
                      <a:headEnd type="none" w="sm" len="sm"/>
                      <a:tailEnd type="none" w="sm" len="sm"/>
                    </a:lnB>
                    <a:solidFill>
                      <a:srgbClr val="FFFFFF"/>
                    </a:solidFill>
                  </a:tcPr>
                </a:tc>
              </a:tr>
            </a:tbl>
          </a:graphicData>
        </a:graphic>
      </p:graphicFrame>
      <p:sp>
        <p:nvSpPr>
          <p:cNvPr id="259" name="Google Shape;259;p31"/>
          <p:cNvSpPr txBox="1"/>
          <p:nvPr>
            <p:ph type="title"/>
          </p:nvPr>
        </p:nvSpPr>
        <p:spPr>
          <a:xfrm>
            <a:off x="2286000" y="376410"/>
            <a:ext cx="7239000" cy="378469"/>
          </a:xfrm>
          <a:prstGeom prst="rect">
            <a:avLst/>
          </a:prstGeom>
          <a:noFill/>
          <a:ln>
            <a:noFill/>
          </a:ln>
        </p:spPr>
        <p:txBody>
          <a:bodyPr spcFirstLastPara="1" wrap="square" lIns="0" tIns="9025" rIns="0" bIns="0" anchor="ctr" anchorCtr="0">
            <a:spAutoFit/>
          </a:bodyPr>
          <a:lstStyle/>
          <a:p>
            <a:pPr marL="9525" marR="3810" lvl="0" indent="887095" algn="l" rtl="0">
              <a:lnSpc>
                <a:spcPct val="100000"/>
              </a:lnSpc>
              <a:spcBef>
                <a:spcPts val="0"/>
              </a:spcBef>
              <a:spcAft>
                <a:spcPts val="0"/>
              </a:spcAft>
              <a:buSzPts val="1400"/>
              <a:buNone/>
            </a:pPr>
            <a:r>
              <a:rPr lang="en-US" sz="2400">
                <a:solidFill>
                  <a:srgbClr val="2E75B5"/>
                </a:solidFill>
              </a:rPr>
              <a:t>ART in Infants, Children, Adolescents, and Adults</a:t>
            </a:r>
            <a:endParaRPr sz="2400">
              <a:latin typeface="Calibri" panose="020F0502020204030204"/>
              <a:ea typeface="Calibri" panose="020F0502020204030204"/>
              <a:cs typeface="Calibri" panose="020F0502020204030204"/>
              <a:sym typeface="Calibri" panose="020F0502020204030204"/>
            </a:endParaRPr>
          </a:p>
        </p:txBody>
      </p:sp>
      <p:sp>
        <p:nvSpPr>
          <p:cNvPr id="260" name="Google Shape;260;p31"/>
          <p:cNvSpPr txBox="1"/>
          <p:nvPr/>
        </p:nvSpPr>
        <p:spPr>
          <a:xfrm>
            <a:off x="2553697" y="1148531"/>
            <a:ext cx="3763804" cy="286617"/>
          </a:xfrm>
          <a:prstGeom prst="rect">
            <a:avLst/>
          </a:prstGeom>
          <a:noFill/>
          <a:ln>
            <a:noFill/>
          </a:ln>
        </p:spPr>
        <p:txBody>
          <a:bodyPr spcFirstLastPara="1" wrap="square" lIns="0" tIns="9525" rIns="0" bIns="0" anchor="t" anchorCtr="0">
            <a:spAutoFit/>
          </a:bodyPr>
          <a:lstStyle/>
          <a:p>
            <a:pPr marL="889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EB Garamond"/>
                <a:ea typeface="EB Garamond"/>
                <a:cs typeface="EB Garamond"/>
                <a:sym typeface="EB Garamond"/>
              </a:rPr>
              <a:t>Viral Load Monitoring Intervals</a:t>
            </a:r>
            <a:endParaRPr sz="1800" b="0" i="0" u="none" strike="noStrike" cap="none">
              <a:solidFill>
                <a:schemeClr val="dk1"/>
              </a:solidFill>
              <a:latin typeface="EB Garamond"/>
              <a:ea typeface="EB Garamond"/>
              <a:cs typeface="EB Garamond"/>
              <a:sym typeface="EB Garamon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264" name="Shape 264"/>
        <p:cNvGrpSpPr/>
        <p:nvPr/>
      </p:nvGrpSpPr>
      <p:grpSpPr>
        <a:xfrm>
          <a:off x="0" y="0"/>
          <a:ext cx="0" cy="0"/>
          <a:chOff x="0" y="0"/>
          <a:chExt cx="0" cy="0"/>
        </a:xfrm>
      </p:grpSpPr>
      <p:sp>
        <p:nvSpPr>
          <p:cNvPr id="265" name="Google Shape;265;p32"/>
          <p:cNvSpPr txBox="1"/>
          <p:nvPr>
            <p:ph type="title"/>
          </p:nvPr>
        </p:nvSpPr>
        <p:spPr>
          <a:xfrm>
            <a:off x="2299028" y="381001"/>
            <a:ext cx="7345017" cy="378469"/>
          </a:xfrm>
          <a:prstGeom prst="rect">
            <a:avLst/>
          </a:prstGeom>
          <a:noFill/>
          <a:ln>
            <a:noFill/>
          </a:ln>
        </p:spPr>
        <p:txBody>
          <a:bodyPr spcFirstLastPara="1" wrap="square" lIns="0" tIns="9025" rIns="0" bIns="0" anchor="ctr" anchorCtr="0">
            <a:spAutoFit/>
          </a:bodyPr>
          <a:lstStyle/>
          <a:p>
            <a:pPr marL="20320" marR="3810" lvl="0" indent="861695" algn="l" rtl="0">
              <a:lnSpc>
                <a:spcPct val="100000"/>
              </a:lnSpc>
              <a:spcBef>
                <a:spcPts val="0"/>
              </a:spcBef>
              <a:spcAft>
                <a:spcPts val="0"/>
              </a:spcAft>
              <a:buSzPts val="1400"/>
              <a:buNone/>
            </a:pPr>
            <a:r>
              <a:rPr lang="en-US" sz="2400">
                <a:solidFill>
                  <a:srgbClr val="2E75B5"/>
                </a:solidFill>
                <a:latin typeface="Arial" panose="020B0604020202020204"/>
                <a:ea typeface="Arial" panose="020B0604020202020204"/>
                <a:cs typeface="Arial" panose="020B0604020202020204"/>
                <a:sym typeface="Arial" panose="020B0604020202020204"/>
              </a:rPr>
              <a:t>ART in Infants, Children, Adolescents, and Adults</a:t>
            </a:r>
            <a:endParaRPr lang="en-US" sz="2400">
              <a:solidFill>
                <a:srgbClr val="2E75B5"/>
              </a:solidFill>
              <a:latin typeface="Arial" panose="020B0604020202020204"/>
              <a:ea typeface="Arial" panose="020B0604020202020204"/>
              <a:cs typeface="Arial" panose="020B0604020202020204"/>
              <a:sym typeface="Arial" panose="020B0604020202020204"/>
            </a:endParaRPr>
          </a:p>
        </p:txBody>
      </p:sp>
      <p:sp>
        <p:nvSpPr>
          <p:cNvPr id="266" name="Google Shape;266;p32"/>
          <p:cNvSpPr txBox="1"/>
          <p:nvPr/>
        </p:nvSpPr>
        <p:spPr>
          <a:xfrm>
            <a:off x="2329706" y="1054117"/>
            <a:ext cx="5690711" cy="286617"/>
          </a:xfrm>
          <a:prstGeom prst="rect">
            <a:avLst/>
          </a:prstGeom>
          <a:noFill/>
          <a:ln>
            <a:noFill/>
          </a:ln>
        </p:spPr>
        <p:txBody>
          <a:bodyPr spcFirstLastPara="1" wrap="square" lIns="0" tIns="9525" rIns="0" bIns="0" anchor="t" anchorCtr="0">
            <a:spAutoFit/>
          </a:bodyPr>
          <a:lstStyle/>
          <a:p>
            <a:pPr marL="889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EB Garamond"/>
                <a:ea typeface="EB Garamond"/>
                <a:cs typeface="EB Garamond"/>
                <a:sym typeface="EB Garamond"/>
              </a:rPr>
              <a:t>Viral Load Cut-Offs &amp; Recommended Management </a:t>
            </a:r>
            <a:endParaRPr sz="1800" b="0" i="0" u="none" strike="noStrike" cap="none">
              <a:solidFill>
                <a:schemeClr val="dk1"/>
              </a:solidFill>
              <a:latin typeface="EB Garamond"/>
              <a:ea typeface="EB Garamond"/>
              <a:cs typeface="EB Garamond"/>
              <a:sym typeface="EB Garamond"/>
            </a:endParaRPr>
          </a:p>
        </p:txBody>
      </p:sp>
      <p:graphicFrame>
        <p:nvGraphicFramePr>
          <p:cNvPr id="267" name="Google Shape;267;p32"/>
          <p:cNvGraphicFramePr/>
          <p:nvPr/>
        </p:nvGraphicFramePr>
        <p:xfrm>
          <a:off x="2209800" y="1752601"/>
          <a:ext cx="8271975" cy="3287875"/>
        </p:xfrm>
        <a:graphic>
          <a:graphicData uri="http://schemas.openxmlformats.org/drawingml/2006/table">
            <a:tbl>
              <a:tblPr firstRow="1" bandRow="1">
                <a:noFill/>
                <a:tableStyleId>{CF69868B-0C89-4585-B3F8-C5E539B57ABF}</a:tableStyleId>
              </a:tblPr>
              <a:tblGrid>
                <a:gridCol w="1547325"/>
                <a:gridCol w="1333500"/>
                <a:gridCol w="1639725"/>
                <a:gridCol w="1691650"/>
                <a:gridCol w="2059775"/>
              </a:tblGrid>
              <a:tr h="439475">
                <a:tc>
                  <a:txBody>
                    <a:bodyPr/>
                    <a:lstStyle/>
                    <a:p>
                      <a:pPr marL="91440" marR="0" lvl="0" indent="0" algn="l" rtl="0">
                        <a:lnSpc>
                          <a:spcPct val="100000"/>
                        </a:lnSpc>
                        <a:spcBef>
                          <a:spcPts val="0"/>
                        </a:spcBef>
                        <a:spcAft>
                          <a:spcPts val="0"/>
                        </a:spcAft>
                        <a:buClr>
                          <a:srgbClr val="000000"/>
                        </a:buClr>
                        <a:buSzPts val="1600"/>
                        <a:buFont typeface="Arial" panose="020B0604020202020204"/>
                        <a:buNone/>
                      </a:pPr>
                      <a:r>
                        <a:rPr lang="en-US" sz="1600" b="1" u="none" strike="noStrike" cap="none">
                          <a:latin typeface="EB Garamond"/>
                          <a:ea typeface="EB Garamond"/>
                          <a:cs typeface="EB Garamond"/>
                          <a:sym typeface="EB Garamond"/>
                        </a:rPr>
                        <a:t>Clinical Definition</a:t>
                      </a:r>
                      <a:endParaRPr sz="1600" u="none" strike="noStrike" cap="none">
                        <a:latin typeface="EB Garamond"/>
                        <a:ea typeface="EB Garamond"/>
                        <a:cs typeface="EB Garamond"/>
                        <a:sym typeface="EB Garamond"/>
                      </a:endParaRPr>
                    </a:p>
                  </a:txBody>
                  <a:tcPr marL="0" marR="0" marT="22850" marB="0">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CD6ED"/>
                    </a:solidFill>
                  </a:tcPr>
                </a:tc>
                <a:tc>
                  <a:txBody>
                    <a:bodyPr/>
                    <a:lstStyle/>
                    <a:p>
                      <a:pPr marL="91440" marR="0" lvl="0" indent="0" algn="l" rtl="0">
                        <a:lnSpc>
                          <a:spcPct val="100000"/>
                        </a:lnSpc>
                        <a:spcBef>
                          <a:spcPts val="0"/>
                        </a:spcBef>
                        <a:spcAft>
                          <a:spcPts val="0"/>
                        </a:spcAft>
                        <a:buClr>
                          <a:srgbClr val="000000"/>
                        </a:buClr>
                        <a:buSzPts val="1600"/>
                        <a:buFont typeface="Arial" panose="020B0604020202020204"/>
                        <a:buNone/>
                      </a:pPr>
                      <a:r>
                        <a:rPr lang="en-US" sz="1600" b="1" u="none" strike="noStrike" cap="none">
                          <a:latin typeface="EB Garamond"/>
                          <a:ea typeface="EB Garamond"/>
                          <a:cs typeface="EB Garamond"/>
                          <a:sym typeface="EB Garamond"/>
                        </a:rPr>
                        <a:t>Category</a:t>
                      </a:r>
                      <a:endParaRPr sz="1600" u="none" strike="noStrike" cap="none">
                        <a:latin typeface="EB Garamond"/>
                        <a:ea typeface="EB Garamond"/>
                        <a:cs typeface="EB Garamond"/>
                        <a:sym typeface="EB Garamond"/>
                      </a:endParaRPr>
                    </a:p>
                  </a:txBody>
                  <a:tcPr marL="0" marR="0" marT="22850"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CD6ED"/>
                    </a:solidFill>
                  </a:tcPr>
                </a:tc>
                <a:tc>
                  <a:txBody>
                    <a:bodyPr/>
                    <a:lstStyle/>
                    <a:p>
                      <a:pPr marL="198120" marR="0" lvl="0" indent="0" algn="l" rtl="0">
                        <a:lnSpc>
                          <a:spcPct val="100000"/>
                        </a:lnSpc>
                        <a:spcBef>
                          <a:spcPts val="0"/>
                        </a:spcBef>
                        <a:spcAft>
                          <a:spcPts val="0"/>
                        </a:spcAft>
                        <a:buClr>
                          <a:srgbClr val="000000"/>
                        </a:buClr>
                        <a:buSzPts val="1600"/>
                        <a:buFont typeface="Arial" panose="020B0604020202020204"/>
                        <a:buNone/>
                      </a:pPr>
                      <a:r>
                        <a:rPr lang="en-US" sz="1600" b="1" u="none" strike="noStrike" cap="none">
                          <a:latin typeface="EB Garamond"/>
                          <a:ea typeface="EB Garamond"/>
                          <a:cs typeface="EB Garamond"/>
                          <a:sym typeface="EB Garamond"/>
                        </a:rPr>
                        <a:t>Lab Value</a:t>
                      </a:r>
                      <a:endParaRPr sz="1600" u="none" strike="noStrike" cap="none">
                        <a:latin typeface="EB Garamond"/>
                        <a:ea typeface="EB Garamond"/>
                        <a:cs typeface="EB Garamond"/>
                        <a:sym typeface="EB Garamond"/>
                      </a:endParaRPr>
                    </a:p>
                  </a:txBody>
                  <a:tcPr marL="0" marR="0" marT="22850"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CD6ED"/>
                    </a:solidFill>
                  </a:tcPr>
                </a:tc>
                <a:tc>
                  <a:txBody>
                    <a:bodyPr/>
                    <a:lstStyle/>
                    <a:p>
                      <a:pPr marL="113030" marR="0" lvl="0" indent="0" algn="l" rtl="0">
                        <a:lnSpc>
                          <a:spcPct val="100000"/>
                        </a:lnSpc>
                        <a:spcBef>
                          <a:spcPts val="0"/>
                        </a:spcBef>
                        <a:spcAft>
                          <a:spcPts val="0"/>
                        </a:spcAft>
                        <a:buClr>
                          <a:srgbClr val="000000"/>
                        </a:buClr>
                        <a:buSzPts val="1600"/>
                        <a:buFont typeface="Arial" panose="020B0604020202020204"/>
                        <a:buNone/>
                      </a:pPr>
                      <a:r>
                        <a:rPr lang="en-US" sz="1600" b="1" u="none" strike="noStrike" cap="none">
                          <a:latin typeface="EB Garamond"/>
                          <a:ea typeface="EB Garamond"/>
                          <a:cs typeface="EB Garamond"/>
                          <a:sym typeface="EB Garamond"/>
                        </a:rPr>
                        <a:t>Interpretation</a:t>
                      </a:r>
                      <a:endParaRPr sz="1600" u="none" strike="noStrike" cap="none">
                        <a:latin typeface="EB Garamond"/>
                        <a:ea typeface="EB Garamond"/>
                        <a:cs typeface="EB Garamond"/>
                        <a:sym typeface="EB Garamond"/>
                      </a:endParaRPr>
                    </a:p>
                  </a:txBody>
                  <a:tcPr marL="0" marR="0" marT="22850"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CD6ED"/>
                    </a:solidFill>
                  </a:tcPr>
                </a:tc>
                <a:tc>
                  <a:txBody>
                    <a:bodyPr/>
                    <a:lstStyle/>
                    <a:p>
                      <a:pPr marL="139065" marR="0" lvl="0" indent="0" algn="l" rtl="0">
                        <a:lnSpc>
                          <a:spcPct val="100000"/>
                        </a:lnSpc>
                        <a:spcBef>
                          <a:spcPts val="0"/>
                        </a:spcBef>
                        <a:spcAft>
                          <a:spcPts val="0"/>
                        </a:spcAft>
                        <a:buClr>
                          <a:srgbClr val="000000"/>
                        </a:buClr>
                        <a:buSzPts val="1600"/>
                        <a:buFont typeface="Arial" panose="020B0604020202020204"/>
                        <a:buNone/>
                      </a:pPr>
                      <a:r>
                        <a:rPr lang="en-US" sz="1600" b="1" u="none" strike="noStrike" cap="none">
                          <a:latin typeface="EB Garamond"/>
                          <a:ea typeface="EB Garamond"/>
                          <a:cs typeface="EB Garamond"/>
                          <a:sym typeface="EB Garamond"/>
                        </a:rPr>
                        <a:t>Guidance</a:t>
                      </a:r>
                      <a:endParaRPr sz="1600" u="none" strike="noStrike" cap="none">
                        <a:latin typeface="EB Garamond"/>
                        <a:ea typeface="EB Garamond"/>
                        <a:cs typeface="EB Garamond"/>
                        <a:sym typeface="EB Garamond"/>
                      </a:endParaRPr>
                    </a:p>
                  </a:txBody>
                  <a:tcPr marL="0" marR="0" marT="22850" marB="0">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CD6ED"/>
                    </a:solidFill>
                  </a:tcPr>
                </a:tc>
              </a:tr>
              <a:tr h="463675">
                <a:tc rowSpan="2">
                  <a:txBody>
                    <a:bodyPr/>
                    <a:lstStyle/>
                    <a:p>
                      <a:pPr marL="486410" marR="0" lvl="0" indent="0" algn="l" rtl="0">
                        <a:lnSpc>
                          <a:spcPct val="100000"/>
                        </a:lnSpc>
                        <a:spcBef>
                          <a:spcPts val="0"/>
                        </a:spcBef>
                        <a:spcAft>
                          <a:spcPts val="0"/>
                        </a:spcAft>
                        <a:buClr>
                          <a:srgbClr val="000000"/>
                        </a:buClr>
                        <a:buSzPts val="1600"/>
                        <a:buFont typeface="Arial" panose="020B0604020202020204"/>
                        <a:buNone/>
                      </a:pPr>
                      <a:r>
                        <a:rPr lang="en-US" sz="1600" b="1" u="none" strike="noStrike" cap="none">
                          <a:latin typeface="EB Garamond"/>
                          <a:ea typeface="EB Garamond"/>
                          <a:cs typeface="EB Garamond"/>
                          <a:sym typeface="EB Garamond"/>
                        </a:rPr>
                        <a:t>Suppressed</a:t>
                      </a:r>
                      <a:endParaRPr sz="1600" u="none" strike="noStrike" cap="none">
                        <a:latin typeface="EB Garamond"/>
                        <a:ea typeface="EB Garamond"/>
                        <a:cs typeface="EB Garamond"/>
                        <a:sym typeface="EB Garamond"/>
                      </a:endParaRPr>
                    </a:p>
                  </a:txBody>
                  <a:tcPr marL="0" marR="0" marT="22850" marB="0">
                    <a:lnL w="9525" cap="flat" cmpd="sng">
                      <a:solidFill>
                        <a:srgbClr val="000000"/>
                      </a:solidFill>
                      <a:prstDash val="solid"/>
                      <a:round/>
                      <a:headEnd type="none" w="sm" len="sm"/>
                      <a:tailEnd type="none" w="sm" len="sm"/>
                    </a:lnL>
                    <a:lnT w="9525" cap="flat" cmpd="sng">
                      <a:solidFill>
                        <a:srgbClr val="000000"/>
                      </a:solidFill>
                      <a:prstDash val="solid"/>
                      <a:round/>
                      <a:headEnd type="none" w="sm" len="sm"/>
                      <a:tailEnd type="none" w="sm" len="sm"/>
                    </a:lnT>
                    <a:solidFill>
                      <a:srgbClr val="E1EFD9"/>
                    </a:solidFill>
                  </a:tcPr>
                </a:tc>
                <a:tc>
                  <a:txBody>
                    <a:bodyPr/>
                    <a:lstStyle/>
                    <a:p>
                      <a:pPr marL="377825" marR="0"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LDL</a:t>
                      </a:r>
                      <a:endParaRPr sz="1600" u="none" strike="noStrike" cap="none">
                        <a:latin typeface="EB Garamond"/>
                        <a:ea typeface="EB Garamond"/>
                        <a:cs typeface="EB Garamond"/>
                        <a:sym typeface="EB Garamond"/>
                      </a:endParaRPr>
                    </a:p>
                  </a:txBody>
                  <a:tcPr marL="0" marR="0" marT="22850"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1EFD9"/>
                    </a:solidFill>
                  </a:tcPr>
                </a:tc>
                <a:tc>
                  <a:txBody>
                    <a:bodyPr/>
                    <a:lstStyle/>
                    <a:p>
                      <a:pPr marL="484505" marR="0"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&lt;50 Copies/mL</a:t>
                      </a:r>
                      <a:endParaRPr sz="1600" u="none" strike="noStrike" cap="none">
                        <a:latin typeface="EB Garamond"/>
                        <a:ea typeface="EB Garamond"/>
                        <a:cs typeface="EB Garamond"/>
                        <a:sym typeface="EB Garamond"/>
                      </a:endParaRPr>
                    </a:p>
                  </a:txBody>
                  <a:tcPr marL="0" marR="0" marT="22850"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1EFD9"/>
                    </a:solidFill>
                  </a:tcPr>
                </a:tc>
                <a:tc>
                  <a:txBody>
                    <a:bodyPr/>
                    <a:lstStyle/>
                    <a:p>
                      <a:pPr marL="399415" marR="0"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Treatment Goal</a:t>
                      </a:r>
                      <a:endParaRPr sz="1600" u="none" strike="noStrike" cap="none">
                        <a:latin typeface="EB Garamond"/>
                        <a:ea typeface="EB Garamond"/>
                        <a:cs typeface="EB Garamond"/>
                        <a:sym typeface="EB Garamond"/>
                      </a:endParaRPr>
                    </a:p>
                  </a:txBody>
                  <a:tcPr marL="0" marR="0" marT="22850"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1EFD9"/>
                    </a:solidFill>
                  </a:tcPr>
                </a:tc>
                <a:tc>
                  <a:txBody>
                    <a:bodyPr/>
                    <a:lstStyle/>
                    <a:p>
                      <a:pPr marL="426085" marR="0" lvl="0" indent="-287655"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Continue management</a:t>
                      </a:r>
                      <a:endParaRPr sz="1600" u="none" strike="noStrike" cap="none">
                        <a:latin typeface="EB Garamond"/>
                        <a:ea typeface="EB Garamond"/>
                        <a:cs typeface="EB Garamond"/>
                        <a:sym typeface="EB Garamond"/>
                      </a:endParaRPr>
                    </a:p>
                  </a:txBody>
                  <a:tcPr marL="0" marR="0" marT="22850" marB="0">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1EFD9"/>
                    </a:solidFill>
                  </a:tcPr>
                </a:tc>
              </a:tr>
              <a:tr h="662475">
                <a:tc vMerge="1">
                  <a:tcPr/>
                </a:tc>
                <a:tc>
                  <a:txBody>
                    <a:bodyPr/>
                    <a:lstStyle/>
                    <a:p>
                      <a:pPr marL="377825" marR="0"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Low Risk LLV</a:t>
                      </a:r>
                      <a:endParaRPr sz="1600" u="none" strike="noStrike" cap="none">
                        <a:latin typeface="EB Garamond"/>
                        <a:ea typeface="EB Garamond"/>
                        <a:cs typeface="EB Garamond"/>
                        <a:sym typeface="EB Garamond"/>
                      </a:endParaRPr>
                    </a:p>
                  </a:txBody>
                  <a:tcPr marL="0" marR="0" marT="23325"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1EFD9"/>
                    </a:solidFill>
                  </a:tcPr>
                </a:tc>
                <a:tc>
                  <a:txBody>
                    <a:bodyPr/>
                    <a:lstStyle/>
                    <a:p>
                      <a:pPr marL="484505" marR="0"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50 – 199</a:t>
                      </a:r>
                      <a:endParaRPr sz="1600" u="none" strike="noStrike" cap="none">
                        <a:latin typeface="EB Garamond"/>
                        <a:ea typeface="EB Garamond"/>
                        <a:cs typeface="EB Garamond"/>
                        <a:sym typeface="EB Garamond"/>
                      </a:endParaRPr>
                    </a:p>
                    <a:p>
                      <a:pPr marL="484505" marR="0" lvl="0" indent="0" algn="l" rtl="0">
                        <a:lnSpc>
                          <a:spcPct val="100000"/>
                        </a:lnSpc>
                        <a:spcBef>
                          <a:spcPts val="0"/>
                        </a:spcBef>
                        <a:spcAft>
                          <a:spcPts val="0"/>
                        </a:spcAft>
                        <a:buClr>
                          <a:srgbClr val="000000"/>
                        </a:buClr>
                        <a:buSzPts val="1600"/>
                        <a:buFont typeface="Arial" panose="020B0604020202020204"/>
                        <a:buNone/>
                      </a:pPr>
                      <a:r>
                        <a:rPr lang="en-US" sz="1600" u="none" strike="noStrike" cap="none">
                          <a:latin typeface="EB Garamond"/>
                          <a:ea typeface="EB Garamond"/>
                          <a:cs typeface="EB Garamond"/>
                          <a:sym typeface="EB Garamond"/>
                        </a:rPr>
                        <a:t>Copies/mL</a:t>
                      </a:r>
                      <a:endParaRPr sz="1600" u="none" strike="noStrike" cap="none">
                        <a:latin typeface="EB Garamond"/>
                        <a:ea typeface="EB Garamond"/>
                        <a:cs typeface="EB Garamond"/>
                        <a:sym typeface="EB Garamond"/>
                      </a:endParaRPr>
                    </a:p>
                  </a:txBody>
                  <a:tcPr marL="0" marR="0" marT="23325"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1EFD9"/>
                    </a:solidFill>
                  </a:tcPr>
                </a:tc>
                <a:tc>
                  <a:txBody>
                    <a:bodyPr/>
                    <a:lstStyle/>
                    <a:p>
                      <a:pPr marL="399415" marR="0"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Suppressed,</a:t>
                      </a:r>
                      <a:endParaRPr sz="1600" u="none" strike="noStrike" cap="none">
                        <a:latin typeface="EB Garamond"/>
                        <a:ea typeface="EB Garamond"/>
                        <a:cs typeface="EB Garamond"/>
                        <a:sym typeface="EB Garamond"/>
                      </a:endParaRPr>
                    </a:p>
                    <a:p>
                      <a:pPr marL="399415" marR="0" lvl="0" indent="0" algn="l" rtl="0">
                        <a:lnSpc>
                          <a:spcPct val="100000"/>
                        </a:lnSpc>
                        <a:spcBef>
                          <a:spcPts val="0"/>
                        </a:spcBef>
                        <a:spcAft>
                          <a:spcPts val="0"/>
                        </a:spcAft>
                        <a:buClr>
                          <a:srgbClr val="000000"/>
                        </a:buClr>
                        <a:buSzPts val="1600"/>
                        <a:buFont typeface="Arial" panose="020B0604020202020204"/>
                        <a:buNone/>
                      </a:pPr>
                      <a:r>
                        <a:rPr lang="en-US" sz="1600" u="none" strike="noStrike" cap="none">
                          <a:latin typeface="EB Garamond"/>
                          <a:ea typeface="EB Garamond"/>
                          <a:cs typeface="EB Garamond"/>
                          <a:sym typeface="EB Garamond"/>
                        </a:rPr>
                        <a:t>Untransmissible</a:t>
                      </a:r>
                      <a:endParaRPr sz="1600" u="none" strike="noStrike" cap="none">
                        <a:latin typeface="EB Garamond"/>
                        <a:ea typeface="EB Garamond"/>
                        <a:cs typeface="EB Garamond"/>
                        <a:sym typeface="EB Garamond"/>
                      </a:endParaRPr>
                    </a:p>
                  </a:txBody>
                  <a:tcPr marL="0" marR="0" marT="23325"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1EFD9"/>
                    </a:solidFill>
                  </a:tcPr>
                </a:tc>
                <a:tc>
                  <a:txBody>
                    <a:bodyPr/>
                    <a:lstStyle/>
                    <a:p>
                      <a:pPr marL="426085" marR="0" lvl="0" indent="-287655"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Continue management,</a:t>
                      </a:r>
                      <a:endParaRPr sz="1600" u="none" strike="noStrike" cap="none">
                        <a:latin typeface="EB Garamond"/>
                        <a:ea typeface="EB Garamond"/>
                        <a:cs typeface="EB Garamond"/>
                        <a:sym typeface="EB Garamond"/>
                      </a:endParaRPr>
                    </a:p>
                    <a:p>
                      <a:pPr marL="426085" marR="0" lvl="0" indent="0" algn="l" rtl="0">
                        <a:lnSpc>
                          <a:spcPct val="100000"/>
                        </a:lnSpc>
                        <a:spcBef>
                          <a:spcPts val="0"/>
                        </a:spcBef>
                        <a:spcAft>
                          <a:spcPts val="0"/>
                        </a:spcAft>
                        <a:buClr>
                          <a:srgbClr val="000000"/>
                        </a:buClr>
                        <a:buSzPts val="1600"/>
                        <a:buFont typeface="Arial" panose="020B0604020202020204"/>
                        <a:buNone/>
                      </a:pPr>
                      <a:r>
                        <a:rPr lang="en-US" sz="1600" u="none" strike="noStrike" cap="none">
                          <a:latin typeface="EB Garamond"/>
                          <a:ea typeface="EB Garamond"/>
                          <a:cs typeface="EB Garamond"/>
                          <a:sym typeface="EB Garamond"/>
                        </a:rPr>
                        <a:t>Enrol in DSD</a:t>
                      </a:r>
                      <a:endParaRPr sz="1600" u="none" strike="noStrike" cap="none">
                        <a:latin typeface="EB Garamond"/>
                        <a:ea typeface="EB Garamond"/>
                        <a:cs typeface="EB Garamond"/>
                        <a:sym typeface="EB Garamond"/>
                      </a:endParaRPr>
                    </a:p>
                  </a:txBody>
                  <a:tcPr marL="0" marR="0" marT="23325" marB="0">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1EFD9"/>
                    </a:solidFill>
                  </a:tcPr>
                </a:tc>
              </a:tr>
              <a:tr h="861150">
                <a:tc rowSpan="2">
                  <a:txBody>
                    <a:bodyPr/>
                    <a:lstStyle/>
                    <a:p>
                      <a:pPr marL="358140" marR="0" lvl="0" indent="0" algn="l" rtl="0">
                        <a:lnSpc>
                          <a:spcPct val="100000"/>
                        </a:lnSpc>
                        <a:spcBef>
                          <a:spcPts val="0"/>
                        </a:spcBef>
                        <a:spcAft>
                          <a:spcPts val="0"/>
                        </a:spcAft>
                        <a:buClr>
                          <a:srgbClr val="000000"/>
                        </a:buClr>
                        <a:buSzPts val="1600"/>
                        <a:buFont typeface="Arial" panose="020B0604020202020204"/>
                        <a:buNone/>
                      </a:pPr>
                      <a:r>
                        <a:rPr lang="en-US" sz="1600" b="1" u="none" strike="noStrike" cap="none">
                          <a:latin typeface="EB Garamond"/>
                          <a:ea typeface="EB Garamond"/>
                          <a:cs typeface="EB Garamond"/>
                          <a:sym typeface="EB Garamond"/>
                        </a:rPr>
                        <a:t>Unsuppressed</a:t>
                      </a:r>
                      <a:endParaRPr sz="1600" u="none" strike="noStrike" cap="none">
                        <a:latin typeface="EB Garamond"/>
                        <a:ea typeface="EB Garamond"/>
                        <a:cs typeface="EB Garamond"/>
                        <a:sym typeface="EB Garamond"/>
                      </a:endParaRPr>
                    </a:p>
                  </a:txBody>
                  <a:tcPr marL="0" marR="0" marT="23325" marB="0">
                    <a:lnL w="9525" cap="flat" cmpd="sng">
                      <a:solidFill>
                        <a:srgbClr val="000000"/>
                      </a:solidFill>
                      <a:prstDash val="solid"/>
                      <a:round/>
                      <a:headEnd type="none" w="sm" len="sm"/>
                      <a:tailEnd type="none" w="sm" len="sm"/>
                    </a:lnL>
                    <a:lnB w="9525" cap="flat" cmpd="sng">
                      <a:solidFill>
                        <a:srgbClr val="000000"/>
                      </a:solidFill>
                      <a:prstDash val="solid"/>
                      <a:round/>
                      <a:headEnd type="none" w="sm" len="sm"/>
                      <a:tailEnd type="none" w="sm" len="sm"/>
                    </a:lnB>
                    <a:solidFill>
                      <a:srgbClr val="FFF1CC"/>
                    </a:solidFill>
                  </a:tcPr>
                </a:tc>
                <a:tc>
                  <a:txBody>
                    <a:bodyPr/>
                    <a:lstStyle/>
                    <a:p>
                      <a:pPr marL="377825" marR="0"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High Risk LLV</a:t>
                      </a:r>
                      <a:endParaRPr sz="1600" u="none" strike="noStrike" cap="none">
                        <a:latin typeface="EB Garamond"/>
                        <a:ea typeface="EB Garamond"/>
                        <a:cs typeface="EB Garamond"/>
                        <a:sym typeface="EB Garamond"/>
                      </a:endParaRPr>
                    </a:p>
                  </a:txBody>
                  <a:tcPr marL="0" marR="0" marT="23325"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CC"/>
                    </a:solidFill>
                  </a:tcPr>
                </a:tc>
                <a:tc>
                  <a:txBody>
                    <a:bodyPr/>
                    <a:lstStyle/>
                    <a:p>
                      <a:pPr marL="484505" marR="0"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200-999</a:t>
                      </a:r>
                      <a:endParaRPr sz="1600" u="none" strike="noStrike" cap="none">
                        <a:latin typeface="EB Garamond"/>
                        <a:ea typeface="EB Garamond"/>
                        <a:cs typeface="EB Garamond"/>
                        <a:sym typeface="EB Garamond"/>
                      </a:endParaRPr>
                    </a:p>
                    <a:p>
                      <a:pPr marL="484505" marR="0" lvl="0" indent="0" algn="l" rtl="0">
                        <a:lnSpc>
                          <a:spcPct val="100000"/>
                        </a:lnSpc>
                        <a:spcBef>
                          <a:spcPts val="0"/>
                        </a:spcBef>
                        <a:spcAft>
                          <a:spcPts val="0"/>
                        </a:spcAft>
                        <a:buClr>
                          <a:srgbClr val="000000"/>
                        </a:buClr>
                        <a:buSzPts val="1600"/>
                        <a:buFont typeface="Arial" panose="020B0604020202020204"/>
                        <a:buNone/>
                      </a:pPr>
                      <a:r>
                        <a:rPr lang="en-US" sz="1600" u="none" strike="noStrike" cap="none">
                          <a:latin typeface="EB Garamond"/>
                          <a:ea typeface="EB Garamond"/>
                          <a:cs typeface="EB Garamond"/>
                          <a:sym typeface="EB Garamond"/>
                        </a:rPr>
                        <a:t>Copies/ML</a:t>
                      </a:r>
                      <a:endParaRPr sz="1600" u="none" strike="noStrike" cap="none">
                        <a:latin typeface="EB Garamond"/>
                        <a:ea typeface="EB Garamond"/>
                        <a:cs typeface="EB Garamond"/>
                        <a:sym typeface="EB Garamond"/>
                      </a:endParaRPr>
                    </a:p>
                  </a:txBody>
                  <a:tcPr marL="0" marR="0" marT="23325"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CC"/>
                    </a:solidFill>
                  </a:tcPr>
                </a:tc>
                <a:tc>
                  <a:txBody>
                    <a:bodyPr/>
                    <a:lstStyle/>
                    <a:p>
                      <a:pPr marL="399415" marR="264160"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Increased risk of  progression to  treatment failure</a:t>
                      </a:r>
                      <a:endParaRPr sz="1600" u="none" strike="noStrike" cap="none">
                        <a:latin typeface="EB Garamond"/>
                        <a:ea typeface="EB Garamond"/>
                        <a:cs typeface="EB Garamond"/>
                        <a:sym typeface="EB Garamond"/>
                      </a:endParaRPr>
                    </a:p>
                  </a:txBody>
                  <a:tcPr marL="0" marR="0" marT="23325"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CC"/>
                    </a:solidFill>
                  </a:tcPr>
                </a:tc>
                <a:tc>
                  <a:txBody>
                    <a:bodyPr/>
                    <a:lstStyle/>
                    <a:p>
                      <a:pPr marL="426085" marR="158750"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Institute is EAC, repeat  VL after 3 months</a:t>
                      </a:r>
                      <a:endParaRPr sz="1600" u="none" strike="noStrike" cap="none">
                        <a:latin typeface="EB Garamond"/>
                        <a:ea typeface="EB Garamond"/>
                        <a:cs typeface="EB Garamond"/>
                        <a:sym typeface="EB Garamond"/>
                      </a:endParaRPr>
                    </a:p>
                  </a:txBody>
                  <a:tcPr marL="0" marR="0" marT="23325" marB="0">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CC"/>
                    </a:solidFill>
                  </a:tcPr>
                </a:tc>
              </a:tr>
              <a:tr h="861100">
                <a:tc vMerge="1">
                  <a:tcPr/>
                </a:tc>
                <a:tc>
                  <a:txBody>
                    <a:bodyPr/>
                    <a:lstStyle/>
                    <a:p>
                      <a:pPr marL="377825" marR="427355" lvl="0" indent="-287020" algn="just"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Suspected  Treatment  Failure</a:t>
                      </a:r>
                      <a:endParaRPr sz="1600" u="none" strike="noStrike" cap="none">
                        <a:latin typeface="EB Garamond"/>
                        <a:ea typeface="EB Garamond"/>
                        <a:cs typeface="EB Garamond"/>
                        <a:sym typeface="EB Garamond"/>
                      </a:endParaRPr>
                    </a:p>
                  </a:txBody>
                  <a:tcPr marL="0" marR="0" marT="23825"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CC"/>
                    </a:solidFill>
                  </a:tcPr>
                </a:tc>
                <a:tc>
                  <a:txBody>
                    <a:bodyPr/>
                    <a:lstStyle/>
                    <a:p>
                      <a:pPr marL="484505" marR="0" lvl="0" indent="-287020" algn="l" rtl="0">
                        <a:lnSpc>
                          <a:spcPct val="100000"/>
                        </a:lnSpc>
                        <a:spcBef>
                          <a:spcPts val="0"/>
                        </a:spcBef>
                        <a:spcAft>
                          <a:spcPts val="0"/>
                        </a:spcAft>
                        <a:buClr>
                          <a:schemeClr val="dk1"/>
                        </a:buClr>
                        <a:buSzPts val="1600"/>
                        <a:buFont typeface="Arial" panose="020B0604020202020204"/>
                        <a:buChar char="•"/>
                      </a:pPr>
                      <a:r>
                        <a:rPr lang="en-US" sz="1600" b="1" u="none" strike="noStrike" cap="none">
                          <a:latin typeface="EB Garamond"/>
                          <a:ea typeface="EB Garamond"/>
                          <a:cs typeface="EB Garamond"/>
                          <a:sym typeface="EB Garamond"/>
                        </a:rPr>
                        <a:t>≥</a:t>
                      </a:r>
                      <a:r>
                        <a:rPr lang="en-US" sz="1600" u="none" strike="noStrike" cap="none">
                          <a:latin typeface="EB Garamond"/>
                          <a:ea typeface="EB Garamond"/>
                          <a:cs typeface="EB Garamond"/>
                          <a:sym typeface="EB Garamond"/>
                        </a:rPr>
                        <a:t>1000 copies/mL</a:t>
                      </a:r>
                      <a:endParaRPr sz="1600" u="none" strike="noStrike" cap="none">
                        <a:latin typeface="EB Garamond"/>
                        <a:ea typeface="EB Garamond"/>
                        <a:cs typeface="EB Garamond"/>
                        <a:sym typeface="EB Garamond"/>
                      </a:endParaRPr>
                    </a:p>
                  </a:txBody>
                  <a:tcPr marL="0" marR="0" marT="23825"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CC"/>
                    </a:solidFill>
                  </a:tcPr>
                </a:tc>
                <a:tc>
                  <a:txBody>
                    <a:bodyPr/>
                    <a:lstStyle/>
                    <a:p>
                      <a:pPr marL="399415" marR="131445" lvl="0" indent="-287020" algn="l" rtl="0">
                        <a:lnSpc>
                          <a:spcPct val="100000"/>
                        </a:lnSpc>
                        <a:spcBef>
                          <a:spcPts val="0"/>
                        </a:spcBef>
                        <a:spcAft>
                          <a:spcPts val="0"/>
                        </a:spcAft>
                        <a:buClr>
                          <a:schemeClr val="dk1"/>
                        </a:buClr>
                        <a:buSzPts val="1600"/>
                        <a:buFont typeface="Arial" panose="020B0604020202020204"/>
                        <a:buChar char="•"/>
                      </a:pPr>
                      <a:r>
                        <a:rPr lang="en-US" sz="1600" u="none" strike="noStrike" cap="none">
                          <a:latin typeface="EB Garamond"/>
                          <a:ea typeface="EB Garamond"/>
                          <a:cs typeface="EB Garamond"/>
                          <a:sym typeface="EB Garamond"/>
                        </a:rPr>
                        <a:t>Client at increased  risk of morbidity  and mortality</a:t>
                      </a:r>
                      <a:endParaRPr sz="1600" u="none" strike="noStrike" cap="none">
                        <a:latin typeface="EB Garamond"/>
                        <a:ea typeface="EB Garamond"/>
                        <a:cs typeface="EB Garamond"/>
                        <a:sym typeface="EB Garamond"/>
                      </a:endParaRPr>
                    </a:p>
                  </a:txBody>
                  <a:tcPr marL="0" marR="0" marT="23825" marB="0">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CC"/>
                    </a:solidFill>
                  </a:tcPr>
                </a:tc>
                <a:tc>
                  <a:txBody>
                    <a:bodyPr/>
                    <a:lstStyle/>
                    <a:p>
                      <a:pPr marL="139065" marR="86360" lvl="0" indent="0" algn="l" rtl="0">
                        <a:lnSpc>
                          <a:spcPct val="100000"/>
                        </a:lnSpc>
                        <a:spcBef>
                          <a:spcPts val="0"/>
                        </a:spcBef>
                        <a:spcAft>
                          <a:spcPts val="0"/>
                        </a:spcAft>
                        <a:buClr>
                          <a:srgbClr val="000000"/>
                        </a:buClr>
                        <a:buSzPts val="1600"/>
                        <a:buFont typeface="Arial" panose="020B0604020202020204"/>
                        <a:buNone/>
                      </a:pPr>
                      <a:r>
                        <a:rPr lang="en-US" sz="1600" u="none" strike="noStrike" cap="none">
                          <a:latin typeface="EB Garamond"/>
                          <a:ea typeface="EB Garamond"/>
                          <a:cs typeface="EB Garamond"/>
                          <a:sym typeface="EB Garamond"/>
                        </a:rPr>
                        <a:t>Conduct EAC, Repeat VL  after 3 months, 2</a:t>
                      </a:r>
                      <a:r>
                        <a:rPr lang="en-US" sz="1600" u="none" strike="noStrike" cap="none" baseline="30000">
                          <a:latin typeface="EB Garamond"/>
                          <a:ea typeface="EB Garamond"/>
                          <a:cs typeface="EB Garamond"/>
                          <a:sym typeface="EB Garamond"/>
                        </a:rPr>
                        <a:t>nd </a:t>
                      </a:r>
                      <a:r>
                        <a:rPr lang="en-US" sz="1600" u="none" strike="noStrike" cap="none">
                          <a:latin typeface="EB Garamond"/>
                          <a:ea typeface="EB Garamond"/>
                          <a:cs typeface="EB Garamond"/>
                          <a:sym typeface="EB Garamond"/>
                        </a:rPr>
                        <a:t>Line if  2</a:t>
                      </a:r>
                      <a:r>
                        <a:rPr lang="en-US" sz="1600" u="none" strike="noStrike" cap="none" baseline="30000">
                          <a:latin typeface="EB Garamond"/>
                          <a:ea typeface="EB Garamond"/>
                          <a:cs typeface="EB Garamond"/>
                          <a:sym typeface="EB Garamond"/>
                        </a:rPr>
                        <a:t>nd </a:t>
                      </a:r>
                      <a:r>
                        <a:rPr lang="en-US" sz="1600" u="none" strike="noStrike" cap="none">
                          <a:latin typeface="EB Garamond"/>
                          <a:ea typeface="EB Garamond"/>
                          <a:cs typeface="EB Garamond"/>
                          <a:sym typeface="EB Garamond"/>
                        </a:rPr>
                        <a:t>Line VL is &gt;1,000 copies</a:t>
                      </a:r>
                      <a:endParaRPr sz="1600" u="none" strike="noStrike" cap="none">
                        <a:latin typeface="EB Garamond"/>
                        <a:ea typeface="EB Garamond"/>
                        <a:cs typeface="EB Garamond"/>
                        <a:sym typeface="EB Garamond"/>
                      </a:endParaRPr>
                    </a:p>
                  </a:txBody>
                  <a:tcPr marL="0" marR="0" marT="23825" marB="0">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1CC"/>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271" name="Shape 271"/>
        <p:cNvGrpSpPr/>
        <p:nvPr/>
      </p:nvGrpSpPr>
      <p:grpSpPr>
        <a:xfrm>
          <a:off x="0" y="0"/>
          <a:ext cx="0" cy="0"/>
          <a:chOff x="0" y="0"/>
          <a:chExt cx="0" cy="0"/>
        </a:xfrm>
      </p:grpSpPr>
      <p:sp>
        <p:nvSpPr>
          <p:cNvPr id="272" name="Google Shape;272;p33"/>
          <p:cNvSpPr txBox="1"/>
          <p:nvPr>
            <p:ph type="body" idx="1"/>
          </p:nvPr>
        </p:nvSpPr>
        <p:spPr>
          <a:xfrm>
            <a:off x="2275646" y="1194148"/>
            <a:ext cx="8784836" cy="4354882"/>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800"/>
              <a:buFont typeface="Arial" panose="020B0604020202020204"/>
              <a:buAutoNum type="arabicPeriod"/>
            </a:pPr>
            <a:r>
              <a:rPr lang="en-US" sz="2800"/>
              <a:t>HIV situation in Kenya</a:t>
            </a:r>
            <a:endParaRPr lang="en-US" sz="2800"/>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Basic Facts on HIV and AIDS.</a:t>
            </a:r>
            <a:endParaRPr lang="en-US" sz="2800"/>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Kenya HIV Prevention and Treatment Guidelines, 2022</a:t>
            </a:r>
            <a:endParaRPr lang="en-US" sz="2800"/>
          </a:p>
          <a:p>
            <a:pPr marL="342900" lvl="0" indent="-342900" algn="l" rtl="0">
              <a:lnSpc>
                <a:spcPct val="90000"/>
              </a:lnSpc>
              <a:spcBef>
                <a:spcPts val="750"/>
              </a:spcBef>
              <a:spcAft>
                <a:spcPts val="0"/>
              </a:spcAft>
              <a:buClr>
                <a:schemeClr val="dk1"/>
              </a:buClr>
              <a:buSzPts val="2800"/>
              <a:buFont typeface="Arial" panose="020B0604020202020204"/>
              <a:buAutoNum type="arabicPeriod"/>
            </a:pPr>
            <a:r>
              <a:rPr lang="en-US" sz="2800"/>
              <a:t>Standard Package of Care of HIV infected people</a:t>
            </a:r>
            <a:endParaRPr sz="2800" b="1"/>
          </a:p>
          <a:p>
            <a:pPr marL="342900" lvl="0" indent="-342900" algn="l" rtl="0">
              <a:lnSpc>
                <a:spcPct val="90000"/>
              </a:lnSpc>
              <a:spcBef>
                <a:spcPts val="750"/>
              </a:spcBef>
              <a:spcAft>
                <a:spcPts val="0"/>
              </a:spcAft>
              <a:buClr>
                <a:schemeClr val="accent5"/>
              </a:buClr>
              <a:buSzPts val="2800"/>
              <a:buFont typeface="Arial" panose="020B0604020202020204"/>
              <a:buAutoNum type="arabicPeriod"/>
            </a:pPr>
            <a:r>
              <a:rPr lang="en-US" sz="2800">
                <a:solidFill>
                  <a:schemeClr val="accent5"/>
                </a:solidFill>
              </a:rPr>
              <a:t>HIV and NCD </a:t>
            </a:r>
            <a:endParaRPr lang="en-US" sz="2800">
              <a:solidFill>
                <a:schemeClr val="accent5"/>
              </a:solidFill>
            </a:endParaRPr>
          </a:p>
          <a:p>
            <a:pPr marL="342900" lvl="0" indent="-228600" algn="l" rtl="0">
              <a:lnSpc>
                <a:spcPct val="90000"/>
              </a:lnSpc>
              <a:spcBef>
                <a:spcPts val="750"/>
              </a:spcBef>
              <a:spcAft>
                <a:spcPts val="0"/>
              </a:spcAft>
              <a:buClr>
                <a:schemeClr val="dk1"/>
              </a:buClr>
              <a:buSzPts val="1800"/>
              <a:buFont typeface="Arial" panose="020B0604020202020204"/>
              <a:buNone/>
            </a:pPr>
          </a:p>
          <a:p>
            <a:pPr marL="0" lvl="0" indent="0" algn="l" rtl="0">
              <a:lnSpc>
                <a:spcPct val="90000"/>
              </a:lnSpc>
              <a:spcBef>
                <a:spcPts val="750"/>
              </a:spcBef>
              <a:spcAft>
                <a:spcPts val="0"/>
              </a:spcAft>
              <a:buClr>
                <a:schemeClr val="dk1"/>
              </a:buClr>
              <a:buSzPts val="1800"/>
              <a:buNone/>
            </a:p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277" name="Shape 277"/>
        <p:cNvGrpSpPr/>
        <p:nvPr/>
      </p:nvGrpSpPr>
      <p:grpSpPr>
        <a:xfrm>
          <a:off x="0" y="0"/>
          <a:ext cx="0" cy="0"/>
          <a:chOff x="0" y="0"/>
          <a:chExt cx="0" cy="0"/>
        </a:xfrm>
      </p:grpSpPr>
      <p:sp>
        <p:nvSpPr>
          <p:cNvPr id="278" name="Google Shape;278;p34"/>
          <p:cNvSpPr txBox="1"/>
          <p:nvPr>
            <p:ph type="title"/>
          </p:nvPr>
        </p:nvSpPr>
        <p:spPr>
          <a:xfrm>
            <a:off x="2360140" y="190064"/>
            <a:ext cx="7228704" cy="681243"/>
          </a:xfrm>
          <a:prstGeom prst="rect">
            <a:avLst/>
          </a:prstGeom>
          <a:noFill/>
          <a:ln w="22225"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SzPts val="1400"/>
              <a:buNone/>
            </a:pPr>
            <a:r>
              <a:rPr lang="en-US" sz="2800" b="1" i="0" u="none" strike="noStrike" cap="none">
                <a:solidFill>
                  <a:schemeClr val="dk1"/>
                </a:solidFill>
                <a:latin typeface="Overlock" panose="02000506030000020004"/>
                <a:ea typeface="Overlock" panose="02000506030000020004"/>
                <a:cs typeface="Overlock" panose="02000506030000020004"/>
                <a:sym typeface="Overlock" panose="02000506030000020004"/>
              </a:rPr>
              <a:t>Screening of NCDs: Hypertension (HTN)</a:t>
            </a:r>
            <a:endParaRPr sz="2800" b="1" i="0" u="none" strike="noStrike" cap="none">
              <a:solidFill>
                <a:schemeClr val="dk1"/>
              </a:solidFill>
              <a:latin typeface="Overlock" panose="02000506030000020004"/>
              <a:ea typeface="Overlock" panose="02000506030000020004"/>
              <a:cs typeface="Overlock" panose="02000506030000020004"/>
              <a:sym typeface="Overlock" panose="02000506030000020004"/>
            </a:endParaRPr>
          </a:p>
        </p:txBody>
      </p:sp>
      <p:sp>
        <p:nvSpPr>
          <p:cNvPr id="279" name="Google Shape;279;p34"/>
          <p:cNvSpPr txBox="1"/>
          <p:nvPr/>
        </p:nvSpPr>
        <p:spPr>
          <a:xfrm>
            <a:off x="1018210" y="5678194"/>
            <a:ext cx="3190672" cy="430887"/>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b="1" i="0" u="none" strike="noStrike" cap="none">
                <a:solidFill>
                  <a:srgbClr val="000000"/>
                </a:solidFill>
                <a:latin typeface="Overlock" panose="02000506030000020004"/>
                <a:ea typeface="Overlock" panose="02000506030000020004"/>
                <a:cs typeface="Overlock" panose="02000506030000020004"/>
                <a:sym typeface="Overlock" panose="02000506030000020004"/>
              </a:rPr>
              <a:t>Data Source: </a:t>
            </a:r>
            <a:r>
              <a:rPr lang="en-US" sz="1100" b="0" i="0" u="none" strike="noStrike" cap="none">
                <a:solidFill>
                  <a:srgbClr val="000000"/>
                </a:solidFill>
                <a:latin typeface="Overlock" panose="02000506030000020004"/>
                <a:ea typeface="Overlock" panose="02000506030000020004"/>
                <a:cs typeface="Overlock" panose="02000506030000020004"/>
                <a:sym typeface="Overlock" panose="02000506030000020004"/>
              </a:rPr>
              <a:t>National Data Warehouse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100"/>
              <a:buFont typeface="Arial" panose="020B0604020202020204"/>
              <a:buNone/>
            </a:pPr>
            <a:r>
              <a:rPr lang="en-US" sz="1100" b="1" i="0" u="none" strike="noStrike" cap="none">
                <a:solidFill>
                  <a:srgbClr val="000000"/>
                </a:solidFill>
                <a:latin typeface="Overlock" panose="02000506030000020004"/>
                <a:ea typeface="Overlock" panose="02000506030000020004"/>
                <a:cs typeface="Overlock" panose="02000506030000020004"/>
                <a:sym typeface="Overlock" panose="02000506030000020004"/>
              </a:rPr>
              <a:t>Period: Apr</a:t>
            </a:r>
            <a:r>
              <a:rPr lang="en-US" sz="1100" b="0" i="0" u="none" strike="noStrike" cap="none">
                <a:solidFill>
                  <a:srgbClr val="000000"/>
                </a:solidFill>
                <a:latin typeface="Overlock" panose="02000506030000020004"/>
                <a:ea typeface="Overlock" panose="02000506030000020004"/>
                <a:cs typeface="Overlock" panose="02000506030000020004"/>
                <a:sym typeface="Overlock" panose="02000506030000020004"/>
              </a:rPr>
              <a:t> - Jun 2024</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aphicFrame>
        <p:nvGraphicFramePr>
          <p:cNvPr id="280" name="Google Shape;280;p34"/>
          <p:cNvGraphicFramePr/>
          <p:nvPr/>
        </p:nvGraphicFramePr>
        <p:xfrm>
          <a:off x="931602" y="1147605"/>
          <a:ext cx="10560533" cy="442728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285" name="Shape 285"/>
        <p:cNvGrpSpPr/>
        <p:nvPr/>
      </p:nvGrpSpPr>
      <p:grpSpPr>
        <a:xfrm>
          <a:off x="0" y="0"/>
          <a:ext cx="0" cy="0"/>
          <a:chOff x="0" y="0"/>
          <a:chExt cx="0" cy="0"/>
        </a:xfrm>
      </p:grpSpPr>
      <p:sp>
        <p:nvSpPr>
          <p:cNvPr id="286" name="Google Shape;286;p35"/>
          <p:cNvSpPr txBox="1"/>
          <p:nvPr/>
        </p:nvSpPr>
        <p:spPr>
          <a:xfrm>
            <a:off x="6722913" y="5634682"/>
            <a:ext cx="4249887" cy="259492"/>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b="1" i="0" u="none" strike="noStrike" cap="none">
                <a:solidFill>
                  <a:srgbClr val="000000"/>
                </a:solidFill>
                <a:latin typeface="Overlock" panose="02000506030000020004"/>
                <a:ea typeface="Overlock" panose="02000506030000020004"/>
                <a:cs typeface="Overlock" panose="02000506030000020004"/>
                <a:sym typeface="Overlock" panose="02000506030000020004"/>
              </a:rPr>
              <a:t>Data Source: </a:t>
            </a:r>
            <a:r>
              <a:rPr lang="en-US" sz="1100" b="0" i="0" u="none" strike="noStrike" cap="none">
                <a:solidFill>
                  <a:srgbClr val="000000"/>
                </a:solidFill>
                <a:latin typeface="Overlock" panose="02000506030000020004"/>
                <a:ea typeface="Overlock" panose="02000506030000020004"/>
                <a:cs typeface="Overlock" panose="02000506030000020004"/>
                <a:sym typeface="Overlock" panose="02000506030000020004"/>
              </a:rPr>
              <a:t>National Data Warehouse </a:t>
            </a:r>
            <a:r>
              <a:rPr lang="en-US" sz="1100" b="1" i="0" u="none" strike="noStrike" cap="none">
                <a:solidFill>
                  <a:srgbClr val="000000"/>
                </a:solidFill>
                <a:latin typeface="Overlock" panose="02000506030000020004"/>
                <a:ea typeface="Overlock" panose="02000506030000020004"/>
                <a:cs typeface="Overlock" panose="02000506030000020004"/>
                <a:sym typeface="Overlock" panose="02000506030000020004"/>
              </a:rPr>
              <a:t>Period: Apr</a:t>
            </a:r>
            <a:r>
              <a:rPr lang="en-US" sz="1100" b="0" i="0" u="none" strike="noStrike" cap="none">
                <a:solidFill>
                  <a:srgbClr val="000000"/>
                </a:solidFill>
                <a:latin typeface="Overlock" panose="02000506030000020004"/>
                <a:ea typeface="Overlock" panose="02000506030000020004"/>
                <a:cs typeface="Overlock" panose="02000506030000020004"/>
                <a:sym typeface="Overlock" panose="02000506030000020004"/>
              </a:rPr>
              <a:t> - Jun 2024</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87" name="Google Shape;287;p35"/>
          <p:cNvGrpSpPr/>
          <p:nvPr/>
        </p:nvGrpSpPr>
        <p:grpSpPr>
          <a:xfrm>
            <a:off x="1219200" y="865388"/>
            <a:ext cx="9753600" cy="4598163"/>
            <a:chOff x="1219200" y="865388"/>
            <a:chExt cx="9753600" cy="4598163"/>
          </a:xfrm>
        </p:grpSpPr>
        <p:graphicFrame>
          <p:nvGraphicFramePr>
            <p:cNvPr id="288" name="Google Shape;288;p35"/>
            <p:cNvGraphicFramePr/>
            <p:nvPr/>
          </p:nvGraphicFramePr>
          <p:xfrm>
            <a:off x="1219200" y="865388"/>
            <a:ext cx="9753600" cy="2299081"/>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89" name="Google Shape;289;p35"/>
            <p:cNvGraphicFramePr/>
            <p:nvPr/>
          </p:nvGraphicFramePr>
          <p:xfrm>
            <a:off x="1219200" y="3164469"/>
            <a:ext cx="4876800" cy="229908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90" name="Google Shape;290;p35"/>
            <p:cNvGraphicFramePr/>
            <p:nvPr/>
          </p:nvGraphicFramePr>
          <p:xfrm>
            <a:off x="6096000" y="3164469"/>
            <a:ext cx="4876800" cy="2299081"/>
          </p:xfrm>
          <a:graphic>
            <a:graphicData uri="http://schemas.openxmlformats.org/drawingml/2006/chart">
              <c:chart xmlns:c="http://schemas.openxmlformats.org/drawingml/2006/chart" xmlns:r="http://schemas.openxmlformats.org/officeDocument/2006/relationships" r:id="rId3"/>
            </a:graphicData>
          </a:graphic>
        </p:graphicFrame>
      </p:grpSp>
      <p:sp>
        <p:nvSpPr>
          <p:cNvPr id="291" name="Google Shape;291;p35"/>
          <p:cNvSpPr txBox="1"/>
          <p:nvPr/>
        </p:nvSpPr>
        <p:spPr>
          <a:xfrm>
            <a:off x="1972736" y="273264"/>
            <a:ext cx="8246528" cy="420992"/>
          </a:xfrm>
          <a:prstGeom prst="rect">
            <a:avLst/>
          </a:prstGeom>
          <a:noFill/>
          <a:ln w="22225"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r>
              <a:rPr lang="en-US" sz="2800" b="1" i="0" u="none" strike="noStrike" cap="none">
                <a:solidFill>
                  <a:schemeClr val="dk1"/>
                </a:solidFill>
                <a:latin typeface="Overlock" panose="02000506030000020004"/>
                <a:ea typeface="Overlock" panose="02000506030000020004"/>
                <a:cs typeface="Overlock" panose="02000506030000020004"/>
                <a:sym typeface="Overlock" panose="02000506030000020004"/>
              </a:rPr>
              <a:t>Management of Diabetic Clients on Care</a:t>
            </a:r>
            <a:endParaRPr sz="2800" b="1" i="0" u="none" strike="noStrike" cap="none">
              <a:solidFill>
                <a:schemeClr val="dk1"/>
              </a:solidFill>
              <a:latin typeface="Overlock" panose="02000506030000020004"/>
              <a:ea typeface="Overlock" panose="02000506030000020004"/>
              <a:cs typeface="Overlock" panose="02000506030000020004"/>
              <a:sym typeface="Overlock" panose="020005060300000200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296" name="Shape 296"/>
        <p:cNvGrpSpPr/>
        <p:nvPr/>
      </p:nvGrpSpPr>
      <p:grpSpPr>
        <a:xfrm>
          <a:off x="0" y="0"/>
          <a:ext cx="0" cy="0"/>
          <a:chOff x="0" y="0"/>
          <a:chExt cx="0" cy="0"/>
        </a:xfrm>
      </p:grpSpPr>
      <p:sp>
        <p:nvSpPr>
          <p:cNvPr id="297" name="Google Shape;297;p36"/>
          <p:cNvSpPr txBox="1"/>
          <p:nvPr>
            <p:ph type="title"/>
          </p:nvPr>
        </p:nvSpPr>
        <p:spPr>
          <a:xfrm>
            <a:off x="1972736" y="273264"/>
            <a:ext cx="8246528" cy="699874"/>
          </a:xfrm>
          <a:prstGeom prst="rect">
            <a:avLst/>
          </a:prstGeom>
          <a:noFill/>
          <a:ln w="22225" cap="flat" cmpd="sng">
            <a:solidFill>
              <a:srgbClr val="00206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800">
                <a:latin typeface="Overlock" panose="02000506030000020004"/>
                <a:ea typeface="Overlock" panose="02000506030000020004"/>
                <a:cs typeface="Overlock" panose="02000506030000020004"/>
                <a:sym typeface="Overlock" panose="02000506030000020004"/>
              </a:rPr>
              <a:t>Renal Monitoring of PLHIV on Care</a:t>
            </a:r>
            <a:endParaRPr sz="2800">
              <a:latin typeface="Overlock" panose="02000506030000020004"/>
              <a:ea typeface="Overlock" panose="02000506030000020004"/>
              <a:cs typeface="Overlock" panose="02000506030000020004"/>
              <a:sym typeface="Overlock" panose="02000506030000020004"/>
            </a:endParaRPr>
          </a:p>
        </p:txBody>
      </p:sp>
      <p:sp>
        <p:nvSpPr>
          <p:cNvPr id="298" name="Google Shape;298;p3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88888"/>
              </a:buClr>
              <a:buSzPts val="1200"/>
              <a:buFont typeface="EB Garamond"/>
              <a:buNone/>
            </a:pPr>
            <a:fld id="{00000000-1234-1234-1234-123412341234}" type="slidenum">
              <a:rPr lang="en-US" sz="1200">
                <a:solidFill>
                  <a:srgbClr val="888888"/>
                </a:solidFill>
                <a:latin typeface="EB Garamond"/>
                <a:ea typeface="EB Garamond"/>
                <a:cs typeface="EB Garamond"/>
                <a:sym typeface="EB Garamond"/>
              </a:rPr>
            </a:fld>
            <a:endParaRPr sz="800" b="0" i="0" u="none" strike="noStrike" cap="none">
              <a:solidFill>
                <a:srgbClr val="7F7F7F"/>
              </a:solidFill>
              <a:latin typeface="Arial" panose="020B0604020202020204"/>
              <a:ea typeface="Arial" panose="020B0604020202020204"/>
              <a:cs typeface="Arial" panose="020B0604020202020204"/>
              <a:sym typeface="Arial" panose="020B0604020202020204"/>
            </a:endParaRPr>
          </a:p>
        </p:txBody>
      </p:sp>
      <p:graphicFrame>
        <p:nvGraphicFramePr>
          <p:cNvPr id="299" name="Google Shape;299;p36"/>
          <p:cNvGraphicFramePr/>
          <p:nvPr/>
        </p:nvGraphicFramePr>
        <p:xfrm>
          <a:off x="1129743" y="1337877"/>
          <a:ext cx="6012463" cy="4420372"/>
        </p:xfrm>
        <a:graphic>
          <a:graphicData uri="http://schemas.openxmlformats.org/drawingml/2006/chart">
            <c:chart xmlns:c="http://schemas.openxmlformats.org/drawingml/2006/chart" xmlns:r="http://schemas.openxmlformats.org/officeDocument/2006/relationships" r:id="rId1"/>
          </a:graphicData>
        </a:graphic>
      </p:graphicFrame>
      <p:sp>
        <p:nvSpPr>
          <p:cNvPr id="300" name="Google Shape;300;p36"/>
          <p:cNvSpPr txBox="1"/>
          <p:nvPr/>
        </p:nvSpPr>
        <p:spPr>
          <a:xfrm>
            <a:off x="4473146" y="4164227"/>
            <a:ext cx="2533135" cy="1507524"/>
          </a:xfrm>
          <a:prstGeom prst="rect">
            <a:avLst/>
          </a:prstGeom>
          <a:noFill/>
          <a:ln w="22225" cap="flat" cmpd="sng">
            <a:solidFill>
              <a:schemeClr val="accent2"/>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EB Garamond"/>
              <a:ea typeface="EB Garamond"/>
              <a:cs typeface="EB Garamond"/>
              <a:sym typeface="EB Garamond"/>
            </a:endParaRPr>
          </a:p>
        </p:txBody>
      </p:sp>
      <p:pic>
        <p:nvPicPr>
          <p:cNvPr id="301" name="Google Shape;301;p36"/>
          <p:cNvPicPr preferRelativeResize="0"/>
          <p:nvPr/>
        </p:nvPicPr>
        <p:blipFill rotWithShape="1">
          <a:blip r:embed="rId2"/>
          <a:srcRect/>
          <a:stretch>
            <a:fillRect/>
          </a:stretch>
        </p:blipFill>
        <p:spPr>
          <a:xfrm>
            <a:off x="7393467" y="2269637"/>
            <a:ext cx="4555518" cy="2350329"/>
          </a:xfrm>
          <a:prstGeom prst="rect">
            <a:avLst/>
          </a:prstGeom>
          <a:noFill/>
          <a:ln>
            <a:noFill/>
          </a:ln>
        </p:spPr>
      </p:pic>
      <p:pic>
        <p:nvPicPr>
          <p:cNvPr id="302" name="Google Shape;302;p36"/>
          <p:cNvPicPr preferRelativeResize="0"/>
          <p:nvPr/>
        </p:nvPicPr>
        <p:blipFill rotWithShape="1">
          <a:blip r:embed="rId3"/>
          <a:srcRect/>
          <a:stretch>
            <a:fillRect/>
          </a:stretch>
        </p:blipFill>
        <p:spPr>
          <a:xfrm>
            <a:off x="7393467" y="1283209"/>
            <a:ext cx="4394879" cy="954826"/>
          </a:xfrm>
          <a:prstGeom prst="rect">
            <a:avLst/>
          </a:prstGeom>
          <a:noFill/>
          <a:ln>
            <a:noFill/>
          </a:ln>
        </p:spPr>
      </p:pic>
      <p:sp>
        <p:nvSpPr>
          <p:cNvPr id="303" name="Google Shape;303;p36"/>
          <p:cNvSpPr txBox="1"/>
          <p:nvPr/>
        </p:nvSpPr>
        <p:spPr>
          <a:xfrm>
            <a:off x="7393467" y="3548063"/>
            <a:ext cx="4679084" cy="616164"/>
          </a:xfrm>
          <a:prstGeom prst="rect">
            <a:avLst/>
          </a:prstGeom>
          <a:noFill/>
          <a:ln w="22225" cap="flat" cmpd="sng">
            <a:solidFill>
              <a:srgbClr val="C55A1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EB Garamond"/>
              <a:ea typeface="EB Garamond"/>
              <a:cs typeface="EB Garamond"/>
              <a:sym typeface="EB Garamond"/>
            </a:endParaRPr>
          </a:p>
        </p:txBody>
      </p:sp>
      <p:sp>
        <p:nvSpPr>
          <p:cNvPr id="304" name="Google Shape;304;p36"/>
          <p:cNvSpPr txBox="1"/>
          <p:nvPr/>
        </p:nvSpPr>
        <p:spPr>
          <a:xfrm>
            <a:off x="7552041" y="4836127"/>
            <a:ext cx="4396944"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chemeClr val="dk1"/>
                </a:solidFill>
                <a:latin typeface="EB Garamond"/>
                <a:ea typeface="EB Garamond"/>
                <a:cs typeface="EB Garamond"/>
                <a:sym typeface="EB Garamond"/>
              </a:rPr>
              <a:t>Only </a:t>
            </a:r>
            <a:r>
              <a:rPr lang="en-US" sz="2400" b="1" i="0" u="none" strike="noStrike" cap="none">
                <a:solidFill>
                  <a:schemeClr val="dk1"/>
                </a:solidFill>
                <a:latin typeface="EB Garamond"/>
                <a:ea typeface="EB Garamond"/>
                <a:cs typeface="EB Garamond"/>
                <a:sym typeface="EB Garamond"/>
              </a:rPr>
              <a:t>1.59 %</a:t>
            </a:r>
            <a:r>
              <a:rPr lang="en-US" sz="2400" b="0" i="0" u="none" strike="noStrike" cap="none">
                <a:solidFill>
                  <a:schemeClr val="dk1"/>
                </a:solidFill>
                <a:latin typeface="EB Garamond"/>
                <a:ea typeface="EB Garamond"/>
                <a:cs typeface="EB Garamond"/>
                <a:sym typeface="EB Garamond"/>
              </a:rPr>
              <a:t> of clients who started treatment in the last 1 year had a baseline creatinine document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EB Garamond"/>
              <a:ea typeface="EB Garamond"/>
              <a:cs typeface="EB Garamond"/>
              <a:sym typeface="EB Garamon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309" name="Shape 309"/>
        <p:cNvGrpSpPr/>
        <p:nvPr/>
      </p:nvGrpSpPr>
      <p:grpSpPr>
        <a:xfrm>
          <a:off x="0" y="0"/>
          <a:ext cx="0" cy="0"/>
          <a:chOff x="0" y="0"/>
          <a:chExt cx="0" cy="0"/>
        </a:xfrm>
      </p:grpSpPr>
      <p:sp>
        <p:nvSpPr>
          <p:cNvPr id="310" name="Google Shape;310;p37"/>
          <p:cNvSpPr txBox="1"/>
          <p:nvPr>
            <p:ph type="title"/>
          </p:nvPr>
        </p:nvSpPr>
        <p:spPr>
          <a:xfrm>
            <a:off x="1789670" y="118724"/>
            <a:ext cx="8612659" cy="1260389"/>
          </a:xfrm>
          <a:prstGeom prst="rect">
            <a:avLst/>
          </a:prstGeom>
          <a:noFill/>
          <a:ln w="222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SzPts val="1400"/>
              <a:buNone/>
            </a:pPr>
            <a:r>
              <a:rPr lang="en-US" sz="2400" b="1" i="0" u="none" strike="noStrike" cap="none">
                <a:solidFill>
                  <a:schemeClr val="dk1"/>
                </a:solidFill>
                <a:latin typeface="Overlock" panose="02000506030000020004"/>
                <a:ea typeface="Overlock" panose="02000506030000020004"/>
                <a:cs typeface="Overlock" panose="02000506030000020004"/>
                <a:sym typeface="Overlock" panose="02000506030000020004"/>
              </a:rPr>
              <a:t>Excellent Viral Suppression (95.8%) BUT Poor HTN Control </a:t>
            </a:r>
            <a:r>
              <a:rPr lang="en-US" sz="2400" b="1" i="0" u="none" strike="noStrike" cap="none">
                <a:solidFill>
                  <a:srgbClr val="C55A11"/>
                </a:solidFill>
                <a:latin typeface="Overlock" panose="02000506030000020004"/>
                <a:ea typeface="Overlock" panose="02000506030000020004"/>
                <a:cs typeface="Overlock" panose="02000506030000020004"/>
                <a:sym typeface="Overlock" panose="02000506030000020004"/>
              </a:rPr>
              <a:t>(56.4%) </a:t>
            </a:r>
            <a:r>
              <a:rPr lang="en-US" sz="2400" b="1" i="0" u="none" strike="noStrike" cap="none">
                <a:solidFill>
                  <a:schemeClr val="dk1"/>
                </a:solidFill>
                <a:latin typeface="Overlock" panose="02000506030000020004"/>
                <a:ea typeface="Overlock" panose="02000506030000020004"/>
                <a:cs typeface="Overlock" panose="02000506030000020004"/>
                <a:sym typeface="Overlock" panose="02000506030000020004"/>
              </a:rPr>
              <a:t>Amongst Clients with HIV/HTN Co-morbidity</a:t>
            </a:r>
            <a:endParaRPr sz="2400" b="1" i="0" u="none" strike="noStrike" cap="none">
              <a:solidFill>
                <a:schemeClr val="dk1"/>
              </a:solidFill>
              <a:latin typeface="Overlock" panose="02000506030000020004"/>
              <a:ea typeface="Overlock" panose="02000506030000020004"/>
              <a:cs typeface="Overlock" panose="02000506030000020004"/>
              <a:sym typeface="Overlock" panose="02000506030000020004"/>
            </a:endParaRPr>
          </a:p>
        </p:txBody>
      </p:sp>
      <p:sp>
        <p:nvSpPr>
          <p:cNvPr id="311" name="Google Shape;311;p37"/>
          <p:cNvSpPr txBox="1"/>
          <p:nvPr/>
        </p:nvSpPr>
        <p:spPr>
          <a:xfrm>
            <a:off x="6665248" y="4849395"/>
            <a:ext cx="4702968" cy="261610"/>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US" sz="1100" b="1" i="0" u="none" strike="noStrike" cap="none">
                <a:solidFill>
                  <a:srgbClr val="000000"/>
                </a:solidFill>
                <a:latin typeface="Overlock" panose="02000506030000020004"/>
                <a:ea typeface="Overlock" panose="02000506030000020004"/>
                <a:cs typeface="Overlock" panose="02000506030000020004"/>
                <a:sym typeface="Overlock" panose="02000506030000020004"/>
              </a:rPr>
              <a:t>Data Source: </a:t>
            </a:r>
            <a:r>
              <a:rPr lang="en-US" sz="1100" b="0" i="0" u="none" strike="noStrike" cap="none">
                <a:solidFill>
                  <a:srgbClr val="000000"/>
                </a:solidFill>
                <a:latin typeface="Overlock" panose="02000506030000020004"/>
                <a:ea typeface="Overlock" panose="02000506030000020004"/>
                <a:cs typeface="Overlock" panose="02000506030000020004"/>
                <a:sym typeface="Overlock" panose="02000506030000020004"/>
              </a:rPr>
              <a:t>National Data Warehouse, </a:t>
            </a:r>
            <a:r>
              <a:rPr lang="en-US" sz="1100" b="1" i="0" u="none" strike="noStrike" cap="none">
                <a:solidFill>
                  <a:srgbClr val="000000"/>
                </a:solidFill>
                <a:latin typeface="Overlock" panose="02000506030000020004"/>
                <a:ea typeface="Overlock" panose="02000506030000020004"/>
                <a:cs typeface="Overlock" panose="02000506030000020004"/>
                <a:sym typeface="Overlock" panose="02000506030000020004"/>
              </a:rPr>
              <a:t>Period: Apr</a:t>
            </a:r>
            <a:r>
              <a:rPr lang="en-US" sz="1100" b="0" i="0" u="none" strike="noStrike" cap="none">
                <a:solidFill>
                  <a:srgbClr val="000000"/>
                </a:solidFill>
                <a:latin typeface="Overlock" panose="02000506030000020004"/>
                <a:ea typeface="Overlock" panose="02000506030000020004"/>
                <a:cs typeface="Overlock" panose="02000506030000020004"/>
                <a:sym typeface="Overlock" panose="02000506030000020004"/>
              </a:rPr>
              <a:t> - Jun 2024</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aphicFrame>
        <p:nvGraphicFramePr>
          <p:cNvPr id="312" name="Google Shape;312;p37"/>
          <p:cNvGraphicFramePr/>
          <p:nvPr/>
        </p:nvGraphicFramePr>
        <p:xfrm>
          <a:off x="1018210" y="1700817"/>
          <a:ext cx="10350006" cy="2957679"/>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316" name="Shape 316"/>
        <p:cNvGrpSpPr/>
        <p:nvPr/>
      </p:nvGrpSpPr>
      <p:grpSpPr>
        <a:xfrm>
          <a:off x="0" y="0"/>
          <a:ext cx="0" cy="0"/>
          <a:chOff x="0" y="0"/>
          <a:chExt cx="0" cy="0"/>
        </a:xfrm>
      </p:grpSpPr>
      <p:sp>
        <p:nvSpPr>
          <p:cNvPr id="317" name="Google Shape;317;p38"/>
          <p:cNvSpPr txBox="1"/>
          <p:nvPr>
            <p:ph type="title"/>
          </p:nvPr>
        </p:nvSpPr>
        <p:spPr>
          <a:xfrm>
            <a:off x="1166191" y="100082"/>
            <a:ext cx="9687340" cy="8143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3600">
                <a:latin typeface="Overlock" panose="02000506030000020004"/>
                <a:ea typeface="Overlock" panose="02000506030000020004"/>
                <a:cs typeface="Overlock" panose="02000506030000020004"/>
                <a:sym typeface="Overlock" panose="02000506030000020004"/>
              </a:rPr>
              <a:t>Program Gaps</a:t>
            </a:r>
            <a:endParaRPr lang="en-US" sz="3600">
              <a:latin typeface="Overlock" panose="02000506030000020004"/>
              <a:ea typeface="Overlock" panose="02000506030000020004"/>
              <a:cs typeface="Overlock" panose="02000506030000020004"/>
              <a:sym typeface="Overlock" panose="02000506030000020004"/>
            </a:endParaRPr>
          </a:p>
        </p:txBody>
      </p:sp>
      <p:sp>
        <p:nvSpPr>
          <p:cNvPr id="318" name="Google Shape;318;p38"/>
          <p:cNvSpPr txBox="1"/>
          <p:nvPr>
            <p:ph type="body" idx="1"/>
          </p:nvPr>
        </p:nvSpPr>
        <p:spPr>
          <a:xfrm>
            <a:off x="1166192" y="1152939"/>
            <a:ext cx="10187609" cy="5024024"/>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chemeClr val="dk1"/>
              </a:buClr>
              <a:buSzPts val="3200"/>
              <a:buChar char="•"/>
            </a:pPr>
            <a:r>
              <a:rPr lang="en-US" sz="3200">
                <a:latin typeface="Overlock" panose="02000506030000020004"/>
                <a:ea typeface="Overlock" panose="02000506030000020004"/>
                <a:cs typeface="Overlock" panose="02000506030000020004"/>
                <a:sym typeface="Overlock" panose="02000506030000020004"/>
              </a:rPr>
              <a:t>Sub-optimal screening of NCD’s</a:t>
            </a:r>
            <a:endParaRPr lang="en-US" sz="3200">
              <a:latin typeface="Overlock" panose="02000506030000020004"/>
              <a:ea typeface="Overlock" panose="02000506030000020004"/>
              <a:cs typeface="Overlock" panose="02000506030000020004"/>
              <a:sym typeface="Overlock" panose="02000506030000020004"/>
            </a:endParaRPr>
          </a:p>
          <a:p>
            <a:pPr marL="285750" lvl="0" indent="-285750" algn="l" rtl="0">
              <a:lnSpc>
                <a:spcPct val="90000"/>
              </a:lnSpc>
              <a:spcBef>
                <a:spcPts val="750"/>
              </a:spcBef>
              <a:spcAft>
                <a:spcPts val="0"/>
              </a:spcAft>
              <a:buClr>
                <a:schemeClr val="dk1"/>
              </a:buClr>
              <a:buSzPts val="3200"/>
              <a:buFont typeface="Arial" panose="020B0604020202020204"/>
              <a:buChar char="•"/>
            </a:pPr>
            <a:r>
              <a:rPr lang="en-US" sz="3200">
                <a:latin typeface="Overlock" panose="02000506030000020004"/>
                <a:ea typeface="Overlock" panose="02000506030000020004"/>
                <a:cs typeface="Overlock" panose="02000506030000020004"/>
                <a:sym typeface="Overlock" panose="02000506030000020004"/>
              </a:rPr>
              <a:t>Access to/cost of Anti-HTN treatment</a:t>
            </a:r>
            <a:endParaRPr lang="en-US" sz="3200">
              <a:latin typeface="Overlock" panose="02000506030000020004"/>
              <a:ea typeface="Overlock" panose="02000506030000020004"/>
              <a:cs typeface="Overlock" panose="02000506030000020004"/>
              <a:sym typeface="Overlock" panose="02000506030000020004"/>
            </a:endParaRPr>
          </a:p>
          <a:p>
            <a:pPr marL="285750" lvl="0" indent="-285750" algn="l" rtl="0">
              <a:lnSpc>
                <a:spcPct val="90000"/>
              </a:lnSpc>
              <a:spcBef>
                <a:spcPts val="750"/>
              </a:spcBef>
              <a:spcAft>
                <a:spcPts val="0"/>
              </a:spcAft>
              <a:buClr>
                <a:schemeClr val="dk1"/>
              </a:buClr>
              <a:buSzPts val="3200"/>
              <a:buFont typeface="Arial" panose="020B0604020202020204"/>
              <a:buChar char="•"/>
            </a:pPr>
            <a:r>
              <a:rPr lang="en-US" sz="3200">
                <a:latin typeface="Overlock" panose="02000506030000020004"/>
                <a:ea typeface="Overlock" panose="02000506030000020004"/>
                <a:cs typeface="Overlock" panose="02000506030000020004"/>
                <a:sym typeface="Overlock" panose="02000506030000020004"/>
              </a:rPr>
              <a:t>Capacity of HCWs </a:t>
            </a:r>
            <a:endParaRPr lang="en-US" sz="3200">
              <a:latin typeface="Overlock" panose="02000506030000020004"/>
              <a:ea typeface="Overlock" panose="02000506030000020004"/>
              <a:cs typeface="Overlock" panose="02000506030000020004"/>
              <a:sym typeface="Overlock" panose="02000506030000020004"/>
            </a:endParaRPr>
          </a:p>
          <a:p>
            <a:pPr marL="628650" lvl="1" indent="-285750" algn="l" rtl="0">
              <a:lnSpc>
                <a:spcPct val="90000"/>
              </a:lnSpc>
              <a:spcBef>
                <a:spcPts val="375"/>
              </a:spcBef>
              <a:spcAft>
                <a:spcPts val="0"/>
              </a:spcAft>
              <a:buClr>
                <a:schemeClr val="dk1"/>
              </a:buClr>
              <a:buSzPts val="3200"/>
              <a:buChar char="•"/>
            </a:pPr>
            <a:r>
              <a:rPr lang="en-US" sz="3200">
                <a:latin typeface="Overlock" panose="02000506030000020004"/>
                <a:ea typeface="Overlock" panose="02000506030000020004"/>
                <a:cs typeface="Overlock" panose="02000506030000020004"/>
                <a:sym typeface="Overlock" panose="02000506030000020004"/>
              </a:rPr>
              <a:t>Screening</a:t>
            </a:r>
            <a:endParaRPr lang="en-US" sz="3200">
              <a:latin typeface="Overlock" panose="02000506030000020004"/>
              <a:ea typeface="Overlock" panose="02000506030000020004"/>
              <a:cs typeface="Overlock" panose="02000506030000020004"/>
              <a:sym typeface="Overlock" panose="02000506030000020004"/>
            </a:endParaRPr>
          </a:p>
          <a:p>
            <a:pPr marL="628650" lvl="1" indent="-285750" algn="l" rtl="0">
              <a:lnSpc>
                <a:spcPct val="90000"/>
              </a:lnSpc>
              <a:spcBef>
                <a:spcPts val="375"/>
              </a:spcBef>
              <a:spcAft>
                <a:spcPts val="0"/>
              </a:spcAft>
              <a:buClr>
                <a:schemeClr val="dk1"/>
              </a:buClr>
              <a:buSzPts val="3200"/>
              <a:buChar char="•"/>
            </a:pPr>
            <a:r>
              <a:rPr lang="en-US" sz="3200">
                <a:latin typeface="Overlock" panose="02000506030000020004"/>
                <a:ea typeface="Overlock" panose="02000506030000020004"/>
                <a:cs typeface="Overlock" panose="02000506030000020004"/>
                <a:sym typeface="Overlock" panose="02000506030000020004"/>
              </a:rPr>
              <a:t>Management </a:t>
            </a:r>
            <a:endParaRPr lang="en-US" sz="3200">
              <a:latin typeface="Overlock" panose="02000506030000020004"/>
              <a:ea typeface="Overlock" panose="02000506030000020004"/>
              <a:cs typeface="Overlock" panose="02000506030000020004"/>
              <a:sym typeface="Overlock" panose="02000506030000020004"/>
            </a:endParaRPr>
          </a:p>
          <a:p>
            <a:pPr marL="628650" lvl="1" indent="-285750" algn="l" rtl="0">
              <a:lnSpc>
                <a:spcPct val="90000"/>
              </a:lnSpc>
              <a:spcBef>
                <a:spcPts val="375"/>
              </a:spcBef>
              <a:spcAft>
                <a:spcPts val="0"/>
              </a:spcAft>
              <a:buClr>
                <a:schemeClr val="dk1"/>
              </a:buClr>
              <a:buSzPts val="3200"/>
              <a:buChar char="•"/>
            </a:pPr>
            <a:r>
              <a:rPr lang="en-US" sz="3200">
                <a:latin typeface="Overlock" panose="02000506030000020004"/>
                <a:ea typeface="Overlock" panose="02000506030000020004"/>
                <a:cs typeface="Overlock" panose="02000506030000020004"/>
                <a:sym typeface="Overlock" panose="02000506030000020004"/>
              </a:rPr>
              <a:t>Quality of care for clients with HIV/HTN Comorbidity</a:t>
            </a:r>
            <a:endParaRPr lang="en-US" sz="3200">
              <a:latin typeface="Overlock" panose="02000506030000020004"/>
              <a:ea typeface="Overlock" panose="02000506030000020004"/>
              <a:cs typeface="Overlock" panose="02000506030000020004"/>
              <a:sym typeface="Overlock" panose="02000506030000020004"/>
            </a:endParaRPr>
          </a:p>
          <a:p>
            <a:pPr marL="285750" lvl="0" indent="-285750" algn="l" rtl="0">
              <a:lnSpc>
                <a:spcPct val="90000"/>
              </a:lnSpc>
              <a:spcBef>
                <a:spcPts val="750"/>
              </a:spcBef>
              <a:spcAft>
                <a:spcPts val="0"/>
              </a:spcAft>
              <a:buClr>
                <a:schemeClr val="dk1"/>
              </a:buClr>
              <a:buSzPts val="3200"/>
              <a:buFont typeface="Arial" panose="020B0604020202020204"/>
              <a:buChar char="•"/>
            </a:pPr>
            <a:r>
              <a:rPr lang="en-US" sz="3200">
                <a:latin typeface="Overlock" panose="02000506030000020004"/>
                <a:ea typeface="Overlock" panose="02000506030000020004"/>
                <a:cs typeface="Overlock" panose="02000506030000020004"/>
                <a:sym typeface="Overlock" panose="02000506030000020004"/>
              </a:rPr>
              <a:t>Approach to integration of HIV/HTN and other chronic diseases </a:t>
            </a:r>
            <a:endParaRPr sz="3200">
              <a:latin typeface="Overlock" panose="02000506030000020004"/>
              <a:ea typeface="Overlock" panose="02000506030000020004"/>
              <a:cs typeface="Overlock" panose="02000506030000020004"/>
              <a:sym typeface="Overlock" panose="02000506030000020004"/>
            </a:endParaRPr>
          </a:p>
          <a:p>
            <a:pPr marL="171450" lvl="0" indent="-57150" algn="l" rtl="0">
              <a:lnSpc>
                <a:spcPct val="90000"/>
              </a:lnSpc>
              <a:spcBef>
                <a:spcPts val="750"/>
              </a:spcBef>
              <a:spcAft>
                <a:spcPts val="0"/>
              </a:spcAft>
              <a:buClr>
                <a:schemeClr val="dk1"/>
              </a:buClr>
              <a:buSzPts val="1800"/>
              <a:buNone/>
            </a:p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323" name="Shape 323"/>
        <p:cNvGrpSpPr/>
        <p:nvPr/>
      </p:nvGrpSpPr>
      <p:grpSpPr>
        <a:xfrm>
          <a:off x="0" y="0"/>
          <a:ext cx="0" cy="0"/>
          <a:chOff x="0" y="0"/>
          <a:chExt cx="0" cy="0"/>
        </a:xfrm>
      </p:grpSpPr>
      <p:sp>
        <p:nvSpPr>
          <p:cNvPr id="324" name="Google Shape;324;p39"/>
          <p:cNvSpPr txBox="1"/>
          <p:nvPr>
            <p:ph type="title"/>
          </p:nvPr>
        </p:nvSpPr>
        <p:spPr>
          <a:xfrm>
            <a:off x="1375512" y="379111"/>
            <a:ext cx="9687340" cy="8143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sz="3600">
                <a:latin typeface="Overlock" panose="02000506030000020004"/>
                <a:ea typeface="Overlock" panose="02000506030000020004"/>
                <a:cs typeface="Overlock" panose="02000506030000020004"/>
                <a:sym typeface="Overlock" panose="02000506030000020004"/>
              </a:rPr>
              <a:t>Program plans for NCD:</a:t>
            </a:r>
            <a:br>
              <a:rPr lang="en-US"/>
            </a:br>
            <a:endParaRPr lang="en-US"/>
          </a:p>
        </p:txBody>
      </p:sp>
      <p:sp>
        <p:nvSpPr>
          <p:cNvPr id="325" name="Google Shape;325;p39"/>
          <p:cNvSpPr txBox="1"/>
          <p:nvPr>
            <p:ph type="body" idx="1"/>
          </p:nvPr>
        </p:nvSpPr>
        <p:spPr>
          <a:xfrm>
            <a:off x="1298393" y="1193429"/>
            <a:ext cx="10187609" cy="5024024"/>
          </a:xfrm>
          <a:prstGeom prst="rect">
            <a:avLst/>
          </a:prstGeom>
          <a:noFill/>
          <a:ln>
            <a:noFill/>
          </a:ln>
        </p:spPr>
        <p:txBody>
          <a:bodyPr spcFirstLastPara="1" wrap="square" lIns="91425" tIns="45700" rIns="91425" bIns="45700" anchor="t" anchorCtr="0">
            <a:normAutofit fontScale="92500" lnSpcReduction="10000"/>
          </a:bodyPr>
          <a:lstStyle/>
          <a:p>
            <a:pPr marL="171450" lvl="0" indent="-187960" algn="l" rtl="0">
              <a:lnSpc>
                <a:spcPct val="90000"/>
              </a:lnSpc>
              <a:spcBef>
                <a:spcPts val="0"/>
              </a:spcBef>
              <a:spcAft>
                <a:spcPts val="0"/>
              </a:spcAft>
              <a:buClr>
                <a:srgbClr val="000000"/>
              </a:buClr>
              <a:buSzPct val="100000"/>
              <a:buChar char="•"/>
            </a:pPr>
            <a:r>
              <a:rPr lang="en-US" sz="3200">
                <a:solidFill>
                  <a:srgbClr val="000000"/>
                </a:solidFill>
                <a:latin typeface="Overlock" panose="02000506030000020004"/>
                <a:ea typeface="Overlock" panose="02000506030000020004"/>
                <a:cs typeface="Overlock" panose="02000506030000020004"/>
                <a:sym typeface="Overlock" panose="02000506030000020004"/>
              </a:rPr>
              <a:t>Improved documentation and management of clients with high blood pressure and diabetes</a:t>
            </a:r>
            <a:endParaRPr sz="3200">
              <a:solidFill>
                <a:srgbClr val="000000"/>
              </a:solidFill>
              <a:latin typeface="Overlock" panose="02000506030000020004"/>
              <a:ea typeface="Overlock" panose="02000506030000020004"/>
              <a:cs typeface="Overlock" panose="02000506030000020004"/>
              <a:sym typeface="Overlock" panose="02000506030000020004"/>
            </a:endParaRPr>
          </a:p>
          <a:p>
            <a:pPr marL="171450" lvl="0" indent="-187960" algn="l" rtl="0">
              <a:lnSpc>
                <a:spcPct val="90000"/>
              </a:lnSpc>
              <a:spcBef>
                <a:spcPts val="0"/>
              </a:spcBef>
              <a:spcAft>
                <a:spcPts val="0"/>
              </a:spcAft>
              <a:buClr>
                <a:schemeClr val="dk1"/>
              </a:buClr>
              <a:buSzPct val="100000"/>
              <a:buChar char="•"/>
            </a:pPr>
            <a:r>
              <a:rPr lang="en-US" sz="3200">
                <a:latin typeface="Overlock" panose="02000506030000020004"/>
                <a:ea typeface="Overlock" panose="02000506030000020004"/>
                <a:cs typeface="Overlock" panose="02000506030000020004"/>
                <a:sym typeface="Overlock" panose="02000506030000020004"/>
              </a:rPr>
              <a:t>Enrollment of clients to</a:t>
            </a:r>
            <a:r>
              <a:rPr lang="en-US" sz="3200">
                <a:latin typeface="Overlock" panose="02000506030000020004"/>
                <a:ea typeface="Overlock" panose="02000506030000020004"/>
                <a:cs typeface="Overlock" panose="02000506030000020004"/>
                <a:sym typeface="Overlock" panose="02000506030000020004"/>
              </a:rPr>
              <a:t> S</a:t>
            </a:r>
            <a:r>
              <a:rPr lang="en-US" sz="3200">
                <a:latin typeface="Overlock" panose="02000506030000020004"/>
                <a:ea typeface="Overlock" panose="02000506030000020004"/>
                <a:cs typeface="Overlock" panose="02000506030000020004"/>
                <a:sym typeface="Overlock" panose="02000506030000020004"/>
              </a:rPr>
              <a:t>HIF to increase access to non-PEPFAR lab tests (e.g Creatinine ) and NCD medicines ( e.g DM and HTN)</a:t>
            </a:r>
            <a:endParaRPr lang="en-US" sz="3200">
              <a:latin typeface="Overlock" panose="02000506030000020004"/>
              <a:ea typeface="Overlock" panose="02000506030000020004"/>
              <a:cs typeface="Overlock" panose="02000506030000020004"/>
              <a:sym typeface="Overlock" panose="02000506030000020004"/>
            </a:endParaRPr>
          </a:p>
          <a:p>
            <a:pPr marL="171450" lvl="0" indent="-187960" algn="l" rtl="0">
              <a:lnSpc>
                <a:spcPct val="90000"/>
              </a:lnSpc>
              <a:spcBef>
                <a:spcPts val="0"/>
              </a:spcBef>
              <a:spcAft>
                <a:spcPts val="0"/>
              </a:spcAft>
              <a:buClr>
                <a:schemeClr val="dk1"/>
              </a:buClr>
              <a:buSzPct val="100000"/>
              <a:buChar char="•"/>
            </a:pPr>
            <a:r>
              <a:rPr lang="en-US" sz="3200">
                <a:latin typeface="Overlock" panose="02000506030000020004"/>
                <a:ea typeface="Overlock" panose="02000506030000020004"/>
                <a:cs typeface="Overlock" panose="02000506030000020004"/>
                <a:sym typeface="Overlock" panose="02000506030000020004"/>
              </a:rPr>
              <a:t>PEN HIV collaboration with NCD</a:t>
            </a:r>
            <a:endParaRPr lang="en-US" sz="3200">
              <a:latin typeface="Overlock" panose="02000506030000020004"/>
              <a:ea typeface="Overlock" panose="02000506030000020004"/>
              <a:cs typeface="Overlock" panose="02000506030000020004"/>
              <a:sym typeface="Overlock" panose="02000506030000020004"/>
            </a:endParaRPr>
          </a:p>
          <a:p>
            <a:pPr marL="514350" lvl="1" indent="-187960" algn="l" rtl="0">
              <a:lnSpc>
                <a:spcPct val="90000"/>
              </a:lnSpc>
              <a:spcBef>
                <a:spcPts val="0"/>
              </a:spcBef>
              <a:spcAft>
                <a:spcPts val="0"/>
              </a:spcAft>
              <a:buClr>
                <a:srgbClr val="222222"/>
              </a:buClr>
              <a:buSzPct val="100000"/>
              <a:buChar char="•"/>
            </a:pPr>
            <a:r>
              <a:rPr lang="en-US" sz="3200">
                <a:solidFill>
                  <a:srgbClr val="222222"/>
                </a:solidFill>
                <a:latin typeface="Overlock" panose="02000506030000020004"/>
                <a:ea typeface="Overlock" panose="02000506030000020004"/>
                <a:cs typeface="Overlock" panose="02000506030000020004"/>
                <a:sym typeface="Overlock" panose="02000506030000020004"/>
              </a:rPr>
              <a:t>The Package of Essential Non-communicable Diseases (PEN)- Priority activity in GC7.</a:t>
            </a:r>
            <a:endParaRPr lang="en-US" sz="3200">
              <a:solidFill>
                <a:srgbClr val="222222"/>
              </a:solidFill>
              <a:latin typeface="Overlock" panose="02000506030000020004"/>
              <a:ea typeface="Overlock" panose="02000506030000020004"/>
              <a:cs typeface="Overlock" panose="02000506030000020004"/>
              <a:sym typeface="Overlock" panose="02000506030000020004"/>
            </a:endParaRPr>
          </a:p>
          <a:p>
            <a:pPr marL="514350" lvl="1" indent="-187960" algn="l" rtl="0">
              <a:lnSpc>
                <a:spcPct val="90000"/>
              </a:lnSpc>
              <a:spcBef>
                <a:spcPts val="0"/>
              </a:spcBef>
              <a:spcAft>
                <a:spcPts val="0"/>
              </a:spcAft>
              <a:buClr>
                <a:srgbClr val="222222"/>
              </a:buClr>
              <a:buSzPct val="100000"/>
              <a:buChar char="•"/>
            </a:pPr>
            <a:r>
              <a:rPr lang="en-US" sz="3200">
                <a:solidFill>
                  <a:srgbClr val="222222"/>
                </a:solidFill>
                <a:latin typeface="Overlock" panose="02000506030000020004"/>
                <a:ea typeface="Overlock" panose="02000506030000020004"/>
                <a:cs typeface="Overlock" panose="02000506030000020004"/>
                <a:sym typeface="Overlock" panose="02000506030000020004"/>
              </a:rPr>
              <a:t>Aim-strengthen equity and efficiency of primary health care in low resource settings for the integrated management of Non communicable and infectious diseases.</a:t>
            </a:r>
            <a:endParaRPr lang="en-US" sz="3200">
              <a:solidFill>
                <a:srgbClr val="222222"/>
              </a:solidFill>
              <a:latin typeface="Overlock" panose="02000506030000020004"/>
              <a:ea typeface="Overlock" panose="02000506030000020004"/>
              <a:cs typeface="Overlock" panose="02000506030000020004"/>
              <a:sym typeface="Overlock" panose="02000506030000020004"/>
            </a:endParaRPr>
          </a:p>
          <a:p>
            <a:pPr marL="514350" lvl="1" indent="-187960" algn="l" rtl="0">
              <a:lnSpc>
                <a:spcPct val="90000"/>
              </a:lnSpc>
              <a:spcBef>
                <a:spcPts val="375"/>
              </a:spcBef>
              <a:spcAft>
                <a:spcPts val="0"/>
              </a:spcAft>
              <a:buClr>
                <a:srgbClr val="222222"/>
              </a:buClr>
              <a:buSzPct val="100000"/>
              <a:buChar char="•"/>
            </a:pPr>
            <a:r>
              <a:rPr lang="en-US" sz="3200">
                <a:solidFill>
                  <a:srgbClr val="222222"/>
                </a:solidFill>
                <a:latin typeface="Overlock" panose="02000506030000020004"/>
                <a:ea typeface="Overlock" panose="02000506030000020004"/>
                <a:cs typeface="Overlock" panose="02000506030000020004"/>
                <a:sym typeface="Overlock" panose="02000506030000020004"/>
              </a:rPr>
              <a:t>B</a:t>
            </a:r>
            <a:r>
              <a:rPr lang="en-US" sz="3200">
                <a:latin typeface="Overlock" panose="02000506030000020004"/>
                <a:ea typeface="Overlock" panose="02000506030000020004"/>
                <a:cs typeface="Overlock" panose="02000506030000020004"/>
                <a:sym typeface="Overlock" panose="02000506030000020004"/>
              </a:rPr>
              <a:t>aseline assessment in 14 counties</a:t>
            </a:r>
            <a:endParaRPr sz="3200">
              <a:solidFill>
                <a:srgbClr val="222222"/>
              </a:solidFill>
              <a:latin typeface="Overlock" panose="02000506030000020004"/>
              <a:ea typeface="Overlock" panose="02000506030000020004"/>
              <a:cs typeface="Overlock" panose="02000506030000020004"/>
              <a:sym typeface="Overlock" panose="02000506030000020004"/>
            </a:endParaRPr>
          </a:p>
          <a:p>
            <a:pPr marL="514350" lvl="1" indent="0" algn="l" rtl="0">
              <a:lnSpc>
                <a:spcPct val="90000"/>
              </a:lnSpc>
              <a:spcBef>
                <a:spcPts val="0"/>
              </a:spcBef>
              <a:spcAft>
                <a:spcPts val="0"/>
              </a:spcAft>
              <a:buClr>
                <a:schemeClr val="dk1"/>
              </a:buClr>
              <a:buSzPct val="100000"/>
              <a:buNone/>
            </a:pPr>
            <a:endParaRPr sz="2900">
              <a:latin typeface="EB Garamond"/>
              <a:ea typeface="EB Garamond"/>
              <a:cs typeface="EB Garamond"/>
              <a:sym typeface="EB Garamond"/>
            </a:endParaRPr>
          </a:p>
          <a:p>
            <a:pPr marL="514350" lvl="1" indent="0" algn="l" rtl="0">
              <a:lnSpc>
                <a:spcPct val="90000"/>
              </a:lnSpc>
              <a:spcBef>
                <a:spcPts val="0"/>
              </a:spcBef>
              <a:spcAft>
                <a:spcPts val="0"/>
              </a:spcAft>
              <a:buClr>
                <a:schemeClr val="dk1"/>
              </a:buClr>
              <a:buSzPct val="100000"/>
              <a:buNone/>
            </a:pPr>
            <a:endParaRPr sz="2900">
              <a:latin typeface="EB Garamond"/>
              <a:ea typeface="EB Garamond"/>
              <a:cs typeface="EB Garamond"/>
              <a:sym typeface="EB Garamond"/>
            </a:endParaRPr>
          </a:p>
          <a:p>
            <a:pPr marL="171450" lvl="0" indent="-65405" algn="l" rtl="0">
              <a:lnSpc>
                <a:spcPct val="90000"/>
              </a:lnSpc>
              <a:spcBef>
                <a:spcPts val="750"/>
              </a:spcBef>
              <a:spcAft>
                <a:spcPts val="0"/>
              </a:spcAft>
              <a:buClr>
                <a:schemeClr val="dk1"/>
              </a:buClr>
              <a:buSzPct val="100000"/>
              <a:buNone/>
            </a:p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329" name="Shape 329"/>
        <p:cNvGrpSpPr/>
        <p:nvPr/>
      </p:nvGrpSpPr>
      <p:grpSpPr>
        <a:xfrm>
          <a:off x="0" y="0"/>
          <a:ext cx="0" cy="0"/>
          <a:chOff x="0" y="0"/>
          <a:chExt cx="0" cy="0"/>
        </a:xfrm>
      </p:grpSpPr>
      <p:sp>
        <p:nvSpPr>
          <p:cNvPr id="330" name="Google Shape;330;p40"/>
          <p:cNvSpPr txBox="1"/>
          <p:nvPr>
            <p:ph type="title"/>
          </p:nvPr>
        </p:nvSpPr>
        <p:spPr>
          <a:xfrm>
            <a:off x="3569466" y="1861852"/>
            <a:ext cx="4172530" cy="165528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1400"/>
              <a:buNone/>
            </a:pPr>
            <a:r>
              <a:rPr lang="en-US" sz="4400"/>
              <a:t>Thank you.</a:t>
            </a:r>
            <a:endParaRPr lang="en-US" sz="4400"/>
          </a:p>
        </p:txBody>
      </p:sp>
    </p:spTree>
  </p:cSld>
  <p:clrMapOvr>
    <a:masterClrMapping/>
  </p:clrMapOvr>
</p:sld>
</file>

<file path=ppt/theme/theme1.xml><?xml version="1.0" encoding="utf-8"?>
<a:theme xmlns:a="http://schemas.openxmlformats.org/drawingml/2006/main" name="NASCOP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Narrow"/>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Narrow"/>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Narrow"/>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Narrow"/>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Narrow"/>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8111</Words>
  <Application>WPS Presentation</Application>
  <PresentationFormat/>
  <Paragraphs>430</Paragraphs>
  <Slides>40</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40</vt:i4>
      </vt:variant>
    </vt:vector>
  </HeadingPairs>
  <TitlesOfParts>
    <vt:vector size="56" baseType="lpstr">
      <vt:lpstr>Arial</vt:lpstr>
      <vt:lpstr>SimSun</vt:lpstr>
      <vt:lpstr>Wingdings</vt:lpstr>
      <vt:lpstr>Arial</vt:lpstr>
      <vt:lpstr>EB Garamond</vt:lpstr>
      <vt:lpstr>Calibri</vt:lpstr>
      <vt:lpstr>Overlock</vt:lpstr>
      <vt:lpstr>Microsoft YaHei</vt:lpstr>
      <vt:lpstr>Arial Unicode MS</vt:lpstr>
      <vt:lpstr>Basic</vt:lpstr>
      <vt:lpstr>Times New Roman</vt:lpstr>
      <vt:lpstr>Aptos</vt:lpstr>
      <vt:lpstr>Segoe UI</vt:lpstr>
      <vt:lpstr>Aptos Narrow</vt:lpstr>
      <vt:lpstr>Segoe UI Variable Display</vt:lpstr>
      <vt:lpstr>NASCOP THEME</vt:lpstr>
      <vt:lpstr>HIV Situation in Kenya </vt:lpstr>
      <vt:lpstr>PowerPoint 演示文稿</vt:lpstr>
      <vt:lpstr>Kenya 95-95-95 Cascade , December 2025</vt:lpstr>
      <vt:lpstr>Adults cascade</vt:lpstr>
      <vt:lpstr>Young Adults cascades 15-24- </vt:lpstr>
      <vt:lpstr>Adolescent cascade 10-19 </vt:lpstr>
      <vt:lpstr>PowerPoint 演示文稿</vt:lpstr>
      <vt:lpstr>PowerPoint 演示文稿</vt:lpstr>
      <vt:lpstr>What does HIV stand for?</vt:lpstr>
      <vt:lpstr>What is HIV?</vt:lpstr>
      <vt:lpstr>What does HIV look like? </vt:lpstr>
      <vt:lpstr>Two Key Parts of the Immune System</vt:lpstr>
      <vt:lpstr>HIV Transmission Requires:</vt:lpstr>
      <vt:lpstr>Human Body Fluids</vt:lpstr>
      <vt:lpstr> Risk factors To HIV infection </vt:lpstr>
      <vt:lpstr>How Does HIV get into a T Cell?</vt:lpstr>
      <vt:lpstr>What Does HIV do inside a T Cell?</vt:lpstr>
      <vt:lpstr>What is the “Window Period?”</vt:lpstr>
      <vt:lpstr>HIV and the Immune System </vt:lpstr>
      <vt:lpstr>What does AIDS stand for?</vt:lpstr>
      <vt:lpstr>WHAT IS AIDS ?</vt:lpstr>
      <vt:lpstr>PowerPoint 演示文稿</vt:lpstr>
      <vt:lpstr>Understanding HIV</vt:lpstr>
      <vt:lpstr>What happens to someone with full blown AIDS?</vt:lpstr>
      <vt:lpstr>PowerPoint 演示文稿</vt:lpstr>
      <vt:lpstr>PowerPoint 演示文稿</vt:lpstr>
      <vt:lpstr>PowerPoint 演示文稿</vt:lpstr>
      <vt:lpstr>Standard Package of Care for PLHIV</vt:lpstr>
      <vt:lpstr>ART in Infants, Children, Adolescents, and Adults</vt:lpstr>
      <vt:lpstr>ART in Infants, Children, Adolescents, and Adults</vt:lpstr>
      <vt:lpstr>ART in Infants, Children, Adolescents, and Adults</vt:lpstr>
      <vt:lpstr>ART in Infants, Children, Adolescents, and Adults</vt:lpstr>
      <vt:lpstr>PowerPoint 演示文稿</vt:lpstr>
      <vt:lpstr>Screening of NCDs: Hypertension (HTN)</vt:lpstr>
      <vt:lpstr>PowerPoint 演示文稿</vt:lpstr>
      <vt:lpstr>Renal Monitoring of PLHIV on Care</vt:lpstr>
      <vt:lpstr>Excellent Viral Suppression (95.8%) BUT Poor HTN Control (56.4%) Amongst Clients with HIV/HTN Co-morbidity</vt:lpstr>
      <vt:lpstr>Program Gaps</vt:lpstr>
      <vt:lpstr>Program plans for NCD: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HIV Situation in Kenya </dc:title>
  <dc:creator>Maureen Inimah</dc:creator>
  <cp:lastModifiedBy>Elvis</cp:lastModifiedBy>
  <cp:revision>1</cp:revision>
  <dcterms:created xsi:type="dcterms:W3CDTF">2026-03-10T10:33:01Z</dcterms:created>
  <dcterms:modified xsi:type="dcterms:W3CDTF">2026-03-10T10:33:06Z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DFAE064C97BF4C52A32EC7A177FE9EEE_13</vt:lpwstr>
  </property>
  <property fmtid="{D5CDD505-2E9C-101B-9397-08002B2CF9AE}" pid="3" name="KSOProductBuildVer">
    <vt:lpwstr>1033-12.2.0.23155</vt:lpwstr>
  </property>
</Properties>
</file>