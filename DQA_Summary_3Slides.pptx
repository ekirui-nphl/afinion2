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984d712b6f1274637ad8bc96c194a256c19880c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8a9ebaf31eb4226766b4ebbfe4fcd5c4c7f90a9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2025 National HIV Data Quality Assessment: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/>
              <a:t>SCOPE
• 300 health facilities across 47 counties
• Focus: Low-volume, GOK, Faith-Based, Private facilities
• Systems reviewed: Paper-based &amp; Electronic Medical Records (EMRs)
KEY METRICS
• Overall System Performance: 59.4%
• Historical Trend: 82% (2023) → 63.4% (2024) → 59.4% (2025)
• Best Domain: Commodities (78.8%)
• Lowest Domain: Leadership &amp; Governance (49.0%)
TOP PERFORMERS (&gt;75%)
• Siaya (85.4%), Busia (82.3%), Bungoma (81.8%), Nyeri (82.1%), Embu (79.7%)
CRITICAL GAPS (&lt;50%)
• 10 counties including Tharaka-Nithi (34.8%), Homa Bay (35.0%), Meru (38.4%)</a:t>
            </a:r>
          </a:p>
        </p:txBody>
      </p:sp>
      <p:graphicFrame>
        <p:nvGraphicFramePr>
          <p:cNvPr id="4" name="Content Placeholder 3"/>
          <p:cNvGraphicFramePr>
            <a:graphicFrameLocks noGrp="true"/>
          </p:cNvGraphicFramePr>
          <p:nvPr/>
        </p:nvGraphicFramePr>
        <p:xfrm rot="0">
          <a:off x="4648200" y="1600200"/>
          <a:ext cx="4038600" cy="4525963"/>
        </p:xfrm>
        <a:graphic>
          <a:graphicData uri="http://schemas.openxmlformats.org/drawingml/2006/table">
            <a:tbl>
              <a:tblPr/>
              <a:tblGrid>
                <a:gridCol w="1433012"/>
                <a:gridCol w="1099246"/>
                <a:gridCol w="656886"/>
              </a:tblGrid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County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Score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Top Performers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Siaya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85.4%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16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Busia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82.3%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Bungoma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81.8%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Nyeri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82.1%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16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Bottom Performers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Tharaka-Nithi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34.8%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Homa Bay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35.0%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16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Meru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38.4%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16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Kisii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43.2%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Critical Data Quality Gaps: Focus on Pediatric Care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914400" y="5943600"/>
            <a:ext cx="7315200" cy="1371600"/>
          </a:xfrm>
        </p:spPr>
        <p:txBody>
          <a:bodyPr/>
          <a:lstStyle/>
          <a:p>
            <a:r>
              <a:rPr/>
              <a:t>TOP 5 CRITICAL GAPS:
1. MUAC at last visit: 25% (Nutrition monitoring missing for 3 in 4 children)
2. TPT Status: 42% (TB prevention opportunities missed)
3. Valid Viral Load Result: 51% (Treatment outcomes not monitored)
4. BMI at last visit: 35% (Adult nutrition gap)
5. Leadership &amp; Governance: 49% (Policies/standards missing in half of facilities)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Action Priorities for Global Fund Mission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1371600"/>
            <a:ext cx="3657600" cy="4572000"/>
          </a:xfrm>
        </p:spPr>
        <p:txBody>
          <a:bodyPr/>
          <a:lstStyle/>
          <a:p>
            <a:r>
              <a:rPr/>
              <a:t>PRIORITY 1: ACCELERATE IMPLEMENTATION
• Year 2 performance at 35% - 65% activities pending
• Must complete by 30 June 2026
• Focus on Prevention (46%) and Care/Treatment (40%)
PRIORITY 2: STRENGTHEN DATA SYSTEMS
• Scale up EMR modules in all DICES
• Enforce mandatory fields for Viral Load and TPT
• Institutionalize routine data quality checks
PRIORITY 3: TARGETED MENTORSHIP
• Deploy support to 10 low-performing counties (&lt;50%)
• Focus on pediatric nutrition (MUAC) and TB prevention
• Conduct regular OJT, CME, refresher trainings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389120" y="1371600"/>
            <a:ext cx="4114800" cy="3200400"/>
          </a:xfrm>
          <a:prstGeom prst="rect">
            <a:avLst/>
          </a:prstGeom>
        </p:spPr>
      </p:pic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4389120" y="4754880"/>
          <a:ext cx="4114800" cy="1645920"/>
        </p:xfrm>
        <a:graphic>
          <a:graphicData uri="http://schemas.openxmlformats.org/drawingml/2006/table">
            <a:tbl>
              <a:tblPr/>
              <a:tblGrid>
                <a:gridCol w="1239014"/>
                <a:gridCol w="2699384"/>
              </a:tblGrid>
              <a:tr h="36241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Area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Action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Training on e-data entry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Care/Treatment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Scale up EMR coverage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Prevention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Strengthen documentation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Nutrition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Ensure therapeutic food documentation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KVP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Strengthen EMR utilization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HPT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Strengthen routine reconciliation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2026-03-08T21:44:53Z</dcterms:modified>
  <cp:category/>
</cp:coreProperties>
</file>