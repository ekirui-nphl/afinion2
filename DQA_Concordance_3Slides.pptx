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3ae5ee00accfdcb57e7df78e87c4e0f3037eef6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354a05144d27756ae96cfc0dc6900027f76c352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7dfeda6c0a17428939c4367545429d93a42d2cc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HTS: Total Tested Positive Concordance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914400"/>
            <a:ext cx="8229600" cy="457200"/>
          </a:xfrm>
        </p:spPr>
        <p:txBody>
          <a:bodyPr/>
          <a:lstStyle/>
          <a:p>
            <a:r>
              <a:rPr/>
              <a:t>🟢 Excellent (95-105%)  🟢 Good (90-94% or 106-110%)  🟠 Moderate (80-89% or 111-120%)  🔴 Poor (&lt;80% or &gt;120%)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1148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5486400" y="1371600"/>
            <a:ext cx="3200400" cy="4572000"/>
          </a:xfrm>
        </p:spPr>
        <p:txBody>
          <a:bodyPr/>
          <a:lstStyle/>
          <a:p>
            <a:r>
              <a:rPr/>
              <a:t>📊 HTS CONCORDANCE SUMMARY
• Facilities assessed: 225
• Total tested positive: 1,716
✅ Register/EMR: 1,716 (100%) - Baseline
🟠 MOH 731: 1,644 (95%) - Moderate under-reporting
🟢 KHIS: 1,682 (101%) - Excellent concordance
⚠️ 74 facilities excluded due to missing data
• EMR facilities: 69
• Paper-based facilities: 156
🔑 KEY FINDING: KHIS shows strong alignment,
   MOH 731 underreports by 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Care &amp; Treatment: Starting ART Concordance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914400"/>
            <a:ext cx="8229600" cy="457200"/>
          </a:xfrm>
        </p:spPr>
        <p:txBody>
          <a:bodyPr/>
          <a:lstStyle/>
          <a:p>
            <a:r>
              <a:rPr/>
              <a:t>🟢 Excellent (95-105%)  🟢 Good (90-94% or 106-110%)  🟠 Moderate (80-89% or 111-120%)  🔴 Poor (&lt;80% or &gt;120%)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1148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5486400" y="1371600"/>
            <a:ext cx="3200400" cy="4572000"/>
          </a:xfrm>
        </p:spPr>
        <p:txBody>
          <a:bodyPr/>
          <a:lstStyle/>
          <a:p>
            <a:r>
              <a:rPr/>
              <a:t>📊 STARTING ART CONCORDANCE SUMMARY
• Facilities assessed: 224
• Total starting ART: 1,570
✅ Register/EMR: 1,570 (100%) - Baseline
🔴 MOH 731: 1,485 (88%) - Poor under-reporting
🔴 KHIS: 1,454 (87%) - Poor under-reporting
⚠️ 76 facilities excluded due to missing data
• EMR facilities: 67 (25.8%)
• Paper-based facilities: 157 (70.1%)
🔑 KEY FINDING: Both reporting systems
   underreport starting ART by 12-13%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Care &amp; Treatment: Current on ART Concordance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914400"/>
            <a:ext cx="8229600" cy="457200"/>
          </a:xfrm>
        </p:spPr>
        <p:txBody>
          <a:bodyPr/>
          <a:lstStyle/>
          <a:p>
            <a:r>
              <a:rPr/>
              <a:t>🟢 Excellent (95-105%)  🟢 Good (90-94% or 106-110%)  🟠 Moderate (80-89% or 111-120%)  🔴 Poor (&lt;80% or &gt;120%)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1148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5486400" y="1371600"/>
            <a:ext cx="3200400" cy="4572000"/>
          </a:xfrm>
        </p:spPr>
        <p:txBody>
          <a:bodyPr/>
          <a:lstStyle/>
          <a:p>
            <a:r>
              <a:rPr/>
              <a:t>📊 CURRENT ON ART CONCORDANCE SUMMARY
• Facilities assessed: 202
• Total current on ART: 149,286
✅ Register/EMR: 149,286 (100%) - Baseline
🟢 MOH 731: 152,817 (105%) - Excellent concordance
🟢 KHIS: 143,453 (95%) - Excellent concordance
⚠️ 98 facilities excluded due to missing data
• EMR facilities: 134 (66.3%)
• Paper-based facilities: 68 (33.7%)
🔑 KEY FINDING: Near perfect concordance
   MOH 731 over-reports by 5%,
   KHIS under-reports by 5%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2026-03-08T22:53:13Z</dcterms:modified>
  <cp:category/>
</cp:coreProperties>
</file>