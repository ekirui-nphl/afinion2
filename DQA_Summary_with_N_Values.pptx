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17845cf2c1a947ddf59e988286b8792cb5dab78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d4fdcd1c74e531f233a98dbc9e4a7e1b9dfb0fb9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2025 National HIV Data Quality Assessment: Executive Summary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097280"/>
            <a:ext cx="4114800" cy="4572000"/>
          </a:xfrm>
        </p:spPr>
        <p:txBody>
          <a:bodyPr/>
          <a:lstStyle/>
          <a:p>
            <a:r>
              <a:rPr/>
              <a:t>📊 SCOPE
   • 300 health facilities across 47 counties
   • Total files reviewed: n=1,092 (Adult/Overall) | n=366 (Pediatric)
   • Focus: Low-volume, GOK, Faith-Based, Private facilities
📈 OVERALL SYSTEM PERFORMANCE
   • Current Score: 59.4%
   • Historical Trend: 82% (2023) → 63.4% (2024) → 59.4% (2025)
✅ BEST PERFORMING DOMAIN
   • Commodities: 78.8% (GREEN)
❌ LOWEST PERFORMING DOMAINS (RED ALERT)
   • Leadership &amp; Governance: 49.0%
   • Data Collection Tools: 51.0%
   • HIS &amp; Reporting: 50.9%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0" y="1097280"/>
          <a:ext cx="4114800" cy="4572000"/>
        </p:xfrm>
        <a:graphic>
          <a:graphicData uri="http://schemas.openxmlformats.org/drawingml/2006/table">
            <a:tbl>
              <a:tblPr/>
              <a:tblGrid>
                <a:gridCol w="2391471"/>
                <a:gridCol w="649041"/>
              </a:tblGrid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Score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TOP PERFORMERS (Adult)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1A985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 (n=1,092)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ART Initiation (n=1,070)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HIV+ Date (n=1,048)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🟢 TOP PERFORMERS (Pediatric)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1A9850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1A985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CCC Number (n=366)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Sex (n=362)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ART Regimen (n=359)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 GAPS (Adult)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D73027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BMI (n=546)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TPT Status (n=677)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Baseline Screening (n=852)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🔴 CRITICAL GAPS (Pediatric)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D73027">
                            <a:alpha val="100000"/>
                          </a:srgbClr>
                        </a:solidFill>
                        <a:latin typeface="Arial"/>
                        <a:cs typeface="Arial"/>
                        <a:ea typeface="Arial"/>
                        <a:sym typeface="Arial"/>
                      </a:endParaR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MUAC (n=92)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TPT Status (n=154)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Viral Load (n=187)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Pediatric Care Data Quality Gaps (n=366)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6217920"/>
            <a:ext cx="8229600" cy="1371600"/>
          </a:xfrm>
        </p:spPr>
        <p:txBody>
          <a:bodyPr/>
          <a:lstStyle/>
          <a:p>
            <a:r>
              <a:rPr/>
              <a:t>🔴 TOP 5 CRITICAL GAPS (RED ALERT - Below 60%):
   1. MUAC at last visit: 25% (n=92/366) - Nutrition monitoring missing for 3 in 4 children
   2. TPT Status: 42% (n=154/366) - TB prevention opportunities missed
   3. Valid Viral Load Result: 51% (n=187/366) - Treatment outcomes not monitored
   4. Last Clinical Encounter Date: 52% (n=190/366) - Poor visit adherence tracking
   5. Reflex CrAg: 58% (n=212/366) - Advanced HIV disease monitoring gap
🟢 STRONG PERFORMANCE AREAS (GREEN - Above 90%):
   • Demographics (CCC, Sex, DOB): 94-100% (n=344-366)
   • ART Regimen &amp; Initiation Dates: 95-98% (n=348-359)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Action Priorities for Global Fund Mission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097280"/>
            <a:ext cx="3657600" cy="5029200"/>
          </a:xfrm>
        </p:spPr>
        <p:txBody>
          <a:bodyPr/>
          <a:lstStyle/>
          <a:p>
            <a:r>
              <a:rPr/>
              <a:t>🔴 PRIORITY 1: ADDRESS CRITICAL PEDIATRIC GAPS (n=366)
   • MUAC documentation: Only 92/366 children (25%)
   • TPT initiation: Only 154/366 children (42%)
   • Viral load monitoring: Only 187/366 children (51%)
🟡 PRIORITY 2: STRENGTHEN DATA SYSTEMS
   • Scale up EMR modules in all 300 facilities
   • Enforce mandatory fields for Viral Load and TPT
   • Target adult gaps: BMI (50%, n=546) and TPT (62%, n=677)
🟢 PRIORITY 3: TARGETED MENTORSHIP
   • Deploy support to 10 low-performing counties (&lt;50%)
   • Focus on facilities with MUAC documentation &lt;25%
   • Conduct regular OJT for 1,092 adult &amp; 366 pediatric files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931920" y="1097280"/>
            <a:ext cx="4754880" cy="3657600"/>
          </a:xfrm>
          <a:prstGeom prst="rect">
            <a:avLst/>
          </a:prstGeom>
        </p:spPr>
      </p:pic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3931920" y="4846320"/>
          <a:ext cx="4754880" cy="2011680"/>
        </p:xfrm>
        <a:graphic>
          <a:graphicData uri="http://schemas.openxmlformats.org/drawingml/2006/table">
            <a:tbl>
              <a:tblPr/>
              <a:tblGrid>
                <a:gridCol w="1914800"/>
                <a:gridCol w="1215686"/>
                <a:gridCol w="1002725"/>
                <a:gridCol w="897268"/>
              </a:tblGrid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Indicator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Completeness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Sample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Priority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MUAC (Pediatric)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n=92/366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TPT Status (Pediatric)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n=154/366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Viral Load (Pediatric)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n=187/366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D73027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CRITICAL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BMI (Adult)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n=546/1092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TPT Status (Adult)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n=677/1092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C8D59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HIGH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EE08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Baseline Screening (Adult)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EE08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EE08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n=852/1092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EE08B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931920" y="6949440"/>
            <a:ext cx="4754880" cy="457200"/>
          </a:xfrm>
        </p:spPr>
        <p:txBody>
          <a:bodyPr/>
          <a:lstStyle/>
          <a:p>
            <a:r>
              <a:rPr/>
              <a:t>⚠️ CRITICAL DEADLINE: Complete 65% pending Year 2 activities by 30 June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2026-03-08T22:33:41Z</dcterms:modified>
  <cp:category/>
</cp:coreProperties>
</file>