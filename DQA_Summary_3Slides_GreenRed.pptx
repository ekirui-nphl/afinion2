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c91f580a8d20d2fc8aeed189cdcc9ed5d53dc7d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1b978803e9b00f495c8099e256461e2fc4cdb185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2025 National HIV Data Quality Assessment: Executive Summary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1097280"/>
            <a:ext cx="4114800" cy="4572000"/>
          </a:xfrm>
        </p:spPr>
        <p:txBody>
          <a:bodyPr/>
          <a:lstStyle/>
          <a:p>
            <a:r>
              <a:rPr/>
              <a:t>📊 SCOPE
   • 300 health facilities across 47 counties
   • Focus: Low-volume, GOK, Faith-Based, Private facilities
   • Systems reviewed: Paper-based &amp; Electronic Medical Records (EMRs)
📈 OVERALL SYSTEM PERFORMANCE
   • Current Score: 59.4%
   • Historical Trend: 82% (2023) → 63.4% (2024) → 59.4% (2025)
✅ BEST PERFORMING DOMAIN
   • Commodities: 78.8% (GREEN)
❌ LOWEST PERFORMING DOMAINS (RED ALERT)
   • Leadership &amp; Governance: 49.0%
   • Data Collection Tools: 51.0%
   • HIS &amp; Reporting: 50.9%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0" y="1097280"/>
          <a:ext cx="4114800" cy="4572000"/>
        </p:xfrm>
        <a:graphic>
          <a:graphicData uri="http://schemas.openxmlformats.org/drawingml/2006/table">
            <a:tbl>
              <a:tblPr/>
              <a:tblGrid>
                <a:gridCol w="1906273"/>
                <a:gridCol w="1099246"/>
                <a:gridCol w="656886"/>
              </a:tblGrid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Score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🌟🌟 TOP PERFORMERS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Siaya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85.4%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16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🌟🌟 TOP PERFORMERS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Busia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82.3%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🌟🌟 TOP PERFORMERS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Bungoma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81.8%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🌟🌟 TOP PERFORMERS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Nyeri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82.1%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16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🌟🌟 TOP PERFORMERS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Embu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79.7%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16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⚠️ CRITICAL COUNTIES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Tharaka-Nithi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34.8%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⚠️ CRITICAL COUNTIES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Homa Bay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35.0%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16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⚠️ CRITICAL COUNTIES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Meru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38.4%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16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⚠️ CRITICAL COUNTIES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Kisii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43.2%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⚠️ CRITICAL COUNTIES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Migori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45.5%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Critical Data Quality Gaps: Focus on Pediatric Care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5720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5760720"/>
            <a:ext cx="8229600" cy="1645920"/>
          </a:xfrm>
        </p:spPr>
        <p:txBody>
          <a:bodyPr/>
          <a:lstStyle/>
          <a:p>
            <a:r>
              <a:rPr/>
              <a:t>🔴 TOP 5 CRITICAL GAPS (RED ALERT - Below 60%):
   1. MUAC at last visit: 25% (Nutrition monitoring missing for 3 in 4 children)
   2. TPT Status: 42% (TB prevention opportunities missed)
   3. Valid Viral Load Result: 51% (Treatment outcomes not monitored)
   4. Last Clinical Encounter Date: 52% (Poor visit adherence tracking)
   5. Baseline CD4 Screening: 68% (Advanced HIV disease monitoring gap)
🟢 STRONG PERFORMANCE AREAS (GREEN - Above 90%):
   • Demographics (CCC, Sex, DOB): 94-100%
   • ART Regimen &amp; Initiation Dates: 95-98%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Action Priorities for Global Fund Mission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1097280"/>
            <a:ext cx="3474720" cy="4572000"/>
          </a:xfrm>
        </p:spPr>
        <p:txBody>
          <a:bodyPr/>
          <a:lstStyle/>
          <a:p>
            <a:r>
              <a:rPr/>
              <a:t>🔴 PRIORITY 1: ACCELERATE IMPLEMENTATION
   • Year 2 performance at 35% - 65% activities pending
   • Must complete by 30 June 2026
   • Focus on Prevention (46%) and Care/Treatment (40%)
🟡 PRIORITY 2: STRENGTHEN DATA SYSTEMS
   • Scale up EMR modules in all DICES
   • Enforce mandatory fields for Viral Load and TPT
   • Institutionalize routine data quality checks
🟢 PRIORITY 3: TARGETED MENTORSHIP
   • Deploy support to 10 low-performing counties (&lt;50%)
   • Focus on pediatric nutrition (MUAC) and TB prevention
   • Conduct regular OJT, CME, refresher trainings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840480" y="1097280"/>
            <a:ext cx="5029200" cy="2926080"/>
          </a:xfrm>
          <a:prstGeom prst="rect">
            <a:avLst/>
          </a:prstGeom>
        </p:spPr>
      </p:pic>
      <p:graphicFrame>
        <p:nvGraphicFramePr>
          <p:cNvPr id="5" name=""/>
          <p:cNvGraphicFramePr>
            <a:graphicFrameLocks noGrp="true"/>
          </p:cNvGraphicFramePr>
          <p:nvPr/>
        </p:nvGraphicFramePr>
        <p:xfrm rot="0">
          <a:off x="3840480" y="4206240"/>
          <a:ext cx="5029200" cy="1828800"/>
        </p:xfrm>
        <a:graphic>
          <a:graphicData uri="http://schemas.openxmlformats.org/drawingml/2006/table">
            <a:tbl>
              <a:tblPr/>
              <a:tblGrid>
                <a:gridCol w="1239014"/>
                <a:gridCol w="994539"/>
                <a:gridCol w="2699384"/>
              </a:tblGrid>
              <a:tr h="36425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Area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Status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Action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🟡 Moderate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Training on e-data entry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Care/Treatment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🔴 Critical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Scale up EMR coverage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Prevention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🔴 Critical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Strengthen documentation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Nutrition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🔴 Critical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Ensure therapeutic food documentation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KVP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🟡 Moderate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Strengthen EMR utilization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HPT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🟡 Moderate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Strengthen routine reconciliation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3840480" y="6217920"/>
            <a:ext cx="5029200" cy="457200"/>
          </a:xfrm>
        </p:spPr>
        <p:txBody>
          <a:bodyPr/>
          <a:lstStyle/>
          <a:p>
            <a:r>
              <a:rPr/>
              <a:t>⚠️ CRITICAL DEADLINE: Complete 65% pending Year 2 activities by 30 June 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2026-03-08T21:48:56Z</dcterms:modified>
  <cp:category/>
</cp:coreProperties>
</file>