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0dc99365a01123bfd897ef63afb8f75f0f97b626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0dc99365a01123bfd897ef63afb8f75f0f97b626.png"/>
<Relationship Id="rId3" Type="http://schemas.openxmlformats.org/officeDocument/2006/relationships/image" Target="../media/896bdf6f004c9783a63fc4f7c318882ad98237e0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0dc99365a01123bfd897ef63afb8f75f0f97b626.png"/>
<Relationship Id="rId3" Type="http://schemas.openxmlformats.org/officeDocument/2006/relationships/image" Target="../media/615062283e24e8d87a88dc9fceaeb49436f23c07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2025 National HIV Data Quality Assessment: Executive Summary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286000" y="731520"/>
            <a:ext cx="4572000" cy="7315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1554480"/>
            <a:ext cx="4114800" cy="4572000"/>
          </a:xfrm>
        </p:spPr>
        <p:txBody>
          <a:bodyPr/>
          <a:lstStyle/>
          <a:p>
            <a:r>
              <a:rPr/>
              <a:t>📊 SCOPE
   • 300 health facilities across 47 counties
   • Total files reviewed: n=1,092 (Adult) | n=366 (Pediatric)
   • Focus: Low-volume, GOK, Faith-Based, Private facilities
📈 OVERALL SYSTEM PERFORMANCE: 59.4% (⬇️ from 82% in 2023)
✅ BEST DOMAIN: Commodities (78.8%) - GOOD
❌ LOWEST DOMAINS (CRITICAL - RED):
   • Leadership &amp; Governance: 49.0%
   • Data Collection Tools: 51.0%
   • HIS &amp; Reporting: 50.9%</a:t>
            </a:r>
          </a:p>
        </p:txBody>
      </p:sp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4572000" y="1554480"/>
          <a:ext cx="4114800" cy="4572000"/>
        </p:xfrm>
        <a:graphic>
          <a:graphicData uri="http://schemas.openxmlformats.org/drawingml/2006/table">
            <a:tbl>
              <a:tblPr/>
              <a:tblGrid>
                <a:gridCol w="2739834"/>
                <a:gridCol w="649041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TOP PERFORMERS (GREEN ≥75%)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1A985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Adult: Sex (n=1092)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Adult: ART Initiation (n=1070)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Peds: CCC Number (n=366)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Peds: Sex (n=362)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07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 GAPS (RED &lt;60%)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D73027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Peds: MUAC (n=92/366)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Peds: TPT (n=154/366)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Peds: Viral Load (n=187/366)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Adult: BMI (n=546/1092)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Pediatric Care Data Quality Gaps (n=366)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0" y="914400"/>
            <a:ext cx="3657600" cy="54864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74320" y="1463040"/>
            <a:ext cx="8686800" cy="50292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6583680"/>
            <a:ext cx="8686800" cy="731520"/>
          </a:xfrm>
        </p:spPr>
        <p:txBody>
          <a:bodyPr/>
          <a:lstStyle/>
          <a:p>
            <a:r>
              <a:rPr/>
              <a:t>🔴 CRITICAL GAPS (&lt;60%): MUAC (25%, n=92), TPT (42%, n=154), Viral Load (51%, n=187), CrAg (58%, n=212)
🟢 STRONG AREAS (≥90%): Demographics (94-100%, n=344-366), ART Regimen (98%, n=359)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Action Priorities for Global Fund Mission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0" y="914400"/>
            <a:ext cx="3657600" cy="54864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1554480"/>
            <a:ext cx="3657600" cy="4572000"/>
          </a:xfrm>
        </p:spPr>
        <p:txBody>
          <a:bodyPr/>
          <a:lstStyle/>
          <a:p>
            <a:r>
              <a:rPr/>
              <a:t>🔴 PRIORITY 1: ADDRESS CRITICAL PEDIATRIC GAPS (RED)
   • MUAC: Only 92/366 children (25%) - NUTRITION
   • TPT: Only 154/366 children (42%) - TB PREVENTION
   • Viral Load: Only 187/366 children (51%) - MONITORING
🟡 PRIORITY 2: STRENGTHEN SYSTEMS (YELLOW/ORANGE)
   • Scale up EMR in 300 facilities
   • Enforce mandatory fields (Viral Load, TPT)
   • Adult gaps: BMI (50%), TPT (62%)
🟢 PRIORITY 3: TARGETED MENTORSHIP (GREEN)
   • Support 10 low-performing counties (&lt;50%)
   • Focus on facilities with MUAC &lt;25%
   • Train staff on 1,092 adult &amp; 366 pediatric files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931920" y="1554480"/>
            <a:ext cx="4754880" cy="3840480"/>
          </a:xfrm>
          <a:prstGeom prst="rect">
            <a:avLst/>
          </a:prstGeom>
        </p:spPr>
      </p:pic>
      <p:graphicFrame>
        <p:nvGraphicFramePr>
          <p:cNvPr id="6" name=""/>
          <p:cNvGraphicFramePr>
            <a:graphicFrameLocks noGrp="true"/>
          </p:cNvGraphicFramePr>
          <p:nvPr/>
        </p:nvGraphicFramePr>
        <p:xfrm rot="0">
          <a:off x="3931920" y="5486400"/>
          <a:ext cx="4754880" cy="1645920"/>
        </p:xfrm>
        <a:graphic>
          <a:graphicData uri="http://schemas.openxmlformats.org/drawingml/2006/table">
            <a:tbl>
              <a:tblPr/>
              <a:tblGrid>
                <a:gridCol w="1565208"/>
                <a:gridCol w="1215686"/>
                <a:gridCol w="843448"/>
                <a:gridCol w="1040856"/>
              </a:tblGrid>
              <a:tr h="39003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Completeness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Sample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MUAC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92/366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TPT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154/366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Viral Load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187/366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BMI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546/1092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🟡 POOR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TPT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677/1092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🟡 POOR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931920" y="7132320"/>
            <a:ext cx="4754880" cy="457200"/>
          </a:xfrm>
        </p:spPr>
        <p:txBody>
          <a:bodyPr/>
          <a:lstStyle/>
          <a:p>
            <a:r>
              <a:rPr/>
              <a:t>⚠️ CRITICAL DEADLINE: Complete 65% pending Year 2 activities by 30 June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2026-03-08T22:40:48Z</dcterms:modified>
  <cp:category/>
</cp:coreProperties>
</file>