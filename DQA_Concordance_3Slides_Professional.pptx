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3404e031668ba83a5b11fb84ba231bfcfd7ca3b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f7b672838bc7bde464789f1739858ad7c5f46dd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f3a75c8ad623aec389e0b4390df930f0d96f4f9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HTS: Total Tested Positive Concordance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731520"/>
          <a:ext cx="8229600" cy="54864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Level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EXCELLENT (95-105%)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GOOD (90-94% or 106-110%)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🟠 MODERATE (80-89% or 111-120%)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POOR (&lt;80% or &gt;120%)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5720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5669280" y="1371600"/>
            <a:ext cx="3017520" cy="4572000"/>
          </a:xfrm>
        </p:spPr>
        <p:txBody>
          <a:bodyPr/>
          <a:lstStyle/>
          <a:p>
            <a:r>
              <a:rPr/>
              <a:t>═══════════════════════════════════
📊 HTS CONCORDANCE SUMMARY
═══════════════════════════════════
📌 REFERENCE: Register/EMR
   • 1,716 patients (100%)
   • 225 facilities assessed
📊 REPORTING SYSTEMS:
━━━━━━━━━━━━━━━━━━━━━━━
🟢 KHIS: 1,682 (101%)
   → EXCELLENT concordance
🟠 MOH 731: 1,644 (95%)
   → MODERATE under-reporting
⚠️ 74 facilities excluded:
   • 69 EMR facilities
   • 156 paper-based
🔑 KEY FINDING:
   KHIS shows strong alignment,
   MOH 731 underreports by 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ART: Starting ART Concordance - ⚠️ CRITICAL GAPS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731520"/>
          <a:ext cx="8229600" cy="54864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Level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EXCELLENT (95-105%)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GOOD (90-94% or 106-110%)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🟠 MODERATE (80-89% or 111-120%)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POOR (&lt;80% or &gt;120%)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5720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5669280" y="1371600"/>
            <a:ext cx="3017520" cy="4572000"/>
          </a:xfrm>
        </p:spPr>
        <p:txBody>
          <a:bodyPr/>
          <a:lstStyle/>
          <a:p>
            <a:r>
              <a:rPr/>
              <a:t>═══════════════════════════════════
📊 STARTING ART CONCORDANCE
═══════════════════════════════════
📌 REFERENCE: Register/EMR
   • 1,570 patients (100%)
   • 224 facilities assessed
📊 REPORTING SYSTEMS:
━━━━━━━━━━━━━━━━━━━━━━━
🔴 MOH 731: 1,485 (88%)
   → POOR under-reporting
🔴 KHIS: 1,454 (87%)
   → POOR under-reporting
⚠️ 76 facilities excluded:
   • 67 EMR (25.8%)
   • 157 paper-based (70.1%)
🔑 CRITICAL FINDING:
   BOTH systems underreport
   starting ART by 12-13%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ART: Current on ART Concordance - ✅ GOOD PERFORMANCE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731520"/>
          <a:ext cx="8229600" cy="54864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Level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EXCELLENT (95-105%)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GOOD (90-94% or 106-110%)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🟠 MODERATE (80-89% or 111-120%)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POOR (&lt;80% or &gt;120%)</a:t>
                      </a:r>
                    </a:p>
                  </a:txBody>
                  <a:tcPr anchor="ctr" marB="63500" marT="63500" marR="0" marL="0">
                    <a:lnL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5720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5669280" y="1371600"/>
            <a:ext cx="3017520" cy="4572000"/>
          </a:xfrm>
        </p:spPr>
        <p:txBody>
          <a:bodyPr/>
          <a:lstStyle/>
          <a:p>
            <a:r>
              <a:rPr/>
              <a:t>═══════════════════════════════════
📊 CURRENT ON ART CONCORDANCE
═══════════════════════════════════
📌 REFERENCE: Register/EMR
   • 149,286 patients (100%)
   • 202 facilities assessed
📊 REPORTING SYSTEMS:
━━━━━━━━━━━━━━━━━━━━━━━
🟢 MOH 731: 152,817 (105%)
   → EXCELLENT concordance
🟢 KHIS: 143,453 (95%)
   → EXCELLENT concordance
⚠️ 98 facilities excluded:
   • 134 EMR (66.3%)
   • 68 paper-based (33.7%)
🔑 KEY FINDING:
   Near perfect concordance
   (both within 5% of reference)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2026-03-08T22:58:20Z</dcterms:modified>
  <cp:category/>
</cp:coreProperties>
</file>